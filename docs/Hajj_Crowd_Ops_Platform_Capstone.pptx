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2E24"/>
                </a:solidFill>
                <a:latin typeface="Calibri"/>
              </a:defRPr>
            </a:pPr>
            <a:r>
              <a:rPr sz="1300" b="0" i="0" u="none" strike="noStrike">
                <a:solidFill>
                  <a:srgbClr val="0A2E24"/>
                </a:solidFill>
                <a:latin typeface="Calibri"/>
              </a:rPr>
              <a:t>Quarantined records by the rule that caught them</a:t>
            </a:r>
          </a:p>
        </c:rich>
      </c:tx>
      <c:layout/>
      <c:overlay val="0"/>
    </c:title>
    <c:autoTitleDeleted val="0"/>
    <c:plotArea>
      <c:layout/>
      <c:barChart>
        <c:barDir val="bar"/>
        <c:grouping val="clustered"/>
        <c:varyColors val="0"/>
        <c:ser>
          <c:idx val="0"/>
          <c:order val="0"/>
          <c:tx>
            <c:strRef>
              <c:f>Sheet1!$B$1</c:f>
              <c:strCache>
                <c:ptCount val="1"/>
                <c:pt idx="0">
                  <c:v>Rejected records</c:v>
                </c:pt>
              </c:strCache>
            </c:strRef>
          </c:tx>
          <c:spPr>
            <a:solidFill>
              <a:srgbClr val="12513C"/>
            </a:solidFill>
            <a:effectLst/>
          </c:spPr>
          <c:invertIfNegative val="0"/>
          <c:dLbls>
            <c:numFmt formatCode="#,##0" sourceLinked="0"/>
            <c:txPr>
              <a:bodyPr/>
              <a:lstStyle/>
              <a:p>
                <a:pPr>
                  <a:defRPr b="0" i="0" strike="noStrike" sz="1000" u="none">
                    <a:solidFill>
                      <a:srgbClr val="3D4A44"/>
                    </a:solidFill>
                    <a:latin typeface="Calibri"/>
                  </a:defRPr>
                </a:pPr>
              </a:p>
            </c:txPr>
            <c:showLegendKey val="0"/>
            <c:showVal val="1"/>
            <c:showCatName val="0"/>
            <c:showSerName val="0"/>
            <c:showPercent val="0"/>
            <c:showBubbleSize val="0"/>
            <c:showLeaderLines val="0"/>
          </c:dLbls>
          <c:cat>
            <c:multiLvlStrRef>
              <c:f>Sheet1!$A$2:$A$9</c:f>
              <c:multiLvlStrCache>
                <c:ptCount val="8"/>
                <c:lvl>
                  <c:pt idx="0">
                    <c:v>cross-field rule</c:v>
                  </c:pt>
                  <c:pt idx="1">
                    <c:v>strict type (int)</c:v>
                  </c:pt>
                  <c:pt idx="2">
                    <c:v>malformed JSON</c:v>
                  </c:pt>
                  <c:pt idx="3">
                    <c:v>range (&gt;= 0)</c:v>
                  </c:pt>
                  <c:pt idx="4">
                    <c:v>wrong type (str)</c:v>
                  </c:pt>
                  <c:pt idx="5">
                    <c:v>invalid enum</c:v>
                  </c:pt>
                  <c:pt idx="6">
                    <c:v>missing field</c:v>
                  </c:pt>
                  <c:pt idx="7">
                    <c:v>extra field</c:v>
                  </c:pt>
                </c:lvl>
              </c:multiLvlStrCache>
            </c:multiLvlStrRef>
          </c:cat>
          <c:val>
            <c:numRef>
              <c:f>Sheet1!$B$2:$B$9</c:f>
              <c:numCache>
                <c:formatCode>General</c:formatCode>
                <c:ptCount val="8"/>
                <c:pt idx="0">
                  <c:v>4221</c:v>
                </c:pt>
                <c:pt idx="1">
                  <c:v>1462</c:v>
                </c:pt>
                <c:pt idx="2">
                  <c:v>1449</c:v>
                </c:pt>
                <c:pt idx="3">
                  <c:v>1445</c:v>
                </c:pt>
                <c:pt idx="4">
                  <c:v>1423</c:v>
                </c:pt>
                <c:pt idx="5">
                  <c:v>1402</c:v>
                </c:pt>
                <c:pt idx="6">
                  <c:v>1390</c:v>
                </c:pt>
                <c:pt idx="7">
                  <c:v>1365</c:v>
                </c:pt>
              </c:numCache>
            </c:numRef>
          </c:val>
        </c:ser>
        <c:dLbls>
          <c:numFmt formatCode="#,##0" sourceLinked="0"/>
          <c:txPr>
            <a:bodyPr/>
            <a:lstStyle/>
            <a:p>
              <a:pPr>
                <a:defRPr b="0" i="0" strike="noStrike" sz="1000" u="none">
                  <a:solidFill>
                    <a:srgbClr val="3D4A4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44"/>
                </a:solidFill>
                <a:latin typeface="Calibri"/>
              </a:defRPr>
            </a:pPr>
            <a:endParaRPr lang="en-US"/>
          </a:p>
        </c:txPr>
        <c:crossAx val="2094734552"/>
        <c:crosses val="autoZero"/>
        <c:auto val="1"/>
        <c:lblAlgn val="ctr"/>
        <c:noMultiLvlLbl val="1"/>
      </c:catAx>
      <c:valAx>
        <c:axId val="2094734552"/>
        <c:scaling>
          <c:orientation val="minMax"/>
          <c:max val="5000"/>
        </c:scaling>
        <c:delete val="0"/>
        <c:axPos val="b"/>
        <c:majorGridlines>
          <c:spPr>
            <a:ln w="12700" cap="flat">
              <a:solidFill>
                <a:srgbClr val="DDD5C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B7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A2E24"/>
                </a:solidFill>
                <a:latin typeface="Calibri"/>
              </a:defRPr>
            </a:pPr>
            <a:r>
              <a:rPr sz="1250" b="0" i="0" u="none" strike="noStrike">
                <a:solidFill>
                  <a:srgbClr val="0A2E24"/>
                </a:solidFill>
                <a:latin typeface="Calibri"/>
              </a:rPr>
              <a:t>Total minutes above 90% capacity, per zone, across 7 simulated days</a:t>
            </a:r>
          </a:p>
        </c:rich>
      </c:tx>
      <c:layout/>
      <c:overlay val="0"/>
    </c:title>
    <c:autoTitleDeleted val="0"/>
    <c:plotArea>
      <c:layout/>
      <c:barChart>
        <c:barDir val="bar"/>
        <c:grouping val="clustered"/>
        <c:varyColors val="0"/>
        <c:ser>
          <c:idx val="0"/>
          <c:order val="0"/>
          <c:tx>
            <c:strRef>
              <c:f>Sheet1!$B$1</c:f>
              <c:strCache>
                <c:ptCount val="1"/>
                <c:pt idx="0">
                  <c:v>Minutes above 90% capacity</c:v>
                </c:pt>
              </c:strCache>
            </c:strRef>
          </c:tx>
          <c:spPr>
            <a:solidFill>
              <a:srgbClr val="C8A951"/>
            </a:solidFill>
            <a:effectLst/>
          </c:spPr>
          <c:invertIfNegative val="0"/>
          <c:dLbls>
            <c:numFmt formatCode="#,##0" sourceLinked="0"/>
            <c:txPr>
              <a:bodyPr/>
              <a:lstStyle/>
              <a:p>
                <a:pPr>
                  <a:defRPr b="0" i="0" strike="noStrike" sz="1000" u="none">
                    <a:solidFill>
                      <a:srgbClr val="3D4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MUZ_Z1</c:v>
                  </c:pt>
                  <c:pt idx="1">
                    <c:v>MATAF_03</c:v>
                  </c:pt>
                  <c:pt idx="2">
                    <c:v>MASAA_L1</c:v>
                  </c:pt>
                  <c:pt idx="3">
                    <c:v>HARAM_GATE_79</c:v>
                  </c:pt>
                  <c:pt idx="4">
                    <c:v>MASAA_L2</c:v>
                  </c:pt>
                  <c:pt idx="5">
                    <c:v>MATAF_02</c:v>
                  </c:pt>
                </c:lvl>
              </c:multiLvlStrCache>
            </c:multiLvlStrRef>
          </c:cat>
          <c:val>
            <c:numRef>
              <c:f>Sheet1!$B$2:$B$7</c:f>
              <c:numCache>
                <c:formatCode>General</c:formatCode>
                <c:ptCount val="6"/>
                <c:pt idx="0">
                  <c:v>299.9</c:v>
                </c:pt>
                <c:pt idx="1">
                  <c:v>215.2</c:v>
                </c:pt>
                <c:pt idx="2">
                  <c:v>213.7</c:v>
                </c:pt>
                <c:pt idx="3">
                  <c:v>210.8</c:v>
                </c:pt>
                <c:pt idx="4">
                  <c:v>203.6</c:v>
                </c:pt>
                <c:pt idx="5">
                  <c:v>198</c:v>
                </c:pt>
              </c:numCache>
            </c:numRef>
          </c:val>
        </c:ser>
        <c:dLbls>
          <c:numFmt formatCode="#,##0" sourceLinked="0"/>
          <c:txPr>
            <a:bodyPr/>
            <a:lstStyle/>
            <a:p>
              <a:pPr>
                <a:defRPr b="0" i="0" strike="noStrike" sz="1000" u="none">
                  <a:solidFill>
                    <a:srgbClr val="3D4A4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44"/>
                </a:solidFill>
                <a:latin typeface="Calibri"/>
              </a:defRPr>
            </a:pPr>
            <a:endParaRPr lang="en-US"/>
          </a:p>
        </c:txPr>
        <c:crossAx val="2094734552"/>
        <c:crosses val="autoZero"/>
        <c:auto val="1"/>
        <c:lblAlgn val="ctr"/>
        <c:noMultiLvlLbl val="1"/>
      </c:catAx>
      <c:valAx>
        <c:axId val="2094734552"/>
        <c:scaling>
          <c:orientation val="minMax"/>
          <c:max val="360"/>
        </c:scaling>
        <c:delete val="0"/>
        <c:axPos val="b"/>
        <c:majorGridlines>
          <c:spPr>
            <a:ln w="12700" cap="flat">
              <a:solidFill>
                <a:srgbClr val="DDD5C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B74"/>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30-second pitch, then immediately state that all operational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citation is the point: it makes the answer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copilot and the lakehouse serve different roles — that is why the project has both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A is Deliverables 1, 2, 4, 5. Half B is Deliverable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arrows left to right, then point at the two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2 lands here: 100 events, 20 malformed, 80 accepted, 20 rejected, DEMO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Proved the MERGE updates, not just inserts: ACKNOWLEDGED went 1375 to 9, RESOLVED went 0 to 1945 across two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moment in the demo. Show the Airflow graph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in the first minute. Volunteered it reads as rigour; extracted under questioning it reads as concealment.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24"/>
        </a:solidFill>
      </p:bgPr>
    </p:bg>
    <p:spTree>
      <p:nvGrpSpPr>
        <p:cNvPr id="1" name=""/>
        <p:cNvGrpSpPr/>
        <p:nvPr/>
      </p:nvGrpSpPr>
      <p:grpSpPr>
        <a:xfrm>
          <a:off x="0" y="0"/>
          <a:ext cx="0" cy="0"/>
          <a:chOff x="0" y="0"/>
          <a:chExt cx="0" cy="0"/>
        </a:xfrm>
      </p:grpSpPr>
      <p:sp>
        <p:nvSpPr>
          <p:cNvPr id="2" name="Shape 0"/>
          <p:cNvSpPr/>
          <p:nvPr/>
        </p:nvSpPr>
        <p:spPr>
          <a:xfrm>
            <a:off x="8595360" y="-1371600"/>
            <a:ext cx="5120640" cy="5120640"/>
          </a:xfrm>
          <a:prstGeom prst="ellipse">
            <a:avLst/>
          </a:prstGeom>
          <a:solidFill>
            <a:srgbClr val="12513C"/>
          </a:solidFill>
          <a:ln w="12700">
            <a:solidFill>
              <a:srgbClr val="333333"/>
            </a:solidFill>
            <a:prstDash val="solid"/>
          </a:ln>
        </p:spPr>
      </p:sp>
      <p:sp>
        <p:nvSpPr>
          <p:cNvPr id="3" name="Shape 1"/>
          <p:cNvSpPr/>
          <p:nvPr/>
        </p:nvSpPr>
        <p:spPr>
          <a:xfrm>
            <a:off x="9966960" y="3291840"/>
            <a:ext cx="3108960" cy="3108960"/>
          </a:xfrm>
          <a:prstGeom prst="ellipse">
            <a:avLst/>
          </a:prstGeom>
          <a:solidFill>
            <a:srgbClr val="2E7D5B"/>
          </a:solidFill>
          <a:ln w="12700">
            <a:solidFill>
              <a:srgbClr val="333333"/>
            </a:solidFill>
            <a:prstDash val="solid"/>
          </a:ln>
        </p:spPr>
      </p:sp>
      <p:sp>
        <p:nvSpPr>
          <p:cNvPr id="4" name="Text 2"/>
          <p:cNvSpPr/>
          <p:nvPr/>
        </p:nvSpPr>
        <p:spPr>
          <a:xfrm>
            <a:off x="685800" y="1371600"/>
            <a:ext cx="7863840" cy="274320"/>
          </a:xfrm>
          <a:prstGeom prst="rect">
            <a:avLst/>
          </a:prstGeom>
          <a:noFill/>
          <a:ln/>
        </p:spPr>
        <p:txBody>
          <a:bodyPr wrap="square" lIns="0" tIns="0" rIns="0" bIns="0" rtlCol="0" anchor="ctr"/>
          <a:lstStyle/>
          <a:p>
            <a:pPr indent="0" marL="0">
              <a:buNone/>
            </a:pPr>
            <a:r>
              <a:rPr lang="en-US" sz="1200" b="1" spc="250" kern="0" dirty="0">
                <a:solidFill>
                  <a:srgbClr val="C8A951"/>
                </a:solidFill>
                <a:latin typeface="Calibri" pitchFamily="34" charset="0"/>
                <a:ea typeface="Calibri" pitchFamily="34" charset="-122"/>
                <a:cs typeface="Calibri" pitchFamily="34" charset="-120"/>
              </a:rPr>
              <a:t>SDAIA ACADEMY  ·  CAPSTONE PROJECT</a:t>
            </a:r>
            <a:endParaRPr lang="en-US" sz="1200" dirty="0"/>
          </a:p>
        </p:txBody>
      </p:sp>
      <p:sp>
        <p:nvSpPr>
          <p:cNvPr id="5" name="Text 3"/>
          <p:cNvSpPr/>
          <p:nvPr/>
        </p:nvSpPr>
        <p:spPr>
          <a:xfrm>
            <a:off x="685800" y="1828800"/>
            <a:ext cx="8046720" cy="228600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Hajj &amp; Tourism</a:t>
            </a:r>
            <a:endParaRPr lang="en-US" sz="4400" dirty="0"/>
          </a:p>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Crowd Operations</a:t>
            </a:r>
            <a:endParaRPr lang="en-US" sz="4400" dirty="0"/>
          </a:p>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Data Platform</a:t>
            </a:r>
            <a:endParaRPr lang="en-US" sz="4400" dirty="0"/>
          </a:p>
        </p:txBody>
      </p:sp>
      <p:sp>
        <p:nvSpPr>
          <p:cNvPr id="6" name="Text 4"/>
          <p:cNvSpPr/>
          <p:nvPr/>
        </p:nvSpPr>
        <p:spPr>
          <a:xfrm>
            <a:off x="713232" y="4343400"/>
            <a:ext cx="7680960" cy="914400"/>
          </a:xfrm>
          <a:prstGeom prst="rect">
            <a:avLst/>
          </a:prstGeom>
          <a:noFill/>
          <a:ln/>
        </p:spPr>
        <p:txBody>
          <a:bodyPr wrap="square" lIns="0" tIns="0" rIns="0" bIns="0" rtlCol="0" anchor="ctr"/>
          <a:lstStyle/>
          <a:p>
            <a:pPr indent="0" marL="0">
              <a:lnSpc>
                <a:spcPts val="2000"/>
              </a:lnSpc>
              <a:buNone/>
            </a:pPr>
            <a:r>
              <a:rPr lang="en-US" sz="1350" dirty="0">
                <a:solidFill>
                  <a:srgbClr val="BFD3C8"/>
                </a:solidFill>
                <a:latin typeface="Calibri" pitchFamily="34" charset="0"/>
                <a:ea typeface="Calibri" pitchFamily="34" charset="-122"/>
                <a:cs typeface="Calibri" pitchFamily="34" charset="-120"/>
              </a:rPr>
              <a:t>Real-time crowd telemetry from Kafka to a Delta lakehouse, gated by automated quality checks, with a retrieval copilot that answers procedural questions from official standard operating procedures — with citations.</a:t>
            </a:r>
            <a:endParaRPr lang="en-US" sz="1350" dirty="0"/>
          </a:p>
        </p:txBody>
      </p:sp>
      <p:sp>
        <p:nvSpPr>
          <p:cNvPr id="7" name="Text 5"/>
          <p:cNvSpPr/>
          <p:nvPr/>
        </p:nvSpPr>
        <p:spPr>
          <a:xfrm>
            <a:off x="713232" y="5623560"/>
            <a:ext cx="76809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mohammed alshaigi   ·   github.com/Mohammed-07th</a:t>
            </a:r>
            <a:endParaRPr lang="en-US" sz="1250" dirty="0"/>
          </a:p>
        </p:txBody>
      </p:sp>
      <p:sp>
        <p:nvSpPr>
          <p:cNvPr id="8" name="Text 6"/>
          <p:cNvSpPr/>
          <p:nvPr/>
        </p:nvSpPr>
        <p:spPr>
          <a:xfrm>
            <a:off x="713232" y="5943600"/>
            <a:ext cx="8229600" cy="274320"/>
          </a:xfrm>
          <a:prstGeom prst="rect">
            <a:avLst/>
          </a:prstGeom>
          <a:noFill/>
          <a:ln/>
        </p:spPr>
        <p:txBody>
          <a:bodyPr wrap="square" lIns="0" tIns="0" rIns="0" bIns="0" rtlCol="0" anchor="ctr"/>
          <a:lstStyle/>
          <a:p>
            <a:pPr indent="0" marL="0">
              <a:buNone/>
            </a:pPr>
            <a:r>
              <a:rPr lang="en-US" sz="1050" dirty="0">
                <a:solidFill>
                  <a:srgbClr val="6B7B74"/>
                </a:solidFill>
                <a:latin typeface="Calibri" pitchFamily="34" charset="0"/>
                <a:ea typeface="Calibri" pitchFamily="34" charset="-122"/>
                <a:cs typeface="Calibri" pitchFamily="34" charset="-120"/>
              </a:rPr>
              <a:t>Modern Data Engineering for AI Systems  ·  Cohort 2–6 August 2026  ·  Trainer: Mohammed Albeladi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A duty officer at 2am needs an answer, not a search</a:t>
            </a:r>
            <a:endParaRPr lang="en-US" sz="3400" dirty="0"/>
          </a:p>
        </p:txBody>
      </p:sp>
      <p:sp>
        <p:nvSpPr>
          <p:cNvPr id="4" name="Shape 2"/>
          <p:cNvSpPr/>
          <p:nvPr/>
        </p:nvSpPr>
        <p:spPr>
          <a:xfrm>
            <a:off x="548640" y="1554480"/>
            <a:ext cx="5486400" cy="3931920"/>
          </a:xfrm>
          <a:prstGeom prst="roundRect">
            <a:avLst>
              <a:gd name="adj" fmla="val 2093"/>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868680" y="1783080"/>
            <a:ext cx="4846320" cy="320040"/>
          </a:xfrm>
          <a:prstGeom prst="rect">
            <a:avLst/>
          </a:prstGeom>
          <a:noFill/>
          <a:ln/>
        </p:spPr>
        <p:txBody>
          <a:bodyPr wrap="square" lIns="0" tIns="0" rIns="0" bIns="0" rtlCol="0" anchor="ctr"/>
          <a:lstStyle/>
          <a:p>
            <a:pPr indent="0" marL="0">
              <a:buNone/>
            </a:pPr>
            <a:r>
              <a:rPr lang="en-US" sz="1500" b="1" dirty="0">
                <a:solidFill>
                  <a:srgbClr val="12513C"/>
                </a:solidFill>
                <a:latin typeface="Calibri" pitchFamily="34" charset="0"/>
                <a:ea typeface="Calibri" pitchFamily="34" charset="-122"/>
                <a:cs typeface="Calibri" pitchFamily="34" charset="-120"/>
              </a:rPr>
              <a:t>What happens on the ground</a:t>
            </a:r>
            <a:endParaRPr lang="en-US" sz="1500" dirty="0"/>
          </a:p>
        </p:txBody>
      </p:sp>
      <p:sp>
        <p:nvSpPr>
          <p:cNvPr id="6" name="Text 4"/>
          <p:cNvSpPr/>
          <p:nvPr/>
        </p:nvSpPr>
        <p:spPr>
          <a:xfrm>
            <a:off x="868680" y="2194560"/>
            <a:ext cx="4892040" cy="137160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350" dirty="0">
                <a:solidFill>
                  <a:srgbClr val="27352F"/>
                </a:solidFill>
                <a:latin typeface="Calibri" pitchFamily="34" charset="0"/>
                <a:ea typeface="Calibri" pitchFamily="34" charset="-122"/>
                <a:cs typeface="Calibri" pitchFamily="34" charset="-120"/>
              </a:rPr>
              <a:t>Gate sensors report entries, exits and estimated occupancy for every zone, every few seconds.</a:t>
            </a:r>
            <a:endParaRPr lang="en-US" sz="1350" dirty="0"/>
          </a:p>
          <a:p>
            <a:pPr marL="342900" indent="-342900">
              <a:lnSpc>
                <a:spcPts val="1900"/>
              </a:lnSpc>
              <a:spcAft>
                <a:spcPts val="700"/>
              </a:spcAft>
              <a:buSzPct val="100000"/>
              <a:buChar char="•"/>
            </a:pPr>
            <a:r>
              <a:rPr lang="en-US" sz="1350" dirty="0">
                <a:solidFill>
                  <a:srgbClr val="27352F"/>
                </a:solidFill>
                <a:latin typeface="Calibri" pitchFamily="34" charset="0"/>
                <a:ea typeface="Calibri" pitchFamily="34" charset="-122"/>
                <a:cs typeface="Calibri" pitchFamily="34" charset="-120"/>
              </a:rPr>
              <a:t>Field staff raise service requests — medical, lost person, crowd pressure, water, security — that move through a lifecycle over minutes to hours.</a:t>
            </a:r>
            <a:endParaRPr lang="en-US" sz="1350" dirty="0"/>
          </a:p>
          <a:p>
            <a:pPr marL="342900" indent="-342900">
              <a:lnSpc>
                <a:spcPts val="1900"/>
              </a:lnSpc>
              <a:spcAft>
                <a:spcPts val="700"/>
              </a:spcAft>
              <a:buSzPct val="100000"/>
              <a:buChar char="•"/>
            </a:pPr>
            <a:r>
              <a:rPr lang="en-US" sz="1350" dirty="0">
                <a:solidFill>
                  <a:srgbClr val="27352F"/>
                </a:solidFill>
                <a:latin typeface="Calibri" pitchFamily="34" charset="0"/>
                <a:ea typeface="Calibri" pitchFamily="34" charset="-122"/>
                <a:cs typeface="Calibri" pitchFamily="34" charset="-120"/>
              </a:rPr>
              <a:t>Zones include the Mataf, the Mas'a, the Jamarat bridge levels, Mina camps, Arafat, Muzdalifah, plus AlUla and Diriyah year-round.</a:t>
            </a:r>
            <a:endParaRPr lang="en-US" sz="1350" dirty="0"/>
          </a:p>
        </p:txBody>
      </p:sp>
      <p:sp>
        <p:nvSpPr>
          <p:cNvPr id="7" name="Shape 5"/>
          <p:cNvSpPr/>
          <p:nvPr/>
        </p:nvSpPr>
        <p:spPr>
          <a:xfrm>
            <a:off x="6400800" y="1554480"/>
            <a:ext cx="5212080" cy="3931920"/>
          </a:xfrm>
          <a:prstGeom prst="roundRect">
            <a:avLst>
              <a:gd name="adj" fmla="val 2093"/>
            </a:avLst>
          </a:prstGeom>
          <a:solidFill>
            <a:srgbClr val="12513C"/>
          </a:solidFill>
          <a:ln w="12700">
            <a:solidFill>
              <a:srgbClr val="12513C"/>
            </a:solidFill>
            <a:prstDash val="solid"/>
          </a:ln>
          <a:effectLst>
            <a:outerShdw sx="100000" sy="100000" kx="0" ky="0" algn="bl" rotWithShape="0" blurRad="127000" dist="19050" dir="5400000">
              <a:srgbClr val="1A1A1A">
                <a:alpha val="10000"/>
              </a:srgbClr>
            </a:outerShdw>
          </a:effectLst>
        </p:spPr>
      </p:sp>
      <p:sp>
        <p:nvSpPr>
          <p:cNvPr id="8" name="Text 6"/>
          <p:cNvSpPr/>
          <p:nvPr/>
        </p:nvSpPr>
        <p:spPr>
          <a:xfrm>
            <a:off x="6720840" y="1783080"/>
            <a:ext cx="4572000" cy="320040"/>
          </a:xfrm>
          <a:prstGeom prst="rect">
            <a:avLst/>
          </a:prstGeom>
          <a:noFill/>
          <a:ln/>
        </p:spPr>
        <p:txBody>
          <a:bodyPr wrap="square" lIns="0" tIns="0" rIns="0" bIns="0" rtlCol="0" anchor="ctr"/>
          <a:lstStyle/>
          <a:p>
            <a:pPr indent="0" marL="0">
              <a:buNone/>
            </a:pPr>
            <a:r>
              <a:rPr lang="en-US" sz="1500" b="1" dirty="0">
                <a:solidFill>
                  <a:srgbClr val="C8A951"/>
                </a:solidFill>
                <a:latin typeface="Calibri" pitchFamily="34" charset="0"/>
                <a:ea typeface="Calibri" pitchFamily="34" charset="-122"/>
                <a:cs typeface="Calibri" pitchFamily="34" charset="-120"/>
              </a:rPr>
              <a:t>The moment that defines the product</a:t>
            </a:r>
            <a:endParaRPr lang="en-US" sz="1500" dirty="0"/>
          </a:p>
        </p:txBody>
      </p:sp>
      <p:sp>
        <p:nvSpPr>
          <p:cNvPr id="9" name="Text 7"/>
          <p:cNvSpPr/>
          <p:nvPr/>
        </p:nvSpPr>
        <p:spPr>
          <a:xfrm>
            <a:off x="6720840" y="2240280"/>
            <a:ext cx="4572000" cy="1737360"/>
          </a:xfrm>
          <a:prstGeom prst="rect">
            <a:avLst/>
          </a:prstGeom>
          <a:noFill/>
          <a:ln/>
        </p:spPr>
        <p:txBody>
          <a:bodyPr wrap="square" lIns="0" tIns="0" rIns="0" bIns="0" rtlCol="0" anchor="ctr"/>
          <a:lstStyle/>
          <a:p>
            <a:pPr indent="0" marL="0">
              <a:lnSpc>
                <a:spcPts val="2500"/>
              </a:lnSpc>
              <a:buNone/>
            </a:pPr>
            <a:r>
              <a:rPr lang="en-US" sz="1700" i="1" dirty="0">
                <a:solidFill>
                  <a:srgbClr val="FFFFFF"/>
                </a:solidFill>
                <a:latin typeface="Cambria" pitchFamily="34" charset="0"/>
                <a:ea typeface="Cambria" pitchFamily="34" charset="-122"/>
                <a:cs typeface="Cambria" pitchFamily="34" charset="-120"/>
              </a:rPr>
              <a:t>“MATAF_01 has been above 90% capacity for 12 minutes.</a:t>
            </a:r>
            <a:endParaRPr lang="en-US" sz="1700" dirty="0"/>
          </a:p>
          <a:p>
            <a:pPr indent="0" marL="0">
              <a:lnSpc>
                <a:spcPts val="2500"/>
              </a:lnSpc>
              <a:buNone/>
            </a:pPr>
            <a:endParaRPr lang="en-US" sz="1700" dirty="0"/>
          </a:p>
          <a:p>
            <a:pPr indent="0" marL="0">
              <a:lnSpc>
                <a:spcPts val="2500"/>
              </a:lnSpc>
              <a:buNone/>
            </a:pPr>
            <a:r>
              <a:rPr lang="en-US" sz="1700" i="1" dirty="0">
                <a:solidFill>
                  <a:srgbClr val="FFFFFF"/>
                </a:solidFill>
                <a:latin typeface="Cambria" pitchFamily="34" charset="0"/>
                <a:ea typeface="Cambria" pitchFamily="34" charset="-122"/>
                <a:cs typeface="Cambria" pitchFamily="34" charset="-120"/>
              </a:rPr>
              <a:t>Who authorises diversion? What is the medical response SLA? What must I do first?”</a:t>
            </a:r>
            <a:endParaRPr lang="en-US" sz="1700" dirty="0"/>
          </a:p>
        </p:txBody>
      </p:sp>
      <p:sp>
        <p:nvSpPr>
          <p:cNvPr id="10" name="Text 8"/>
          <p:cNvSpPr/>
          <p:nvPr/>
        </p:nvSpPr>
        <p:spPr>
          <a:xfrm>
            <a:off x="6720840" y="4114800"/>
            <a:ext cx="4572000" cy="1188720"/>
          </a:xfrm>
          <a:prstGeom prst="rect">
            <a:avLst/>
          </a:prstGeom>
          <a:noFill/>
          <a:ln/>
        </p:spPr>
        <p:txBody>
          <a:bodyPr wrap="square" lIns="0" tIns="0" rIns="0" bIns="0" rtlCol="0" anchor="ctr"/>
          <a:lstStyle/>
          <a:p>
            <a:pPr indent="0" marL="0">
              <a:lnSpc>
                <a:spcPts val="1900"/>
              </a:lnSpc>
              <a:buNone/>
            </a:pPr>
            <a:r>
              <a:rPr lang="en-US" sz="1300" dirty="0">
                <a:solidFill>
                  <a:srgbClr val="BFD3C8"/>
                </a:solidFill>
                <a:latin typeface="Calibri" pitchFamily="34" charset="0"/>
                <a:ea typeface="Calibri" pitchFamily="34" charset="-122"/>
                <a:cs typeface="Calibri" pitchFamily="34" charset="-120"/>
              </a:rPr>
              <a:t>The answer must come from the actual published procedure, with a citation the officer can verify — not from memory, not from a colleague, and not invented by a language model.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WHO USES IT</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Four roles, four different questions</a:t>
            </a:r>
            <a:endParaRPr lang="en-US" sz="3400" dirty="0"/>
          </a:p>
        </p:txBody>
      </p:sp>
      <p:sp>
        <p:nvSpPr>
          <p:cNvPr id="4" name="Shape 2"/>
          <p:cNvSpPr/>
          <p:nvPr/>
        </p:nvSpPr>
        <p:spPr>
          <a:xfrm>
            <a:off x="548640" y="1572768"/>
            <a:ext cx="11064240"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Shape 3"/>
          <p:cNvSpPr/>
          <p:nvPr/>
        </p:nvSpPr>
        <p:spPr>
          <a:xfrm>
            <a:off x="841248" y="1874520"/>
            <a:ext cx="402336" cy="402336"/>
          </a:xfrm>
          <a:prstGeom prst="ellipse">
            <a:avLst/>
          </a:prstGeom>
          <a:solidFill>
            <a:srgbClr val="12513C"/>
          </a:solidFill>
          <a:ln w="12700">
            <a:solidFill>
              <a:srgbClr val="12513C"/>
            </a:solidFill>
            <a:prstDash val="solid"/>
          </a:ln>
        </p:spPr>
      </p:sp>
      <p:sp>
        <p:nvSpPr>
          <p:cNvPr id="6" name="Text 4"/>
          <p:cNvSpPr/>
          <p:nvPr/>
        </p:nvSpPr>
        <p:spPr>
          <a:xfrm>
            <a:off x="841248" y="1874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17320" y="1737360"/>
            <a:ext cx="3200400" cy="274320"/>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Duty Operations Director</a:t>
            </a:r>
            <a:endParaRPr lang="en-US" sz="1400" dirty="0"/>
          </a:p>
        </p:txBody>
      </p:sp>
      <p:sp>
        <p:nvSpPr>
          <p:cNvPr id="8" name="Text 6"/>
          <p:cNvSpPr/>
          <p:nvPr/>
        </p:nvSpPr>
        <p:spPr>
          <a:xfrm>
            <a:off x="1417320" y="2029968"/>
            <a:ext cx="6858000" cy="502920"/>
          </a:xfrm>
          <a:prstGeom prst="rect">
            <a:avLst/>
          </a:prstGeom>
          <a:noFill/>
          <a:ln/>
        </p:spPr>
        <p:txBody>
          <a:bodyPr wrap="square" lIns="0" tIns="0" rIns="0" bIns="0" rtlCol="0" anchor="ctr"/>
          <a:lstStyle/>
          <a:p>
            <a:pPr indent="0" marL="0">
              <a:lnSpc>
                <a:spcPts val="1500"/>
              </a:lnSpc>
              <a:buNone/>
            </a:pPr>
            <a:r>
              <a:rPr lang="en-US" sz="1150" dirty="0">
                <a:solidFill>
                  <a:srgbClr val="3D4A44"/>
                </a:solidFill>
                <a:latin typeface="Calibri" pitchFamily="34" charset="0"/>
                <a:ea typeface="Calibri" pitchFamily="34" charset="-122"/>
                <a:cs typeface="Calibri" pitchFamily="34" charset="-120"/>
              </a:rPr>
              <a:t>Site-wide authority. Needs the daily picture: which zones ran hot, for how long, and where SLAs were breached.</a:t>
            </a:r>
            <a:endParaRPr lang="en-US" sz="1150" dirty="0"/>
          </a:p>
        </p:txBody>
      </p:sp>
      <p:sp>
        <p:nvSpPr>
          <p:cNvPr id="9" name="Text 7"/>
          <p:cNvSpPr/>
          <p:nvPr/>
        </p:nvSpPr>
        <p:spPr>
          <a:xfrm>
            <a:off x="8503920" y="1920240"/>
            <a:ext cx="2834640" cy="411480"/>
          </a:xfrm>
          <a:prstGeom prst="rect">
            <a:avLst/>
          </a:prstGeom>
          <a:noFill/>
          <a:ln/>
        </p:spPr>
        <p:txBody>
          <a:bodyPr wrap="square" lIns="0" tIns="0" rIns="0" bIns="0" rtlCol="0" anchor="ctr"/>
          <a:lstStyle/>
          <a:p>
            <a:pPr algn="r" indent="0" marL="0">
              <a:buNone/>
            </a:pPr>
            <a:r>
              <a:rPr lang="en-US" sz="1100" b="1" dirty="0">
                <a:solidFill>
                  <a:srgbClr val="2E7D5B"/>
                </a:solidFill>
                <a:latin typeface="Calibri" pitchFamily="34" charset="0"/>
                <a:ea typeface="Calibri" pitchFamily="34" charset="-122"/>
                <a:cs typeface="Calibri" pitchFamily="34" charset="-120"/>
              </a:rPr>
              <a:t>Gold tables + briefing metrics</a:t>
            </a:r>
            <a:endParaRPr lang="en-US" sz="1100" dirty="0"/>
          </a:p>
        </p:txBody>
      </p:sp>
      <p:sp>
        <p:nvSpPr>
          <p:cNvPr id="10" name="Shape 8"/>
          <p:cNvSpPr/>
          <p:nvPr/>
        </p:nvSpPr>
        <p:spPr>
          <a:xfrm>
            <a:off x="548640" y="2688336"/>
            <a:ext cx="11064240"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1" name="Shape 9"/>
          <p:cNvSpPr/>
          <p:nvPr/>
        </p:nvSpPr>
        <p:spPr>
          <a:xfrm>
            <a:off x="841248" y="2990088"/>
            <a:ext cx="402336" cy="402336"/>
          </a:xfrm>
          <a:prstGeom prst="ellipse">
            <a:avLst/>
          </a:prstGeom>
          <a:solidFill>
            <a:srgbClr val="12513C"/>
          </a:solidFill>
          <a:ln w="12700">
            <a:solidFill>
              <a:srgbClr val="12513C"/>
            </a:solidFill>
            <a:prstDash val="solid"/>
          </a:ln>
        </p:spPr>
      </p:sp>
      <p:sp>
        <p:nvSpPr>
          <p:cNvPr id="12" name="Text 10"/>
          <p:cNvSpPr/>
          <p:nvPr/>
        </p:nvSpPr>
        <p:spPr>
          <a:xfrm>
            <a:off x="841248" y="29900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417320" y="2852928"/>
            <a:ext cx="3200400" cy="274320"/>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SOC Controller</a:t>
            </a:r>
            <a:endParaRPr lang="en-US" sz="1400" dirty="0"/>
          </a:p>
        </p:txBody>
      </p:sp>
      <p:sp>
        <p:nvSpPr>
          <p:cNvPr id="14" name="Text 12"/>
          <p:cNvSpPr/>
          <p:nvPr/>
        </p:nvSpPr>
        <p:spPr>
          <a:xfrm>
            <a:off x="1417320" y="3145536"/>
            <a:ext cx="6858000" cy="502920"/>
          </a:xfrm>
          <a:prstGeom prst="rect">
            <a:avLst/>
          </a:prstGeom>
          <a:noFill/>
          <a:ln/>
        </p:spPr>
        <p:txBody>
          <a:bodyPr wrap="square" lIns="0" tIns="0" rIns="0" bIns="0" rtlCol="0" anchor="ctr"/>
          <a:lstStyle/>
          <a:p>
            <a:pPr indent="0" marL="0">
              <a:lnSpc>
                <a:spcPts val="1500"/>
              </a:lnSpc>
              <a:buNone/>
            </a:pPr>
            <a:r>
              <a:rPr lang="en-US" sz="1150" dirty="0">
                <a:solidFill>
                  <a:srgbClr val="3D4A44"/>
                </a:solidFill>
                <a:latin typeface="Calibri" pitchFamily="34" charset="0"/>
                <a:ea typeface="Calibri" pitchFamily="34" charset="-122"/>
                <a:cs typeface="Calibri" pitchFamily="34" charset="-120"/>
              </a:rPr>
              <a:t>Real-time zone control. Authorises diversion at the CRITICAL threshold. Needs current occupancy and the escalation ladder.</a:t>
            </a:r>
            <a:endParaRPr lang="en-US" sz="1150" dirty="0"/>
          </a:p>
        </p:txBody>
      </p:sp>
      <p:sp>
        <p:nvSpPr>
          <p:cNvPr id="15" name="Text 13"/>
          <p:cNvSpPr/>
          <p:nvPr/>
        </p:nvSpPr>
        <p:spPr>
          <a:xfrm>
            <a:off x="8503920" y="3035808"/>
            <a:ext cx="2834640" cy="411480"/>
          </a:xfrm>
          <a:prstGeom prst="rect">
            <a:avLst/>
          </a:prstGeom>
          <a:noFill/>
          <a:ln/>
        </p:spPr>
        <p:txBody>
          <a:bodyPr wrap="square" lIns="0" tIns="0" rIns="0" bIns="0" rtlCol="0" anchor="ctr"/>
          <a:lstStyle/>
          <a:p>
            <a:pPr algn="r" indent="0" marL="0">
              <a:buNone/>
            </a:pPr>
            <a:r>
              <a:rPr lang="en-US" sz="1100" b="1" dirty="0">
                <a:solidFill>
                  <a:srgbClr val="2E7D5B"/>
                </a:solidFill>
                <a:latin typeface="Calibri" pitchFamily="34" charset="0"/>
                <a:ea typeface="Calibri" pitchFamily="34" charset="-122"/>
                <a:cs typeface="Calibri" pitchFamily="34" charset="-120"/>
              </a:rPr>
              <a:t>Live occupancy + copilot</a:t>
            </a:r>
            <a:endParaRPr lang="en-US" sz="1100" dirty="0"/>
          </a:p>
        </p:txBody>
      </p:sp>
      <p:sp>
        <p:nvSpPr>
          <p:cNvPr id="16" name="Shape 14"/>
          <p:cNvSpPr/>
          <p:nvPr/>
        </p:nvSpPr>
        <p:spPr>
          <a:xfrm>
            <a:off x="548640" y="3803904"/>
            <a:ext cx="11064240"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7" name="Shape 15"/>
          <p:cNvSpPr/>
          <p:nvPr/>
        </p:nvSpPr>
        <p:spPr>
          <a:xfrm>
            <a:off x="841248" y="4105656"/>
            <a:ext cx="402336" cy="402336"/>
          </a:xfrm>
          <a:prstGeom prst="ellipse">
            <a:avLst/>
          </a:prstGeom>
          <a:solidFill>
            <a:srgbClr val="12513C"/>
          </a:solidFill>
          <a:ln w="12700">
            <a:solidFill>
              <a:srgbClr val="12513C"/>
            </a:solidFill>
            <a:prstDash val="solid"/>
          </a:ln>
        </p:spPr>
      </p:sp>
      <p:sp>
        <p:nvSpPr>
          <p:cNvPr id="18" name="Text 16"/>
          <p:cNvSpPr/>
          <p:nvPr/>
        </p:nvSpPr>
        <p:spPr>
          <a:xfrm>
            <a:off x="841248" y="41056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417320" y="3968496"/>
            <a:ext cx="3200400" cy="274320"/>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Sector Supervisor / Zone Marshal</a:t>
            </a:r>
            <a:endParaRPr lang="en-US" sz="1400" dirty="0"/>
          </a:p>
        </p:txBody>
      </p:sp>
      <p:sp>
        <p:nvSpPr>
          <p:cNvPr id="20" name="Text 18"/>
          <p:cNvSpPr/>
          <p:nvPr/>
        </p:nvSpPr>
        <p:spPr>
          <a:xfrm>
            <a:off x="1417320" y="4261104"/>
            <a:ext cx="6858000" cy="502920"/>
          </a:xfrm>
          <a:prstGeom prst="rect">
            <a:avLst/>
          </a:prstGeom>
          <a:noFill/>
          <a:ln/>
        </p:spPr>
        <p:txBody>
          <a:bodyPr wrap="square" lIns="0" tIns="0" rIns="0" bIns="0" rtlCol="0" anchor="ctr"/>
          <a:lstStyle/>
          <a:p>
            <a:pPr indent="0" marL="0">
              <a:lnSpc>
                <a:spcPts val="1500"/>
              </a:lnSpc>
              <a:buNone/>
            </a:pPr>
            <a:r>
              <a:rPr lang="en-US" sz="1150" dirty="0">
                <a:solidFill>
                  <a:srgbClr val="3D4A44"/>
                </a:solidFill>
                <a:latin typeface="Calibri" pitchFamily="34" charset="0"/>
                <a:ea typeface="Calibri" pitchFamily="34" charset="-122"/>
                <a:cs typeface="Calibri" pitchFamily="34" charset="-120"/>
              </a:rPr>
              <a:t>On the floor. Needs a procedural answer in seconds, in their own language, while a crowd builds.</a:t>
            </a:r>
            <a:endParaRPr lang="en-US" sz="1150" dirty="0"/>
          </a:p>
        </p:txBody>
      </p:sp>
      <p:sp>
        <p:nvSpPr>
          <p:cNvPr id="21" name="Text 19"/>
          <p:cNvSpPr/>
          <p:nvPr/>
        </p:nvSpPr>
        <p:spPr>
          <a:xfrm>
            <a:off x="8503920" y="4151376"/>
            <a:ext cx="2834640" cy="411480"/>
          </a:xfrm>
          <a:prstGeom prst="rect">
            <a:avLst/>
          </a:prstGeom>
          <a:noFill/>
          <a:ln/>
        </p:spPr>
        <p:txBody>
          <a:bodyPr wrap="square" lIns="0" tIns="0" rIns="0" bIns="0" rtlCol="0" anchor="ctr"/>
          <a:lstStyle/>
          <a:p>
            <a:pPr algn="r" indent="0" marL="0">
              <a:buNone/>
            </a:pPr>
            <a:r>
              <a:rPr lang="en-US" sz="1100" b="1" dirty="0">
                <a:solidFill>
                  <a:srgbClr val="2E7D5B"/>
                </a:solidFill>
                <a:latin typeface="Calibri" pitchFamily="34" charset="0"/>
                <a:ea typeface="Calibri" pitchFamily="34" charset="-122"/>
                <a:cs typeface="Calibri" pitchFamily="34" charset="-120"/>
              </a:rPr>
              <a:t>Copilot, Arabic and English</a:t>
            </a:r>
            <a:endParaRPr lang="en-US" sz="1100" dirty="0"/>
          </a:p>
        </p:txBody>
      </p:sp>
      <p:sp>
        <p:nvSpPr>
          <p:cNvPr id="22" name="Shape 20"/>
          <p:cNvSpPr/>
          <p:nvPr/>
        </p:nvSpPr>
        <p:spPr>
          <a:xfrm>
            <a:off x="548640" y="4919472"/>
            <a:ext cx="11064240"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3" name="Shape 21"/>
          <p:cNvSpPr/>
          <p:nvPr/>
        </p:nvSpPr>
        <p:spPr>
          <a:xfrm>
            <a:off x="841248" y="5221224"/>
            <a:ext cx="402336" cy="402336"/>
          </a:xfrm>
          <a:prstGeom prst="ellipse">
            <a:avLst/>
          </a:prstGeom>
          <a:solidFill>
            <a:srgbClr val="12513C"/>
          </a:solidFill>
          <a:ln w="12700">
            <a:solidFill>
              <a:srgbClr val="12513C"/>
            </a:solidFill>
            <a:prstDash val="solid"/>
          </a:ln>
        </p:spPr>
      </p:sp>
      <p:sp>
        <p:nvSpPr>
          <p:cNvPr id="24" name="Text 22"/>
          <p:cNvSpPr/>
          <p:nvPr/>
        </p:nvSpPr>
        <p:spPr>
          <a:xfrm>
            <a:off x="841248" y="5221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417320" y="5084064"/>
            <a:ext cx="3200400" cy="274320"/>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Data &amp; analytics team</a:t>
            </a:r>
            <a:endParaRPr lang="en-US" sz="1400" dirty="0"/>
          </a:p>
        </p:txBody>
      </p:sp>
      <p:sp>
        <p:nvSpPr>
          <p:cNvPr id="26" name="Text 24"/>
          <p:cNvSpPr/>
          <p:nvPr/>
        </p:nvSpPr>
        <p:spPr>
          <a:xfrm>
            <a:off x="1417320" y="5376672"/>
            <a:ext cx="6858000" cy="502920"/>
          </a:xfrm>
          <a:prstGeom prst="rect">
            <a:avLst/>
          </a:prstGeom>
          <a:noFill/>
          <a:ln/>
        </p:spPr>
        <p:txBody>
          <a:bodyPr wrap="square" lIns="0" tIns="0" rIns="0" bIns="0" rtlCol="0" anchor="ctr"/>
          <a:lstStyle/>
          <a:p>
            <a:pPr indent="0" marL="0">
              <a:lnSpc>
                <a:spcPts val="1500"/>
              </a:lnSpc>
              <a:buNone/>
            </a:pPr>
            <a:r>
              <a:rPr lang="en-US" sz="1150" dirty="0">
                <a:solidFill>
                  <a:srgbClr val="3D4A44"/>
                </a:solidFill>
                <a:latin typeface="Calibri" pitchFamily="34" charset="0"/>
                <a:ea typeface="Calibri" pitchFamily="34" charset="-122"/>
                <a:cs typeface="Calibri" pitchFamily="34" charset="-120"/>
              </a:rPr>
              <a:t>Needs trustworthy history to model against — and needs to know when it cannot be trusted.</a:t>
            </a:r>
            <a:endParaRPr lang="en-US" sz="1150" dirty="0"/>
          </a:p>
        </p:txBody>
      </p:sp>
      <p:sp>
        <p:nvSpPr>
          <p:cNvPr id="27" name="Text 25"/>
          <p:cNvSpPr/>
          <p:nvPr/>
        </p:nvSpPr>
        <p:spPr>
          <a:xfrm>
            <a:off x="8503920" y="5266944"/>
            <a:ext cx="2834640" cy="411480"/>
          </a:xfrm>
          <a:prstGeom prst="rect">
            <a:avLst/>
          </a:prstGeom>
          <a:noFill/>
          <a:ln/>
        </p:spPr>
        <p:txBody>
          <a:bodyPr wrap="square" lIns="0" tIns="0" rIns="0" bIns="0" rtlCol="0" anchor="ctr"/>
          <a:lstStyle/>
          <a:p>
            <a:pPr algn="r" indent="0" marL="0">
              <a:buNone/>
            </a:pPr>
            <a:r>
              <a:rPr lang="en-US" sz="1100" b="1" dirty="0">
                <a:solidFill>
                  <a:srgbClr val="2E7D5B"/>
                </a:solidFill>
                <a:latin typeface="Calibri" pitchFamily="34" charset="0"/>
                <a:ea typeface="Calibri" pitchFamily="34" charset="-122"/>
                <a:cs typeface="Calibri" pitchFamily="34" charset="-120"/>
              </a:rPr>
              <a:t>Lakehouse + quality gates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WHAT IT DOES</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Two halves of one platform</a:t>
            </a:r>
            <a:endParaRPr lang="en-US" sz="3400" dirty="0"/>
          </a:p>
        </p:txBody>
      </p:sp>
      <p:sp>
        <p:nvSpPr>
          <p:cNvPr id="4" name="Shape 2"/>
          <p:cNvSpPr/>
          <p:nvPr/>
        </p:nvSpPr>
        <p:spPr>
          <a:xfrm>
            <a:off x="548640" y="1600200"/>
            <a:ext cx="5486400" cy="4023360"/>
          </a:xfrm>
          <a:prstGeom prst="roundRect">
            <a:avLst>
              <a:gd name="adj" fmla="val 2045"/>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Shape 3"/>
          <p:cNvSpPr/>
          <p:nvPr/>
        </p:nvSpPr>
        <p:spPr>
          <a:xfrm>
            <a:off x="868680" y="1874520"/>
            <a:ext cx="402336" cy="402336"/>
          </a:xfrm>
          <a:prstGeom prst="ellipse">
            <a:avLst/>
          </a:prstGeom>
          <a:solidFill>
            <a:srgbClr val="2E7D5B"/>
          </a:solidFill>
          <a:ln w="12700">
            <a:solidFill>
              <a:srgbClr val="2E7D5B"/>
            </a:solidFill>
            <a:prstDash val="solid"/>
          </a:ln>
        </p:spPr>
      </p:sp>
      <p:sp>
        <p:nvSpPr>
          <p:cNvPr id="6" name="Text 4"/>
          <p:cNvSpPr/>
          <p:nvPr/>
        </p:nvSpPr>
        <p:spPr>
          <a:xfrm>
            <a:off x="868680" y="1874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5"/>
          <p:cNvSpPr/>
          <p:nvPr/>
        </p:nvSpPr>
        <p:spPr>
          <a:xfrm>
            <a:off x="1417320" y="1901952"/>
            <a:ext cx="4114800" cy="365760"/>
          </a:xfrm>
          <a:prstGeom prst="rect">
            <a:avLst/>
          </a:prstGeom>
          <a:noFill/>
          <a:ln/>
        </p:spPr>
        <p:txBody>
          <a:bodyPr wrap="square" lIns="0" tIns="0" rIns="0" bIns="0" rtlCol="0" anchor="ctr"/>
          <a:lstStyle/>
          <a:p>
            <a:pPr indent="0" marL="0">
              <a:buNone/>
            </a:pPr>
            <a:r>
              <a:rPr lang="en-US" sz="2100" b="1" dirty="0">
                <a:solidFill>
                  <a:srgbClr val="12513C"/>
                </a:solidFill>
                <a:latin typeface="Cambria" pitchFamily="34" charset="0"/>
                <a:ea typeface="Cambria" pitchFamily="34" charset="-122"/>
                <a:cs typeface="Cambria" pitchFamily="34" charset="-120"/>
              </a:rPr>
              <a:t>The lakehouse</a:t>
            </a:r>
            <a:endParaRPr lang="en-US" sz="2100" dirty="0"/>
          </a:p>
        </p:txBody>
      </p:sp>
      <p:sp>
        <p:nvSpPr>
          <p:cNvPr id="8" name="Text 6"/>
          <p:cNvSpPr/>
          <p:nvPr/>
        </p:nvSpPr>
        <p:spPr>
          <a:xfrm>
            <a:off x="868680" y="2395728"/>
            <a:ext cx="4846320" cy="274320"/>
          </a:xfrm>
          <a:prstGeom prst="rect">
            <a:avLst/>
          </a:prstGeom>
          <a:noFill/>
          <a:ln/>
        </p:spPr>
        <p:txBody>
          <a:bodyPr wrap="square" lIns="0" tIns="0" rIns="0" bIns="0" rtlCol="0" anchor="ctr"/>
          <a:lstStyle/>
          <a:p>
            <a:pPr indent="0" marL="0">
              <a:buNone/>
            </a:pPr>
            <a:r>
              <a:rPr lang="en-US" sz="1200" i="1" dirty="0">
                <a:solidFill>
                  <a:srgbClr val="6B7B74"/>
                </a:solidFill>
                <a:latin typeface="Calibri" pitchFamily="34" charset="0"/>
                <a:ea typeface="Calibri" pitchFamily="34" charset="-122"/>
                <a:cs typeface="Calibri" pitchFamily="34" charset="-120"/>
              </a:rPr>
              <a:t>Turns raw telemetry into answerable questions</a:t>
            </a:r>
            <a:endParaRPr lang="en-US" sz="1200" dirty="0"/>
          </a:p>
        </p:txBody>
      </p:sp>
      <p:sp>
        <p:nvSpPr>
          <p:cNvPr id="9" name="Text 7"/>
          <p:cNvSpPr/>
          <p:nvPr/>
        </p:nvSpPr>
        <p:spPr>
          <a:xfrm>
            <a:off x="868680" y="2788920"/>
            <a:ext cx="4892040" cy="137160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250" dirty="0">
                <a:solidFill>
                  <a:srgbClr val="27352F"/>
                </a:solidFill>
                <a:latin typeface="Calibri" pitchFamily="34" charset="0"/>
                <a:ea typeface="Calibri" pitchFamily="34" charset="-122"/>
                <a:cs typeface="Calibri" pitchFamily="34" charset="-120"/>
              </a:rPr>
              <a:t>Every sensor reading and every request state change is captured and validated.</a:t>
            </a:r>
            <a:endParaRPr lang="en-US" sz="1250" dirty="0"/>
          </a:p>
          <a:p>
            <a:pPr marL="342900" indent="-342900">
              <a:lnSpc>
                <a:spcPts val="1900"/>
              </a:lnSpc>
              <a:spcAft>
                <a:spcPts val="700"/>
              </a:spcAft>
              <a:buSzPct val="100000"/>
              <a:buChar char="•"/>
            </a:pPr>
            <a:r>
              <a:rPr lang="en-US" sz="1250" dirty="0">
                <a:solidFill>
                  <a:srgbClr val="27352F"/>
                </a:solidFill>
                <a:latin typeface="Calibri" pitchFamily="34" charset="0"/>
                <a:ea typeface="Calibri" pitchFamily="34" charset="-122"/>
                <a:cs typeface="Calibri" pitchFamily="34" charset="-120"/>
              </a:rPr>
              <a:t>Bad records are quarantined with a reason, never silently dropped.</a:t>
            </a:r>
            <a:endParaRPr lang="en-US" sz="1250" dirty="0"/>
          </a:p>
          <a:p>
            <a:pPr marL="342900" indent="-342900">
              <a:lnSpc>
                <a:spcPts val="1900"/>
              </a:lnSpc>
              <a:spcAft>
                <a:spcPts val="700"/>
              </a:spcAft>
              <a:buSzPct val="100000"/>
              <a:buChar char="•"/>
            </a:pPr>
            <a:r>
              <a:rPr lang="en-US" sz="1250" dirty="0">
                <a:solidFill>
                  <a:srgbClr val="27352F"/>
                </a:solidFill>
                <a:latin typeface="Calibri" pitchFamily="34" charset="0"/>
                <a:ea typeface="Calibri" pitchFamily="34" charset="-122"/>
                <a:cs typeface="Calibri" pitchFamily="34" charset="-120"/>
              </a:rPr>
              <a:t>Aggregates answer questions no single reading can: “how many minutes did MATAF_01 spend above 90% yesterday?”</a:t>
            </a:r>
            <a:endParaRPr lang="en-US" sz="1250" dirty="0"/>
          </a:p>
        </p:txBody>
      </p:sp>
      <p:sp>
        <p:nvSpPr>
          <p:cNvPr id="10" name="Shape 8"/>
          <p:cNvSpPr/>
          <p:nvPr/>
        </p:nvSpPr>
        <p:spPr>
          <a:xfrm>
            <a:off x="6400800" y="1600200"/>
            <a:ext cx="5212080" cy="4023360"/>
          </a:xfrm>
          <a:prstGeom prst="roundRect">
            <a:avLst>
              <a:gd name="adj" fmla="val 2045"/>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1" name="Shape 9"/>
          <p:cNvSpPr/>
          <p:nvPr/>
        </p:nvSpPr>
        <p:spPr>
          <a:xfrm>
            <a:off x="6720840" y="1874520"/>
            <a:ext cx="402336" cy="402336"/>
          </a:xfrm>
          <a:prstGeom prst="ellipse">
            <a:avLst/>
          </a:prstGeom>
          <a:solidFill>
            <a:srgbClr val="C8A951"/>
          </a:solidFill>
          <a:ln w="12700">
            <a:solidFill>
              <a:srgbClr val="C8A951"/>
            </a:solidFill>
            <a:prstDash val="solid"/>
          </a:ln>
        </p:spPr>
      </p:sp>
      <p:sp>
        <p:nvSpPr>
          <p:cNvPr id="12" name="Text 10"/>
          <p:cNvSpPr/>
          <p:nvPr/>
        </p:nvSpPr>
        <p:spPr>
          <a:xfrm>
            <a:off x="6720840" y="1874520"/>
            <a:ext cx="402336" cy="402336"/>
          </a:xfrm>
          <a:prstGeom prst="rect">
            <a:avLst/>
          </a:prstGeom>
          <a:noFill/>
          <a:ln/>
        </p:spPr>
        <p:txBody>
          <a:bodyPr wrap="square" lIns="0" tIns="0" rIns="0" bIns="0" rtlCol="0" anchor="ctr"/>
          <a:lstStyle/>
          <a:p>
            <a:pPr algn="ctr" indent="0" marL="0">
              <a:buNone/>
            </a:pPr>
            <a:r>
              <a:rPr lang="en-US" sz="1300" b="1" dirty="0">
                <a:solidFill>
                  <a:srgbClr val="0A2E24"/>
                </a:solidFill>
                <a:latin typeface="Calibri" pitchFamily="34" charset="0"/>
                <a:ea typeface="Calibri" pitchFamily="34" charset="-122"/>
                <a:cs typeface="Calibri" pitchFamily="34" charset="-120"/>
              </a:rPr>
              <a:t>B</a:t>
            </a:r>
            <a:endParaRPr lang="en-US" sz="1300" dirty="0"/>
          </a:p>
        </p:txBody>
      </p:sp>
      <p:sp>
        <p:nvSpPr>
          <p:cNvPr id="13" name="Text 11"/>
          <p:cNvSpPr/>
          <p:nvPr/>
        </p:nvSpPr>
        <p:spPr>
          <a:xfrm>
            <a:off x="7269480" y="1901952"/>
            <a:ext cx="3931920" cy="365760"/>
          </a:xfrm>
          <a:prstGeom prst="rect">
            <a:avLst/>
          </a:prstGeom>
          <a:noFill/>
          <a:ln/>
        </p:spPr>
        <p:txBody>
          <a:bodyPr wrap="square" lIns="0" tIns="0" rIns="0" bIns="0" rtlCol="0" anchor="ctr"/>
          <a:lstStyle/>
          <a:p>
            <a:pPr indent="0" marL="0">
              <a:buNone/>
            </a:pPr>
            <a:r>
              <a:rPr lang="en-US" sz="2100" b="1" dirty="0">
                <a:solidFill>
                  <a:srgbClr val="12513C"/>
                </a:solidFill>
                <a:latin typeface="Cambria" pitchFamily="34" charset="0"/>
                <a:ea typeface="Cambria" pitchFamily="34" charset="-122"/>
                <a:cs typeface="Cambria" pitchFamily="34" charset="-120"/>
              </a:rPr>
              <a:t>The copilot</a:t>
            </a:r>
            <a:endParaRPr lang="en-US" sz="2100" dirty="0"/>
          </a:p>
        </p:txBody>
      </p:sp>
      <p:sp>
        <p:nvSpPr>
          <p:cNvPr id="14" name="Text 12"/>
          <p:cNvSpPr/>
          <p:nvPr/>
        </p:nvSpPr>
        <p:spPr>
          <a:xfrm>
            <a:off x="6720840" y="2395728"/>
            <a:ext cx="4572000" cy="274320"/>
          </a:xfrm>
          <a:prstGeom prst="rect">
            <a:avLst/>
          </a:prstGeom>
          <a:noFill/>
          <a:ln/>
        </p:spPr>
        <p:txBody>
          <a:bodyPr wrap="square" lIns="0" tIns="0" rIns="0" bIns="0" rtlCol="0" anchor="ctr"/>
          <a:lstStyle/>
          <a:p>
            <a:pPr indent="0" marL="0">
              <a:buNone/>
            </a:pPr>
            <a:r>
              <a:rPr lang="en-US" sz="1200" i="1" dirty="0">
                <a:solidFill>
                  <a:srgbClr val="6B7B74"/>
                </a:solidFill>
                <a:latin typeface="Calibri" pitchFamily="34" charset="0"/>
                <a:ea typeface="Calibri" pitchFamily="34" charset="-122"/>
                <a:cs typeface="Calibri" pitchFamily="34" charset="-120"/>
              </a:rPr>
              <a:t>Answers procedure, with citations</a:t>
            </a:r>
            <a:endParaRPr lang="en-US" sz="1200" dirty="0"/>
          </a:p>
        </p:txBody>
      </p:sp>
      <p:sp>
        <p:nvSpPr>
          <p:cNvPr id="15" name="Text 13"/>
          <p:cNvSpPr/>
          <p:nvPr/>
        </p:nvSpPr>
        <p:spPr>
          <a:xfrm>
            <a:off x="6720840" y="2788920"/>
            <a:ext cx="4617720" cy="173736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250" dirty="0">
                <a:solidFill>
                  <a:srgbClr val="27352F"/>
                </a:solidFill>
                <a:latin typeface="Calibri" pitchFamily="34" charset="0"/>
                <a:ea typeface="Calibri" pitchFamily="34" charset="-122"/>
                <a:cs typeface="Calibri" pitchFamily="34" charset="-120"/>
              </a:rPr>
              <a:t>Searches 10 standard operating procedures by meaning and by exact keyword.</a:t>
            </a:r>
            <a:endParaRPr lang="en-US" sz="1250" dirty="0"/>
          </a:p>
          <a:p>
            <a:pPr marL="342900" indent="-342900">
              <a:lnSpc>
                <a:spcPts val="1900"/>
              </a:lnSpc>
              <a:spcAft>
                <a:spcPts val="700"/>
              </a:spcAft>
              <a:buSzPct val="100000"/>
              <a:buChar char="•"/>
            </a:pPr>
            <a:r>
              <a:rPr lang="en-US" sz="1250" dirty="0">
                <a:solidFill>
                  <a:srgbClr val="27352F"/>
                </a:solidFill>
                <a:latin typeface="Calibri" pitchFamily="34" charset="0"/>
                <a:ea typeface="Calibri" pitchFamily="34" charset="-122"/>
                <a:cs typeface="Calibri" pitchFamily="34" charset="-120"/>
              </a:rPr>
              <a:t>Cites the document code and section for every claim it makes.</a:t>
            </a:r>
            <a:endParaRPr lang="en-US" sz="1250" dirty="0"/>
          </a:p>
          <a:p>
            <a:pPr marL="342900" indent="-342900">
              <a:lnSpc>
                <a:spcPts val="1900"/>
              </a:lnSpc>
              <a:spcAft>
                <a:spcPts val="700"/>
              </a:spcAft>
              <a:buSzPct val="100000"/>
              <a:buChar char="•"/>
            </a:pPr>
            <a:r>
              <a:rPr lang="en-US" sz="1250" dirty="0">
                <a:solidFill>
                  <a:srgbClr val="27352F"/>
                </a:solidFill>
                <a:latin typeface="Calibri" pitchFamily="34" charset="0"/>
                <a:ea typeface="Calibri" pitchFamily="34" charset="-122"/>
                <a:cs typeface="Calibri" pitchFamily="34" charset="-120"/>
              </a:rPr>
              <a:t>Refuses when the procedures do not cover the question, instead of inventing an answer.</a:t>
            </a:r>
            <a:endParaRPr lang="en-US" sz="1250" dirty="0"/>
          </a:p>
          <a:p>
            <a:pPr marL="342900" indent="-342900">
              <a:lnSpc>
                <a:spcPts val="1900"/>
              </a:lnSpc>
              <a:spcAft>
                <a:spcPts val="700"/>
              </a:spcAft>
              <a:buSzPct val="100000"/>
              <a:buChar char="•"/>
            </a:pPr>
            <a:r>
              <a:rPr lang="en-US" sz="1250" dirty="0">
                <a:solidFill>
                  <a:srgbClr val="27352F"/>
                </a:solidFill>
                <a:latin typeface="Calibri" pitchFamily="34" charset="0"/>
                <a:ea typeface="Calibri" pitchFamily="34" charset="-122"/>
                <a:cs typeface="Calibri" pitchFamily="34" charset="-120"/>
              </a:rPr>
              <a:t>Works in Arabic and English.</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E24"/>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HOW THE DATA FLOWS</a:t>
            </a:r>
            <a:endParaRPr lang="en-US" sz="1100" dirty="0"/>
          </a:p>
        </p:txBody>
      </p:sp>
      <p:sp>
        <p:nvSpPr>
          <p:cNvPr id="3" name="Text 1"/>
          <p:cNvSpPr/>
          <p:nvPr/>
        </p:nvSpPr>
        <p:spPr>
          <a:xfrm>
            <a:off x="548640" y="621792"/>
            <a:ext cx="109728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Architecture</a:t>
            </a:r>
            <a:endParaRPr lang="en-US" sz="3200" dirty="0"/>
          </a:p>
        </p:txBody>
      </p:sp>
      <p:sp>
        <p:nvSpPr>
          <p:cNvPr id="4" name="Shape 2"/>
          <p:cNvSpPr/>
          <p:nvPr/>
        </p:nvSpPr>
        <p:spPr>
          <a:xfrm>
            <a:off x="548640" y="1554480"/>
            <a:ext cx="1920240" cy="914400"/>
          </a:xfrm>
          <a:prstGeom prst="roundRect">
            <a:avLst>
              <a:gd name="adj" fmla="val 8000"/>
            </a:avLst>
          </a:prstGeom>
          <a:solidFill>
            <a:srgbClr val="2E7D5B"/>
          </a:solidFill>
          <a:ln w="12700">
            <a:solidFill>
              <a:srgbClr val="2E7D5B"/>
            </a:solidFill>
            <a:prstDash val="solid"/>
          </a:ln>
        </p:spPr>
      </p:sp>
      <p:sp>
        <p:nvSpPr>
          <p:cNvPr id="5" name="Text 3"/>
          <p:cNvSpPr/>
          <p:nvPr/>
        </p:nvSpPr>
        <p:spPr>
          <a:xfrm>
            <a:off x="658368" y="1645920"/>
            <a:ext cx="170078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 Producers</a:t>
            </a:r>
            <a:endParaRPr lang="en-US" sz="1250" dirty="0"/>
          </a:p>
        </p:txBody>
      </p:sp>
      <p:sp>
        <p:nvSpPr>
          <p:cNvPr id="6" name="Text 4"/>
          <p:cNvSpPr/>
          <p:nvPr/>
        </p:nvSpPr>
        <p:spPr>
          <a:xfrm>
            <a:off x="658368" y="1938528"/>
            <a:ext cx="170078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occupancy +</a:t>
            </a:r>
            <a:endParaRPr lang="en-US" sz="950" dirty="0"/>
          </a:p>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service requests</a:t>
            </a:r>
            <a:endParaRPr lang="en-US" sz="950" dirty="0"/>
          </a:p>
        </p:txBody>
      </p:sp>
      <p:sp>
        <p:nvSpPr>
          <p:cNvPr id="7" name="Shape 5"/>
          <p:cNvSpPr/>
          <p:nvPr/>
        </p:nvSpPr>
        <p:spPr>
          <a:xfrm>
            <a:off x="2542032" y="1911096"/>
            <a:ext cx="365760" cy="201168"/>
          </a:xfrm>
          <a:prstGeom prst="rightArrow">
            <a:avLst/>
          </a:prstGeom>
          <a:solidFill>
            <a:srgbClr val="C8A951"/>
          </a:solidFill>
          <a:ln w="12700">
            <a:solidFill>
              <a:srgbClr val="C8A951"/>
            </a:solidFill>
            <a:prstDash val="solid"/>
          </a:ln>
        </p:spPr>
      </p:sp>
      <p:sp>
        <p:nvSpPr>
          <p:cNvPr id="8" name="Shape 6"/>
          <p:cNvSpPr/>
          <p:nvPr/>
        </p:nvSpPr>
        <p:spPr>
          <a:xfrm>
            <a:off x="2999232" y="1554480"/>
            <a:ext cx="1920240" cy="914400"/>
          </a:xfrm>
          <a:prstGeom prst="roundRect">
            <a:avLst>
              <a:gd name="adj" fmla="val 8000"/>
            </a:avLst>
          </a:prstGeom>
          <a:solidFill>
            <a:srgbClr val="12513C"/>
          </a:solidFill>
          <a:ln w="12700">
            <a:solidFill>
              <a:srgbClr val="12513C"/>
            </a:solidFill>
            <a:prstDash val="solid"/>
          </a:ln>
        </p:spPr>
      </p:sp>
      <p:sp>
        <p:nvSpPr>
          <p:cNvPr id="9" name="Text 7"/>
          <p:cNvSpPr/>
          <p:nvPr/>
        </p:nvSpPr>
        <p:spPr>
          <a:xfrm>
            <a:off x="3108960" y="1645920"/>
            <a:ext cx="170078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Kafka</a:t>
            </a:r>
            <a:endParaRPr lang="en-US" sz="1250" dirty="0"/>
          </a:p>
        </p:txBody>
      </p:sp>
      <p:sp>
        <p:nvSpPr>
          <p:cNvPr id="10" name="Text 8"/>
          <p:cNvSpPr/>
          <p:nvPr/>
        </p:nvSpPr>
        <p:spPr>
          <a:xfrm>
            <a:off x="3108960" y="1938528"/>
            <a:ext cx="170078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4 topics, KRaft</a:t>
            </a:r>
            <a:endParaRPr lang="en-US" sz="950" dirty="0"/>
          </a:p>
        </p:txBody>
      </p:sp>
      <p:sp>
        <p:nvSpPr>
          <p:cNvPr id="11" name="Shape 9"/>
          <p:cNvSpPr/>
          <p:nvPr/>
        </p:nvSpPr>
        <p:spPr>
          <a:xfrm>
            <a:off x="4992624" y="1911096"/>
            <a:ext cx="365760" cy="201168"/>
          </a:xfrm>
          <a:prstGeom prst="rightArrow">
            <a:avLst/>
          </a:prstGeom>
          <a:solidFill>
            <a:srgbClr val="C8A951"/>
          </a:solidFill>
          <a:ln w="12700">
            <a:solidFill>
              <a:srgbClr val="C8A951"/>
            </a:solidFill>
            <a:prstDash val="solid"/>
          </a:ln>
        </p:spPr>
      </p:sp>
      <p:sp>
        <p:nvSpPr>
          <p:cNvPr id="12" name="Shape 10"/>
          <p:cNvSpPr/>
          <p:nvPr/>
        </p:nvSpPr>
        <p:spPr>
          <a:xfrm>
            <a:off x="5449824" y="1554480"/>
            <a:ext cx="2103120" cy="914400"/>
          </a:xfrm>
          <a:prstGeom prst="roundRect">
            <a:avLst>
              <a:gd name="adj" fmla="val 8000"/>
            </a:avLst>
          </a:prstGeom>
          <a:solidFill>
            <a:srgbClr val="C8A951"/>
          </a:solidFill>
          <a:ln w="12700">
            <a:solidFill>
              <a:srgbClr val="C8A951"/>
            </a:solidFill>
            <a:prstDash val="solid"/>
          </a:ln>
        </p:spPr>
      </p:sp>
      <p:sp>
        <p:nvSpPr>
          <p:cNvPr id="13" name="Text 11"/>
          <p:cNvSpPr/>
          <p:nvPr/>
        </p:nvSpPr>
        <p:spPr>
          <a:xfrm>
            <a:off x="5559552" y="1645920"/>
            <a:ext cx="1883664" cy="274320"/>
          </a:xfrm>
          <a:prstGeom prst="rect">
            <a:avLst/>
          </a:prstGeom>
          <a:noFill/>
          <a:ln/>
        </p:spPr>
        <p:txBody>
          <a:bodyPr wrap="square" lIns="0" tIns="0" rIns="0" bIns="0" rtlCol="0" anchor="ctr"/>
          <a:lstStyle/>
          <a:p>
            <a:pPr algn="ctr" indent="0" marL="0">
              <a:buNone/>
            </a:pPr>
            <a:r>
              <a:rPr lang="en-US" sz="1250" b="1" dirty="0">
                <a:solidFill>
                  <a:srgbClr val="0A2E24"/>
                </a:solidFill>
                <a:latin typeface="Calibri" pitchFamily="34" charset="0"/>
                <a:ea typeface="Calibri" pitchFamily="34" charset="-122"/>
                <a:cs typeface="Calibri" pitchFamily="34" charset="-120"/>
              </a:rPr>
              <a:t>Pydantic contract</a:t>
            </a:r>
            <a:endParaRPr lang="en-US" sz="1250" dirty="0"/>
          </a:p>
        </p:txBody>
      </p:sp>
      <p:sp>
        <p:nvSpPr>
          <p:cNvPr id="14" name="Text 12"/>
          <p:cNvSpPr/>
          <p:nvPr/>
        </p:nvSpPr>
        <p:spPr>
          <a:xfrm>
            <a:off x="5559552" y="1938528"/>
            <a:ext cx="1883664" cy="457200"/>
          </a:xfrm>
          <a:prstGeom prst="rect">
            <a:avLst/>
          </a:prstGeom>
          <a:noFill/>
          <a:ln/>
        </p:spPr>
        <p:txBody>
          <a:bodyPr wrap="square" lIns="0" tIns="0" rIns="0" bIns="0" rtlCol="0" anchor="ctr"/>
          <a:lstStyle/>
          <a:p>
            <a:pPr algn="ctr" indent="0" marL="0">
              <a:lnSpc>
                <a:spcPts val="1200"/>
              </a:lnSpc>
              <a:buNone/>
            </a:pPr>
            <a:r>
              <a:rPr lang="en-US" sz="950" dirty="0">
                <a:solidFill>
                  <a:srgbClr val="0A2E24"/>
                </a:solidFill>
                <a:latin typeface="Calibri" pitchFamily="34" charset="0"/>
                <a:ea typeface="Calibri" pitchFamily="34" charset="-122"/>
                <a:cs typeface="Calibri" pitchFamily="34" charset="-120"/>
              </a:rPr>
              <a:t>strict validation</a:t>
            </a:r>
            <a:endParaRPr lang="en-US" sz="950" dirty="0"/>
          </a:p>
          <a:p>
            <a:pPr algn="ctr" indent="0" marL="0">
              <a:lnSpc>
                <a:spcPts val="1200"/>
              </a:lnSpc>
              <a:buNone/>
            </a:pPr>
            <a:r>
              <a:rPr lang="en-US" sz="950" dirty="0">
                <a:solidFill>
                  <a:srgbClr val="0A2E24"/>
                </a:solidFill>
                <a:latin typeface="Calibri" pitchFamily="34" charset="0"/>
                <a:ea typeface="Calibri" pitchFamily="34" charset="-122"/>
                <a:cs typeface="Calibri" pitchFamily="34" charset="-120"/>
              </a:rPr>
              <a:t>at the boundary</a:t>
            </a:r>
            <a:endParaRPr lang="en-US" sz="950" dirty="0"/>
          </a:p>
        </p:txBody>
      </p:sp>
      <p:sp>
        <p:nvSpPr>
          <p:cNvPr id="15" name="Shape 13"/>
          <p:cNvSpPr/>
          <p:nvPr/>
        </p:nvSpPr>
        <p:spPr>
          <a:xfrm>
            <a:off x="7626096" y="1911096"/>
            <a:ext cx="365760" cy="201168"/>
          </a:xfrm>
          <a:prstGeom prst="rightArrow">
            <a:avLst/>
          </a:prstGeom>
          <a:solidFill>
            <a:srgbClr val="C8A951"/>
          </a:solidFill>
          <a:ln w="12700">
            <a:solidFill>
              <a:srgbClr val="C8A951"/>
            </a:solidFill>
            <a:prstDash val="solid"/>
          </a:ln>
        </p:spPr>
      </p:sp>
      <p:sp>
        <p:nvSpPr>
          <p:cNvPr id="16" name="Shape 14"/>
          <p:cNvSpPr/>
          <p:nvPr/>
        </p:nvSpPr>
        <p:spPr>
          <a:xfrm>
            <a:off x="8083296" y="1170432"/>
            <a:ext cx="1737360" cy="749808"/>
          </a:xfrm>
          <a:prstGeom prst="roundRect">
            <a:avLst>
              <a:gd name="adj" fmla="val 9756"/>
            </a:avLst>
          </a:prstGeom>
          <a:solidFill>
            <a:srgbClr val="1D6A4F"/>
          </a:solidFill>
          <a:ln w="12700">
            <a:solidFill>
              <a:srgbClr val="1D6A4F"/>
            </a:solidFill>
            <a:prstDash val="solid"/>
          </a:ln>
        </p:spPr>
      </p:sp>
      <p:sp>
        <p:nvSpPr>
          <p:cNvPr id="17" name="Text 15"/>
          <p:cNvSpPr/>
          <p:nvPr/>
        </p:nvSpPr>
        <p:spPr>
          <a:xfrm>
            <a:off x="8193024" y="1261872"/>
            <a:ext cx="151790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BRONZE</a:t>
            </a:r>
            <a:endParaRPr lang="en-US" sz="1250" dirty="0"/>
          </a:p>
        </p:txBody>
      </p:sp>
      <p:sp>
        <p:nvSpPr>
          <p:cNvPr id="18" name="Text 16"/>
          <p:cNvSpPr/>
          <p:nvPr/>
        </p:nvSpPr>
        <p:spPr>
          <a:xfrm>
            <a:off x="8193024" y="1554480"/>
            <a:ext cx="151790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raw, append-only</a:t>
            </a:r>
            <a:endParaRPr lang="en-US" sz="950" dirty="0"/>
          </a:p>
        </p:txBody>
      </p:sp>
      <p:sp>
        <p:nvSpPr>
          <p:cNvPr id="19" name="Shape 17"/>
          <p:cNvSpPr/>
          <p:nvPr/>
        </p:nvSpPr>
        <p:spPr>
          <a:xfrm>
            <a:off x="8083296" y="2103120"/>
            <a:ext cx="1737360" cy="749808"/>
          </a:xfrm>
          <a:prstGeom prst="roundRect">
            <a:avLst>
              <a:gd name="adj" fmla="val 9756"/>
            </a:avLst>
          </a:prstGeom>
          <a:solidFill>
            <a:srgbClr val="B4453C"/>
          </a:solidFill>
          <a:ln w="12700">
            <a:solidFill>
              <a:srgbClr val="B4453C"/>
            </a:solidFill>
            <a:prstDash val="solid"/>
          </a:ln>
        </p:spPr>
      </p:sp>
      <p:sp>
        <p:nvSpPr>
          <p:cNvPr id="20" name="Text 18"/>
          <p:cNvSpPr/>
          <p:nvPr/>
        </p:nvSpPr>
        <p:spPr>
          <a:xfrm>
            <a:off x="8193024" y="2194560"/>
            <a:ext cx="151790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DLQ + quarantine</a:t>
            </a:r>
            <a:endParaRPr lang="en-US" sz="1250" dirty="0"/>
          </a:p>
        </p:txBody>
      </p:sp>
      <p:sp>
        <p:nvSpPr>
          <p:cNvPr id="21" name="Text 19"/>
          <p:cNvSpPr/>
          <p:nvPr/>
        </p:nvSpPr>
        <p:spPr>
          <a:xfrm>
            <a:off x="8193024" y="2487168"/>
            <a:ext cx="151790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with reason</a:t>
            </a:r>
            <a:endParaRPr lang="en-US" sz="950" dirty="0"/>
          </a:p>
        </p:txBody>
      </p:sp>
      <p:sp>
        <p:nvSpPr>
          <p:cNvPr id="22" name="Shape 20"/>
          <p:cNvSpPr/>
          <p:nvPr/>
        </p:nvSpPr>
        <p:spPr>
          <a:xfrm>
            <a:off x="548640" y="3063240"/>
            <a:ext cx="1920240" cy="685800"/>
          </a:xfrm>
          <a:prstGeom prst="roundRect">
            <a:avLst>
              <a:gd name="adj" fmla="val 10667"/>
            </a:avLst>
          </a:prstGeom>
          <a:solidFill>
            <a:srgbClr val="8A6D1F"/>
          </a:solidFill>
          <a:ln w="12700">
            <a:solidFill>
              <a:srgbClr val="8A6D1F"/>
            </a:solidFill>
            <a:prstDash val="solid"/>
          </a:ln>
        </p:spPr>
      </p:sp>
      <p:sp>
        <p:nvSpPr>
          <p:cNvPr id="23" name="Text 21"/>
          <p:cNvSpPr/>
          <p:nvPr/>
        </p:nvSpPr>
        <p:spPr>
          <a:xfrm>
            <a:off x="658368" y="3154680"/>
            <a:ext cx="170078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GATE 1</a:t>
            </a:r>
            <a:endParaRPr lang="en-US" sz="1250" dirty="0"/>
          </a:p>
        </p:txBody>
      </p:sp>
      <p:sp>
        <p:nvSpPr>
          <p:cNvPr id="24" name="Text 22"/>
          <p:cNvSpPr/>
          <p:nvPr/>
        </p:nvSpPr>
        <p:spPr>
          <a:xfrm>
            <a:off x="658368" y="3447288"/>
            <a:ext cx="170078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Great Expectations</a:t>
            </a:r>
            <a:endParaRPr lang="en-US" sz="950" dirty="0"/>
          </a:p>
        </p:txBody>
      </p:sp>
      <p:sp>
        <p:nvSpPr>
          <p:cNvPr id="25" name="Shape 23"/>
          <p:cNvSpPr/>
          <p:nvPr/>
        </p:nvSpPr>
        <p:spPr>
          <a:xfrm>
            <a:off x="2542032" y="3310128"/>
            <a:ext cx="365760" cy="201168"/>
          </a:xfrm>
          <a:prstGeom prst="rightArrow">
            <a:avLst/>
          </a:prstGeom>
          <a:solidFill>
            <a:srgbClr val="C8A951"/>
          </a:solidFill>
          <a:ln w="12700">
            <a:solidFill>
              <a:srgbClr val="C8A951"/>
            </a:solidFill>
            <a:prstDash val="solid"/>
          </a:ln>
        </p:spPr>
      </p:sp>
      <p:sp>
        <p:nvSpPr>
          <p:cNvPr id="26" name="Shape 24"/>
          <p:cNvSpPr/>
          <p:nvPr/>
        </p:nvSpPr>
        <p:spPr>
          <a:xfrm>
            <a:off x="2999232" y="3063240"/>
            <a:ext cx="2377440" cy="685800"/>
          </a:xfrm>
          <a:prstGeom prst="roundRect">
            <a:avLst>
              <a:gd name="adj" fmla="val 10667"/>
            </a:avLst>
          </a:prstGeom>
          <a:solidFill>
            <a:srgbClr val="1D6A4F"/>
          </a:solidFill>
          <a:ln w="12700">
            <a:solidFill>
              <a:srgbClr val="1D6A4F"/>
            </a:solidFill>
            <a:prstDash val="solid"/>
          </a:ln>
        </p:spPr>
      </p:sp>
      <p:sp>
        <p:nvSpPr>
          <p:cNvPr id="27" name="Text 25"/>
          <p:cNvSpPr/>
          <p:nvPr/>
        </p:nvSpPr>
        <p:spPr>
          <a:xfrm>
            <a:off x="3108960" y="3154680"/>
            <a:ext cx="215798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SILVER</a:t>
            </a:r>
            <a:endParaRPr lang="en-US" sz="1250" dirty="0"/>
          </a:p>
        </p:txBody>
      </p:sp>
      <p:sp>
        <p:nvSpPr>
          <p:cNvPr id="28" name="Text 26"/>
          <p:cNvSpPr/>
          <p:nvPr/>
        </p:nvSpPr>
        <p:spPr>
          <a:xfrm>
            <a:off x="3108960" y="3447288"/>
            <a:ext cx="215798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dedupe · MERGE · PII hashed</a:t>
            </a:r>
            <a:endParaRPr lang="en-US" sz="950" dirty="0"/>
          </a:p>
        </p:txBody>
      </p:sp>
      <p:sp>
        <p:nvSpPr>
          <p:cNvPr id="29" name="Shape 27"/>
          <p:cNvSpPr/>
          <p:nvPr/>
        </p:nvSpPr>
        <p:spPr>
          <a:xfrm>
            <a:off x="5468112" y="3310128"/>
            <a:ext cx="365760" cy="201168"/>
          </a:xfrm>
          <a:prstGeom prst="rightArrow">
            <a:avLst/>
          </a:prstGeom>
          <a:solidFill>
            <a:srgbClr val="C8A951"/>
          </a:solidFill>
          <a:ln w="12700">
            <a:solidFill>
              <a:srgbClr val="C8A951"/>
            </a:solidFill>
            <a:prstDash val="solid"/>
          </a:ln>
        </p:spPr>
      </p:sp>
      <p:sp>
        <p:nvSpPr>
          <p:cNvPr id="30" name="Shape 28"/>
          <p:cNvSpPr/>
          <p:nvPr/>
        </p:nvSpPr>
        <p:spPr>
          <a:xfrm>
            <a:off x="5925312" y="3063240"/>
            <a:ext cx="1737360" cy="685800"/>
          </a:xfrm>
          <a:prstGeom prst="roundRect">
            <a:avLst>
              <a:gd name="adj" fmla="val 10667"/>
            </a:avLst>
          </a:prstGeom>
          <a:solidFill>
            <a:srgbClr val="8A6D1F"/>
          </a:solidFill>
          <a:ln w="12700">
            <a:solidFill>
              <a:srgbClr val="8A6D1F"/>
            </a:solidFill>
            <a:prstDash val="solid"/>
          </a:ln>
        </p:spPr>
      </p:sp>
      <p:sp>
        <p:nvSpPr>
          <p:cNvPr id="31" name="Text 29"/>
          <p:cNvSpPr/>
          <p:nvPr/>
        </p:nvSpPr>
        <p:spPr>
          <a:xfrm>
            <a:off x="6035040" y="3154680"/>
            <a:ext cx="151790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GATE 2</a:t>
            </a:r>
            <a:endParaRPr lang="en-US" sz="1250" dirty="0"/>
          </a:p>
        </p:txBody>
      </p:sp>
      <p:sp>
        <p:nvSpPr>
          <p:cNvPr id="32" name="Text 30"/>
          <p:cNvSpPr/>
          <p:nvPr/>
        </p:nvSpPr>
        <p:spPr>
          <a:xfrm>
            <a:off x="6035040" y="3447288"/>
            <a:ext cx="151790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Great Expectations</a:t>
            </a:r>
            <a:endParaRPr lang="en-US" sz="950" dirty="0"/>
          </a:p>
        </p:txBody>
      </p:sp>
      <p:sp>
        <p:nvSpPr>
          <p:cNvPr id="33" name="Shape 31"/>
          <p:cNvSpPr/>
          <p:nvPr/>
        </p:nvSpPr>
        <p:spPr>
          <a:xfrm>
            <a:off x="7735824" y="3310128"/>
            <a:ext cx="365760" cy="201168"/>
          </a:xfrm>
          <a:prstGeom prst="rightArrow">
            <a:avLst/>
          </a:prstGeom>
          <a:solidFill>
            <a:srgbClr val="C8A951"/>
          </a:solidFill>
          <a:ln w="12700">
            <a:solidFill>
              <a:srgbClr val="C8A951"/>
            </a:solidFill>
            <a:prstDash val="solid"/>
          </a:ln>
        </p:spPr>
      </p:sp>
      <p:sp>
        <p:nvSpPr>
          <p:cNvPr id="34" name="Shape 32"/>
          <p:cNvSpPr/>
          <p:nvPr/>
        </p:nvSpPr>
        <p:spPr>
          <a:xfrm>
            <a:off x="8193024" y="3063240"/>
            <a:ext cx="1645920" cy="685800"/>
          </a:xfrm>
          <a:prstGeom prst="roundRect">
            <a:avLst>
              <a:gd name="adj" fmla="val 10667"/>
            </a:avLst>
          </a:prstGeom>
          <a:solidFill>
            <a:srgbClr val="1D6A4F"/>
          </a:solidFill>
          <a:ln w="12700">
            <a:solidFill>
              <a:srgbClr val="1D6A4F"/>
            </a:solidFill>
            <a:prstDash val="solid"/>
          </a:ln>
        </p:spPr>
      </p:sp>
      <p:sp>
        <p:nvSpPr>
          <p:cNvPr id="35" name="Text 33"/>
          <p:cNvSpPr/>
          <p:nvPr/>
        </p:nvSpPr>
        <p:spPr>
          <a:xfrm>
            <a:off x="8302752" y="3154680"/>
            <a:ext cx="142646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GOLD</a:t>
            </a:r>
            <a:endParaRPr lang="en-US" sz="1250" dirty="0"/>
          </a:p>
        </p:txBody>
      </p:sp>
      <p:sp>
        <p:nvSpPr>
          <p:cNvPr id="36" name="Text 34"/>
          <p:cNvSpPr/>
          <p:nvPr/>
        </p:nvSpPr>
        <p:spPr>
          <a:xfrm>
            <a:off x="8302752" y="3447288"/>
            <a:ext cx="142646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GROUP BY aggregate</a:t>
            </a:r>
            <a:endParaRPr lang="en-US" sz="950" dirty="0"/>
          </a:p>
        </p:txBody>
      </p:sp>
      <p:sp>
        <p:nvSpPr>
          <p:cNvPr id="37" name="Shape 35"/>
          <p:cNvSpPr/>
          <p:nvPr/>
        </p:nvSpPr>
        <p:spPr>
          <a:xfrm>
            <a:off x="548640" y="4114800"/>
            <a:ext cx="2926080" cy="777240"/>
          </a:xfrm>
          <a:prstGeom prst="roundRect">
            <a:avLst>
              <a:gd name="adj" fmla="val 9412"/>
            </a:avLst>
          </a:prstGeom>
          <a:solidFill>
            <a:srgbClr val="2E7D5B"/>
          </a:solidFill>
          <a:ln w="12700">
            <a:solidFill>
              <a:srgbClr val="2E7D5B"/>
            </a:solidFill>
            <a:prstDash val="solid"/>
          </a:ln>
        </p:spPr>
      </p:sp>
      <p:sp>
        <p:nvSpPr>
          <p:cNvPr id="38" name="Text 36"/>
          <p:cNvSpPr/>
          <p:nvPr/>
        </p:nvSpPr>
        <p:spPr>
          <a:xfrm>
            <a:off x="658368" y="4206240"/>
            <a:ext cx="270662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 SOP documents</a:t>
            </a:r>
            <a:endParaRPr lang="en-US" sz="1250" dirty="0"/>
          </a:p>
        </p:txBody>
      </p:sp>
      <p:sp>
        <p:nvSpPr>
          <p:cNvPr id="39" name="Text 37"/>
          <p:cNvSpPr/>
          <p:nvPr/>
        </p:nvSpPr>
        <p:spPr>
          <a:xfrm>
            <a:off x="658368" y="4498848"/>
            <a:ext cx="270662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chunk → embed</a:t>
            </a:r>
            <a:endParaRPr lang="en-US" sz="950" dirty="0"/>
          </a:p>
        </p:txBody>
      </p:sp>
      <p:sp>
        <p:nvSpPr>
          <p:cNvPr id="40" name="Shape 38"/>
          <p:cNvSpPr/>
          <p:nvPr/>
        </p:nvSpPr>
        <p:spPr>
          <a:xfrm>
            <a:off x="3547872" y="4434840"/>
            <a:ext cx="365760" cy="201168"/>
          </a:xfrm>
          <a:prstGeom prst="rightArrow">
            <a:avLst/>
          </a:prstGeom>
          <a:solidFill>
            <a:srgbClr val="C8A951"/>
          </a:solidFill>
          <a:ln w="12700">
            <a:solidFill>
              <a:srgbClr val="C8A951"/>
            </a:solidFill>
            <a:prstDash val="solid"/>
          </a:ln>
        </p:spPr>
      </p:sp>
      <p:sp>
        <p:nvSpPr>
          <p:cNvPr id="41" name="Shape 39"/>
          <p:cNvSpPr/>
          <p:nvPr/>
        </p:nvSpPr>
        <p:spPr>
          <a:xfrm>
            <a:off x="4005072" y="4114800"/>
            <a:ext cx="2011680" cy="777240"/>
          </a:xfrm>
          <a:prstGeom prst="roundRect">
            <a:avLst>
              <a:gd name="adj" fmla="val 9412"/>
            </a:avLst>
          </a:prstGeom>
          <a:solidFill>
            <a:srgbClr val="12513C"/>
          </a:solidFill>
          <a:ln w="12700">
            <a:solidFill>
              <a:srgbClr val="12513C"/>
            </a:solidFill>
            <a:prstDash val="solid"/>
          </a:ln>
        </p:spPr>
      </p:sp>
      <p:sp>
        <p:nvSpPr>
          <p:cNvPr id="42" name="Text 40"/>
          <p:cNvSpPr/>
          <p:nvPr/>
        </p:nvSpPr>
        <p:spPr>
          <a:xfrm>
            <a:off x="4114800" y="4206240"/>
            <a:ext cx="179222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Qdrant + BM25</a:t>
            </a:r>
            <a:endParaRPr lang="en-US" sz="1250" dirty="0"/>
          </a:p>
        </p:txBody>
      </p:sp>
      <p:sp>
        <p:nvSpPr>
          <p:cNvPr id="43" name="Text 41"/>
          <p:cNvSpPr/>
          <p:nvPr/>
        </p:nvSpPr>
        <p:spPr>
          <a:xfrm>
            <a:off x="4114800" y="4498848"/>
            <a:ext cx="179222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vector + keyword</a:t>
            </a:r>
            <a:endParaRPr lang="en-US" sz="950" dirty="0"/>
          </a:p>
        </p:txBody>
      </p:sp>
      <p:sp>
        <p:nvSpPr>
          <p:cNvPr id="44" name="Shape 42"/>
          <p:cNvSpPr/>
          <p:nvPr/>
        </p:nvSpPr>
        <p:spPr>
          <a:xfrm>
            <a:off x="6089904" y="4434840"/>
            <a:ext cx="365760" cy="201168"/>
          </a:xfrm>
          <a:prstGeom prst="rightArrow">
            <a:avLst/>
          </a:prstGeom>
          <a:solidFill>
            <a:srgbClr val="C8A951"/>
          </a:solidFill>
          <a:ln w="12700">
            <a:solidFill>
              <a:srgbClr val="C8A951"/>
            </a:solidFill>
            <a:prstDash val="solid"/>
          </a:ln>
        </p:spPr>
      </p:sp>
      <p:sp>
        <p:nvSpPr>
          <p:cNvPr id="45" name="Shape 43"/>
          <p:cNvSpPr/>
          <p:nvPr/>
        </p:nvSpPr>
        <p:spPr>
          <a:xfrm>
            <a:off x="6547104" y="4114800"/>
            <a:ext cx="1737360" cy="777240"/>
          </a:xfrm>
          <a:prstGeom prst="roundRect">
            <a:avLst>
              <a:gd name="adj" fmla="val 9412"/>
            </a:avLst>
          </a:prstGeom>
          <a:solidFill>
            <a:srgbClr val="C8A951"/>
          </a:solidFill>
          <a:ln w="12700">
            <a:solidFill>
              <a:srgbClr val="C8A951"/>
            </a:solidFill>
            <a:prstDash val="solid"/>
          </a:ln>
        </p:spPr>
      </p:sp>
      <p:sp>
        <p:nvSpPr>
          <p:cNvPr id="46" name="Text 44"/>
          <p:cNvSpPr/>
          <p:nvPr/>
        </p:nvSpPr>
        <p:spPr>
          <a:xfrm>
            <a:off x="6656832" y="4206240"/>
            <a:ext cx="1517904" cy="274320"/>
          </a:xfrm>
          <a:prstGeom prst="rect">
            <a:avLst/>
          </a:prstGeom>
          <a:noFill/>
          <a:ln/>
        </p:spPr>
        <p:txBody>
          <a:bodyPr wrap="square" lIns="0" tIns="0" rIns="0" bIns="0" rtlCol="0" anchor="ctr"/>
          <a:lstStyle/>
          <a:p>
            <a:pPr algn="ctr" indent="0" marL="0">
              <a:buNone/>
            </a:pPr>
            <a:r>
              <a:rPr lang="en-US" sz="1250" b="1" dirty="0">
                <a:solidFill>
                  <a:srgbClr val="0A2E24"/>
                </a:solidFill>
                <a:latin typeface="Calibri" pitchFamily="34" charset="0"/>
                <a:ea typeface="Calibri" pitchFamily="34" charset="-122"/>
                <a:cs typeface="Calibri" pitchFamily="34" charset="-120"/>
              </a:rPr>
              <a:t>RRF fusion</a:t>
            </a:r>
            <a:endParaRPr lang="en-US" sz="1250" dirty="0"/>
          </a:p>
        </p:txBody>
      </p:sp>
      <p:sp>
        <p:nvSpPr>
          <p:cNvPr id="47" name="Text 45"/>
          <p:cNvSpPr/>
          <p:nvPr/>
        </p:nvSpPr>
        <p:spPr>
          <a:xfrm>
            <a:off x="6656832" y="4498848"/>
            <a:ext cx="1517904" cy="457200"/>
          </a:xfrm>
          <a:prstGeom prst="rect">
            <a:avLst/>
          </a:prstGeom>
          <a:noFill/>
          <a:ln/>
        </p:spPr>
        <p:txBody>
          <a:bodyPr wrap="square" lIns="0" tIns="0" rIns="0" bIns="0" rtlCol="0" anchor="ctr"/>
          <a:lstStyle/>
          <a:p>
            <a:pPr algn="ctr" indent="0" marL="0">
              <a:lnSpc>
                <a:spcPts val="1200"/>
              </a:lnSpc>
              <a:buNone/>
            </a:pPr>
            <a:r>
              <a:rPr lang="en-US" sz="950" dirty="0">
                <a:solidFill>
                  <a:srgbClr val="0A2E24"/>
                </a:solidFill>
                <a:latin typeface="Calibri" pitchFamily="34" charset="0"/>
                <a:ea typeface="Calibri" pitchFamily="34" charset="-122"/>
                <a:cs typeface="Calibri" pitchFamily="34" charset="-120"/>
              </a:rPr>
              <a:t>k = 60</a:t>
            </a:r>
            <a:endParaRPr lang="en-US" sz="950" dirty="0"/>
          </a:p>
        </p:txBody>
      </p:sp>
      <p:sp>
        <p:nvSpPr>
          <p:cNvPr id="48" name="Shape 46"/>
          <p:cNvSpPr/>
          <p:nvPr/>
        </p:nvSpPr>
        <p:spPr>
          <a:xfrm>
            <a:off x="8357616" y="4434840"/>
            <a:ext cx="365760" cy="201168"/>
          </a:xfrm>
          <a:prstGeom prst="rightArrow">
            <a:avLst/>
          </a:prstGeom>
          <a:solidFill>
            <a:srgbClr val="C8A951"/>
          </a:solidFill>
          <a:ln w="12700">
            <a:solidFill>
              <a:srgbClr val="C8A951"/>
            </a:solidFill>
            <a:prstDash val="solid"/>
          </a:ln>
        </p:spPr>
      </p:sp>
      <p:sp>
        <p:nvSpPr>
          <p:cNvPr id="49" name="Shape 47"/>
          <p:cNvSpPr/>
          <p:nvPr/>
        </p:nvSpPr>
        <p:spPr>
          <a:xfrm>
            <a:off x="8814816" y="4114800"/>
            <a:ext cx="1828800" cy="777240"/>
          </a:xfrm>
          <a:prstGeom prst="roundRect">
            <a:avLst>
              <a:gd name="adj" fmla="val 9412"/>
            </a:avLst>
          </a:prstGeom>
          <a:solidFill>
            <a:srgbClr val="2E7D5B"/>
          </a:solidFill>
          <a:ln w="12700">
            <a:solidFill>
              <a:srgbClr val="2E7D5B"/>
            </a:solidFill>
            <a:prstDash val="solid"/>
          </a:ln>
        </p:spPr>
      </p:sp>
      <p:sp>
        <p:nvSpPr>
          <p:cNvPr id="50" name="Text 48"/>
          <p:cNvSpPr/>
          <p:nvPr/>
        </p:nvSpPr>
        <p:spPr>
          <a:xfrm>
            <a:off x="8924544" y="4206240"/>
            <a:ext cx="160934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Rerank → answer</a:t>
            </a:r>
            <a:endParaRPr lang="en-US" sz="1250" dirty="0"/>
          </a:p>
        </p:txBody>
      </p:sp>
      <p:sp>
        <p:nvSpPr>
          <p:cNvPr id="51" name="Text 49"/>
          <p:cNvSpPr/>
          <p:nvPr/>
        </p:nvSpPr>
        <p:spPr>
          <a:xfrm>
            <a:off x="8924544" y="4498848"/>
            <a:ext cx="1609344" cy="457200"/>
          </a:xfrm>
          <a:prstGeom prst="rect">
            <a:avLst/>
          </a:prstGeom>
          <a:noFill/>
          <a:ln/>
        </p:spPr>
        <p:txBody>
          <a:bodyPr wrap="square" lIns="0" tIns="0" rIns="0" bIns="0" rtlCol="0" anchor="ctr"/>
          <a:lstStyle/>
          <a:p>
            <a:pPr algn="ctr" indent="0" marL="0">
              <a:lnSpc>
                <a:spcPts val="1200"/>
              </a:lnSpc>
              <a:buNone/>
            </a:pPr>
            <a:r>
              <a:rPr lang="en-US" sz="950" dirty="0">
                <a:solidFill>
                  <a:srgbClr val="FFFFFF"/>
                </a:solidFill>
                <a:latin typeface="Calibri" pitchFamily="34" charset="0"/>
                <a:ea typeface="Calibri" pitchFamily="34" charset="-122"/>
                <a:cs typeface="Calibri" pitchFamily="34" charset="-120"/>
              </a:rPr>
              <a:t>with citations</a:t>
            </a:r>
            <a:endParaRPr lang="en-US" sz="950" dirty="0"/>
          </a:p>
        </p:txBody>
      </p:sp>
      <p:sp>
        <p:nvSpPr>
          <p:cNvPr id="52" name="Shape 50"/>
          <p:cNvSpPr/>
          <p:nvPr/>
        </p:nvSpPr>
        <p:spPr>
          <a:xfrm>
            <a:off x="548640" y="5166360"/>
            <a:ext cx="11064240" cy="685800"/>
          </a:xfrm>
          <a:prstGeom prst="roundRect">
            <a:avLst>
              <a:gd name="adj" fmla="val 10667"/>
            </a:avLst>
          </a:prstGeom>
          <a:solidFill>
            <a:srgbClr val="133B2E"/>
          </a:solidFill>
          <a:ln w="12700">
            <a:solidFill>
              <a:srgbClr val="133B2E"/>
            </a:solidFill>
            <a:prstDash val="solid"/>
          </a:ln>
        </p:spPr>
      </p:sp>
      <p:sp>
        <p:nvSpPr>
          <p:cNvPr id="53" name="Text 51"/>
          <p:cNvSpPr/>
          <p:nvPr/>
        </p:nvSpPr>
        <p:spPr>
          <a:xfrm>
            <a:off x="731520" y="5349240"/>
            <a:ext cx="10698480"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Airflow orchestrates all 13 tasks  ·  OpenLineage emits START / COMPLETE / FAIL for every stage  ·  a failed gate stops everything downstream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WHAT WE USED</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Every component is the real library</a:t>
            </a:r>
            <a:endParaRPr lang="en-US" sz="3400" dirty="0"/>
          </a:p>
        </p:txBody>
      </p:sp>
      <p:sp>
        <p:nvSpPr>
          <p:cNvPr id="4" name="Shape 2"/>
          <p:cNvSpPr/>
          <p:nvPr/>
        </p:nvSpPr>
        <p:spPr>
          <a:xfrm>
            <a:off x="548640" y="1572768"/>
            <a:ext cx="352044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804672" y="1773936"/>
            <a:ext cx="3017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Ingestion</a:t>
            </a:r>
            <a:endParaRPr lang="en-US" sz="1400" dirty="0"/>
          </a:p>
        </p:txBody>
      </p:sp>
      <p:sp>
        <p:nvSpPr>
          <p:cNvPr id="6" name="Text 4"/>
          <p:cNvSpPr/>
          <p:nvPr/>
        </p:nvSpPr>
        <p:spPr>
          <a:xfrm>
            <a:off x="804672" y="2139696"/>
            <a:ext cx="301752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confluent-kafka 2.5.0</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Apache Kafka 3.8.1 (KRaft)</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Pydantic v2 — strict mode</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Docker via colima</a:t>
            </a:r>
            <a:endParaRPr lang="en-US" sz="1100" dirty="0"/>
          </a:p>
        </p:txBody>
      </p:sp>
      <p:sp>
        <p:nvSpPr>
          <p:cNvPr id="7" name="Shape 5"/>
          <p:cNvSpPr/>
          <p:nvPr/>
        </p:nvSpPr>
        <p:spPr>
          <a:xfrm>
            <a:off x="4315968" y="1572768"/>
            <a:ext cx="352044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8" name="Text 6"/>
          <p:cNvSpPr/>
          <p:nvPr/>
        </p:nvSpPr>
        <p:spPr>
          <a:xfrm>
            <a:off x="4572000" y="1773936"/>
            <a:ext cx="3017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Lakehouse</a:t>
            </a:r>
            <a:endParaRPr lang="en-US" sz="1400" dirty="0"/>
          </a:p>
        </p:txBody>
      </p:sp>
      <p:sp>
        <p:nvSpPr>
          <p:cNvPr id="9" name="Text 7"/>
          <p:cNvSpPr/>
          <p:nvPr/>
        </p:nvSpPr>
        <p:spPr>
          <a:xfrm>
            <a:off x="4572000" y="2139696"/>
            <a:ext cx="301752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deltalake 0.20.2 (delta-rs)</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polars 1.9.0</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pyarrow 17.0.0</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no JVM in the stack</a:t>
            </a:r>
            <a:endParaRPr lang="en-US" sz="1100" dirty="0"/>
          </a:p>
        </p:txBody>
      </p:sp>
      <p:sp>
        <p:nvSpPr>
          <p:cNvPr id="10" name="Shape 8"/>
          <p:cNvSpPr/>
          <p:nvPr/>
        </p:nvSpPr>
        <p:spPr>
          <a:xfrm>
            <a:off x="8083296" y="1572768"/>
            <a:ext cx="352044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1" name="Text 9"/>
          <p:cNvSpPr/>
          <p:nvPr/>
        </p:nvSpPr>
        <p:spPr>
          <a:xfrm>
            <a:off x="8339328" y="1773936"/>
            <a:ext cx="3017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Quality &amp; lineage</a:t>
            </a:r>
            <a:endParaRPr lang="en-US" sz="1400" dirty="0"/>
          </a:p>
        </p:txBody>
      </p:sp>
      <p:sp>
        <p:nvSpPr>
          <p:cNvPr id="12" name="Text 10"/>
          <p:cNvSpPr/>
          <p:nvPr/>
        </p:nvSpPr>
        <p:spPr>
          <a:xfrm>
            <a:off x="8339328" y="2139696"/>
            <a:ext cx="301752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great-expectations 0.18.22</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openlineage-python 1.22.0</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pytest — 44 tests</a:t>
            </a:r>
            <a:endParaRPr lang="en-US" sz="1100" dirty="0"/>
          </a:p>
        </p:txBody>
      </p:sp>
      <p:sp>
        <p:nvSpPr>
          <p:cNvPr id="13" name="Shape 11"/>
          <p:cNvSpPr/>
          <p:nvPr/>
        </p:nvSpPr>
        <p:spPr>
          <a:xfrm>
            <a:off x="548640" y="3721608"/>
            <a:ext cx="352044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4" name="Text 12"/>
          <p:cNvSpPr/>
          <p:nvPr/>
        </p:nvSpPr>
        <p:spPr>
          <a:xfrm>
            <a:off x="804672" y="3922776"/>
            <a:ext cx="3017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RAG</a:t>
            </a:r>
            <a:endParaRPr lang="en-US" sz="1400" dirty="0"/>
          </a:p>
        </p:txBody>
      </p:sp>
      <p:sp>
        <p:nvSpPr>
          <p:cNvPr id="15" name="Text 13"/>
          <p:cNvSpPr/>
          <p:nvPr/>
        </p:nvSpPr>
        <p:spPr>
          <a:xfrm>
            <a:off x="804672" y="4288536"/>
            <a:ext cx="301752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Qdrant 1.11.3 (Docker)</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multilingual-e5-small (384d)</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rank-bm25 + hand-written RRF</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cross-encoder reranker</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OpenRouter via openai SDK</a:t>
            </a:r>
            <a:endParaRPr lang="en-US" sz="1100" dirty="0"/>
          </a:p>
        </p:txBody>
      </p:sp>
      <p:sp>
        <p:nvSpPr>
          <p:cNvPr id="16" name="Shape 14"/>
          <p:cNvSpPr/>
          <p:nvPr/>
        </p:nvSpPr>
        <p:spPr>
          <a:xfrm>
            <a:off x="4315968" y="3721608"/>
            <a:ext cx="352044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7" name="Text 15"/>
          <p:cNvSpPr/>
          <p:nvPr/>
        </p:nvSpPr>
        <p:spPr>
          <a:xfrm>
            <a:off x="4572000" y="3922776"/>
            <a:ext cx="3017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Orchestration</a:t>
            </a:r>
            <a:endParaRPr lang="en-US" sz="1400" dirty="0"/>
          </a:p>
        </p:txBody>
      </p:sp>
      <p:sp>
        <p:nvSpPr>
          <p:cNvPr id="18" name="Text 16"/>
          <p:cNvSpPr/>
          <p:nvPr/>
        </p:nvSpPr>
        <p:spPr>
          <a:xfrm>
            <a:off x="4572000" y="4288536"/>
            <a:ext cx="301752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apache-airflow 2.10.5</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13-task DAG, host install</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SequentialExecutor</a:t>
            </a:r>
            <a:endParaRPr lang="en-US" sz="1100" dirty="0"/>
          </a:p>
        </p:txBody>
      </p:sp>
      <p:sp>
        <p:nvSpPr>
          <p:cNvPr id="19" name="Shape 17"/>
          <p:cNvSpPr/>
          <p:nvPr/>
        </p:nvSpPr>
        <p:spPr>
          <a:xfrm>
            <a:off x="8083296" y="3721608"/>
            <a:ext cx="352044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0" name="Text 18"/>
          <p:cNvSpPr/>
          <p:nvPr/>
        </p:nvSpPr>
        <p:spPr>
          <a:xfrm>
            <a:off x="8339328" y="3922776"/>
            <a:ext cx="3017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Discipline</a:t>
            </a:r>
            <a:endParaRPr lang="en-US" sz="1400" dirty="0"/>
          </a:p>
        </p:txBody>
      </p:sp>
      <p:sp>
        <p:nvSpPr>
          <p:cNvPr id="21" name="Text 19"/>
          <p:cNvSpPr/>
          <p:nvPr/>
        </p:nvSpPr>
        <p:spPr>
          <a:xfrm>
            <a:off x="8339328" y="4288536"/>
            <a:ext cx="301752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anti-substitution audit script</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65-check rubric self-check</a:t>
            </a:r>
            <a:endParaRPr lang="en-US" sz="1100" dirty="0"/>
          </a:p>
          <a:p>
            <a:pPr marL="342900" indent="-342900">
              <a:lnSpc>
                <a:spcPts val="1500"/>
              </a:lnSpc>
              <a:spcAft>
                <a:spcPts val="400"/>
              </a:spcAft>
              <a:buSzPct val="100000"/>
              <a:buChar char="•"/>
            </a:pPr>
            <a:r>
              <a:rPr lang="en-US" sz="1100" dirty="0">
                <a:solidFill>
                  <a:srgbClr val="3D4A44"/>
                </a:solidFill>
                <a:latin typeface="Calibri" pitchFamily="34" charset="0"/>
                <a:ea typeface="Calibri" pitchFamily="34" charset="-122"/>
                <a:cs typeface="Calibri" pitchFamily="34" charset="-120"/>
              </a:rPr>
              <a:t>48 incremental commits</a:t>
            </a:r>
            <a:endParaRPr lang="en-US" sz="1100" dirty="0"/>
          </a:p>
        </p:txBody>
      </p:sp>
      <p:sp>
        <p:nvSpPr>
          <p:cNvPr id="22" name="Text 20"/>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i="1" dirty="0">
                <a:solidFill>
                  <a:srgbClr val="6B7B74"/>
                </a:solidFill>
                <a:latin typeface="Calibri" pitchFamily="34" charset="0"/>
                <a:ea typeface="Calibri" pitchFamily="34" charset="-122"/>
                <a:cs typeface="Calibri" pitchFamily="34" charset="-120"/>
              </a:rPr>
              <a:t>The rubric states plainly that a simulation earns nothing. An audit script runs after every phase and fails the build if a queue ever stands in for Kafka, pandas for Delta, or numpy for a vector store.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DELIVERABLE 1 · INGESTION · 20 PTS</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Bad data is stopped at the door</a:t>
            </a:r>
            <a:endParaRPr lang="en-US" sz="3400" dirty="0"/>
          </a:p>
        </p:txBody>
      </p:sp>
      <p:sp>
        <p:nvSpPr>
          <p:cNvPr id="4" name="Shape 2"/>
          <p:cNvSpPr/>
          <p:nvPr/>
        </p:nvSpPr>
        <p:spPr>
          <a:xfrm>
            <a:off x="548640" y="1572768"/>
            <a:ext cx="676656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841248" y="1773936"/>
            <a:ext cx="62179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The data contract</a:t>
            </a:r>
            <a:endParaRPr lang="en-US" sz="1400" dirty="0"/>
          </a:p>
        </p:txBody>
      </p:sp>
      <p:sp>
        <p:nvSpPr>
          <p:cNvPr id="6" name="Text 4"/>
          <p:cNvSpPr/>
          <p:nvPr/>
        </p:nvSpPr>
        <p:spPr>
          <a:xfrm>
            <a:off x="841248" y="2121408"/>
            <a:ext cx="6217920" cy="1188720"/>
          </a:xfrm>
          <a:prstGeom prst="rect">
            <a:avLst/>
          </a:prstGeom>
          <a:noFill/>
          <a:ln/>
        </p:spPr>
        <p:txBody>
          <a:bodyPr wrap="square" lIns="0" tIns="0" rIns="0" bIns="0" rtlCol="0" anchor="ctr"/>
          <a:lstStyle/>
          <a:p>
            <a:pPr indent="0" marL="0">
              <a:lnSpc>
                <a:spcPts val="1800"/>
              </a:lnSpc>
              <a:buNone/>
            </a:pPr>
            <a:r>
              <a:rPr lang="en-US" sz="1250" dirty="0">
                <a:solidFill>
                  <a:srgbClr val="3D4A44"/>
                </a:solidFill>
                <a:latin typeface="Calibri" pitchFamily="34" charset="0"/>
                <a:ea typeface="Calibri" pitchFamily="34" charset="-122"/>
                <a:cs typeface="Calibri" pitchFamily="34" charset="-120"/>
              </a:rPr>
              <a:t>Every message is validated against a Pydantic v2 contract in strict mode before it is allowed into storage. Strict mode is the point: normally Python converts the text "1500" into the number 1500 without complaint. That is how corrupt data enters a warehouse wearing a valid disguise.</a:t>
            </a:r>
            <a:endParaRPr lang="en-US" sz="1250" dirty="0"/>
          </a:p>
        </p:txBody>
      </p:sp>
      <p:sp>
        <p:nvSpPr>
          <p:cNvPr id="7" name="Shape 5"/>
          <p:cNvSpPr/>
          <p:nvPr/>
        </p:nvSpPr>
        <p:spPr>
          <a:xfrm>
            <a:off x="7680960" y="1572768"/>
            <a:ext cx="3931920" cy="1965960"/>
          </a:xfrm>
          <a:prstGeom prst="roundRect">
            <a:avLst>
              <a:gd name="adj" fmla="val 4186"/>
            </a:avLst>
          </a:prstGeom>
          <a:solidFill>
            <a:srgbClr val="12513C"/>
          </a:solidFill>
          <a:ln w="12700">
            <a:solidFill>
              <a:srgbClr val="12513C"/>
            </a:solidFill>
            <a:prstDash val="solid"/>
          </a:ln>
          <a:effectLst>
            <a:outerShdw sx="100000" sy="100000" kx="0" ky="0" algn="bl" rotWithShape="0" blurRad="127000" dist="19050" dir="5400000">
              <a:srgbClr val="1A1A1A">
                <a:alpha val="10000"/>
              </a:srgbClr>
            </a:outerShdw>
          </a:effectLst>
        </p:spPr>
      </p:sp>
      <p:sp>
        <p:nvSpPr>
          <p:cNvPr id="8" name="Text 6"/>
          <p:cNvSpPr/>
          <p:nvPr/>
        </p:nvSpPr>
        <p:spPr>
          <a:xfrm>
            <a:off x="7955280" y="1773936"/>
            <a:ext cx="3383280" cy="292608"/>
          </a:xfrm>
          <a:prstGeom prst="rect">
            <a:avLst/>
          </a:prstGeom>
          <a:noFill/>
          <a:ln/>
        </p:spPr>
        <p:txBody>
          <a:bodyPr wrap="square" lIns="0" tIns="0" rIns="0" bIns="0" rtlCol="0" anchor="ctr"/>
          <a:lstStyle/>
          <a:p>
            <a:pPr indent="0" marL="0">
              <a:buNone/>
            </a:pPr>
            <a:r>
              <a:rPr lang="en-US" sz="1350" b="1" dirty="0">
                <a:solidFill>
                  <a:srgbClr val="C8A951"/>
                </a:solidFill>
                <a:latin typeface="Calibri" pitchFamily="34" charset="0"/>
                <a:ea typeface="Calibri" pitchFamily="34" charset="-122"/>
                <a:cs typeface="Calibri" pitchFamily="34" charset="-120"/>
              </a:rPr>
              <a:t>Rejections go to two places</a:t>
            </a:r>
            <a:endParaRPr lang="en-US" sz="1350" dirty="0"/>
          </a:p>
        </p:txBody>
      </p:sp>
      <p:sp>
        <p:nvSpPr>
          <p:cNvPr id="9" name="Text 7"/>
          <p:cNvSpPr/>
          <p:nvPr/>
        </p:nvSpPr>
        <p:spPr>
          <a:xfrm>
            <a:off x="7955280" y="2139696"/>
            <a:ext cx="3383280" cy="11887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dlq_* Kafka topic — so alerting can react in real time</a:t>
            </a:r>
            <a:endParaRPr lang="en-US" sz="1150" dirty="0"/>
          </a:p>
          <a:p>
            <a:pPr marL="342900" indent="-342900">
              <a:lnSpc>
                <a:spcPts val="1500"/>
              </a:lnSpc>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quarantine Delta table — so “what did we drop yesterday, by rule?” is a SQL question</a:t>
            </a:r>
            <a:endParaRPr lang="en-US" sz="1150" dirty="0"/>
          </a:p>
        </p:txBody>
      </p:sp>
      <p:sp>
        <p:nvSpPr>
          <p:cNvPr id="10" name="Text 8"/>
          <p:cNvSpPr/>
          <p:nvPr/>
        </p:nvSpPr>
        <p:spPr>
          <a:xfrm>
            <a:off x="685800" y="3794760"/>
            <a:ext cx="2743200" cy="658368"/>
          </a:xfrm>
          <a:prstGeom prst="rect">
            <a:avLst/>
          </a:prstGeom>
          <a:noFill/>
          <a:ln/>
        </p:spPr>
        <p:txBody>
          <a:bodyPr wrap="square" lIns="0" tIns="0" rIns="0" bIns="0" rtlCol="0" anchor="ctr"/>
          <a:lstStyle/>
          <a:p>
            <a:pPr algn="l" indent="0" marL="0">
              <a:buNone/>
            </a:pPr>
            <a:r>
              <a:rPr lang="en-US" sz="4000" b="1" dirty="0">
                <a:solidFill>
                  <a:srgbClr val="12513C"/>
                </a:solidFill>
                <a:latin typeface="Cambria" pitchFamily="34" charset="0"/>
                <a:ea typeface="Cambria" pitchFamily="34" charset="-122"/>
                <a:cs typeface="Cambria" pitchFamily="34" charset="-120"/>
              </a:rPr>
              <a:t>200,000</a:t>
            </a:r>
            <a:endParaRPr lang="en-US" sz="4000" dirty="0"/>
          </a:p>
        </p:txBody>
      </p:sp>
      <p:sp>
        <p:nvSpPr>
          <p:cNvPr id="11" name="Text 9"/>
          <p:cNvSpPr/>
          <p:nvPr/>
        </p:nvSpPr>
        <p:spPr>
          <a:xfrm>
            <a:off x="685800" y="4453128"/>
            <a:ext cx="2743200" cy="420624"/>
          </a:xfrm>
          <a:prstGeom prst="rect">
            <a:avLst/>
          </a:prstGeom>
          <a:noFill/>
          <a:ln/>
        </p:spPr>
        <p:txBody>
          <a:bodyPr wrap="square" lIns="0" tIns="0" rIns="0" bIns="0" rtlCol="0" anchor="ctr"/>
          <a:lstStyle/>
          <a:p>
            <a:pPr algn="l" indent="0" marL="0">
              <a:buNone/>
            </a:pPr>
            <a:r>
              <a:rPr lang="en-US" sz="1150" dirty="0">
                <a:solidFill>
                  <a:srgbClr val="6B7B74"/>
                </a:solidFill>
                <a:latin typeface="Calibri" pitchFamily="34" charset="0"/>
                <a:ea typeface="Calibri" pitchFamily="34" charset="-122"/>
                <a:cs typeface="Calibri" pitchFamily="34" charset="-120"/>
              </a:rPr>
              <a:t>events produced across 7 simulated days</a:t>
            </a:r>
            <a:endParaRPr lang="en-US" sz="1150" dirty="0"/>
          </a:p>
        </p:txBody>
      </p:sp>
      <p:sp>
        <p:nvSpPr>
          <p:cNvPr id="12" name="Text 10"/>
          <p:cNvSpPr/>
          <p:nvPr/>
        </p:nvSpPr>
        <p:spPr>
          <a:xfrm>
            <a:off x="3566160" y="3794760"/>
            <a:ext cx="2743200" cy="658368"/>
          </a:xfrm>
          <a:prstGeom prst="rect">
            <a:avLst/>
          </a:prstGeom>
          <a:noFill/>
          <a:ln/>
        </p:spPr>
        <p:txBody>
          <a:bodyPr wrap="square" lIns="0" tIns="0" rIns="0" bIns="0" rtlCol="0" anchor="ctr"/>
          <a:lstStyle/>
          <a:p>
            <a:pPr algn="l" indent="0" marL="0">
              <a:buNone/>
            </a:pPr>
            <a:r>
              <a:rPr lang="en-US" sz="4000" b="1" dirty="0">
                <a:solidFill>
                  <a:srgbClr val="2E7D5B"/>
                </a:solidFill>
                <a:latin typeface="Cambria" pitchFamily="34" charset="0"/>
                <a:ea typeface="Cambria" pitchFamily="34" charset="-122"/>
                <a:cs typeface="Cambria" pitchFamily="34" charset="-120"/>
              </a:rPr>
              <a:t>185,843</a:t>
            </a:r>
            <a:endParaRPr lang="en-US" sz="4000" dirty="0"/>
          </a:p>
        </p:txBody>
      </p:sp>
      <p:sp>
        <p:nvSpPr>
          <p:cNvPr id="13" name="Text 11"/>
          <p:cNvSpPr/>
          <p:nvPr/>
        </p:nvSpPr>
        <p:spPr>
          <a:xfrm>
            <a:off x="3566160" y="4453128"/>
            <a:ext cx="2743200" cy="420624"/>
          </a:xfrm>
          <a:prstGeom prst="rect">
            <a:avLst/>
          </a:prstGeom>
          <a:noFill/>
          <a:ln/>
        </p:spPr>
        <p:txBody>
          <a:bodyPr wrap="square" lIns="0" tIns="0" rIns="0" bIns="0" rtlCol="0" anchor="ctr"/>
          <a:lstStyle/>
          <a:p>
            <a:pPr algn="l" indent="0" marL="0">
              <a:buNone/>
            </a:pPr>
            <a:r>
              <a:rPr lang="en-US" sz="1150" dirty="0">
                <a:solidFill>
                  <a:srgbClr val="6B7B74"/>
                </a:solidFill>
                <a:latin typeface="Calibri" pitchFamily="34" charset="0"/>
                <a:ea typeface="Calibri" pitchFamily="34" charset="-122"/>
                <a:cs typeface="Calibri" pitchFamily="34" charset="-120"/>
              </a:rPr>
              <a:t>accepted into bronze</a:t>
            </a:r>
            <a:endParaRPr lang="en-US" sz="1150" dirty="0"/>
          </a:p>
        </p:txBody>
      </p:sp>
      <p:sp>
        <p:nvSpPr>
          <p:cNvPr id="14" name="Text 12"/>
          <p:cNvSpPr/>
          <p:nvPr/>
        </p:nvSpPr>
        <p:spPr>
          <a:xfrm>
            <a:off x="6400800" y="3794760"/>
            <a:ext cx="2743200" cy="658368"/>
          </a:xfrm>
          <a:prstGeom prst="rect">
            <a:avLst/>
          </a:prstGeom>
          <a:noFill/>
          <a:ln/>
        </p:spPr>
        <p:txBody>
          <a:bodyPr wrap="square" lIns="0" tIns="0" rIns="0" bIns="0" rtlCol="0" anchor="ctr"/>
          <a:lstStyle/>
          <a:p>
            <a:pPr algn="l" indent="0" marL="0">
              <a:buNone/>
            </a:pPr>
            <a:r>
              <a:rPr lang="en-US" sz="4000" b="1" dirty="0">
                <a:solidFill>
                  <a:srgbClr val="B4453C"/>
                </a:solidFill>
                <a:latin typeface="Cambria" pitchFamily="34" charset="0"/>
                <a:ea typeface="Cambria" pitchFamily="34" charset="-122"/>
                <a:cs typeface="Cambria" pitchFamily="34" charset="-120"/>
              </a:rPr>
              <a:t>14,157</a:t>
            </a:r>
            <a:endParaRPr lang="en-US" sz="4000" dirty="0"/>
          </a:p>
        </p:txBody>
      </p:sp>
      <p:sp>
        <p:nvSpPr>
          <p:cNvPr id="15" name="Text 13"/>
          <p:cNvSpPr/>
          <p:nvPr/>
        </p:nvSpPr>
        <p:spPr>
          <a:xfrm>
            <a:off x="6400800" y="4453128"/>
            <a:ext cx="2743200" cy="420624"/>
          </a:xfrm>
          <a:prstGeom prst="rect">
            <a:avLst/>
          </a:prstGeom>
          <a:noFill/>
          <a:ln/>
        </p:spPr>
        <p:txBody>
          <a:bodyPr wrap="square" lIns="0" tIns="0" rIns="0" bIns="0" rtlCol="0" anchor="ctr"/>
          <a:lstStyle/>
          <a:p>
            <a:pPr algn="l" indent="0" marL="0">
              <a:buNone/>
            </a:pPr>
            <a:r>
              <a:rPr lang="en-US" sz="1150" dirty="0">
                <a:solidFill>
                  <a:srgbClr val="6B7B74"/>
                </a:solidFill>
                <a:latin typeface="Calibri" pitchFamily="34" charset="0"/>
                <a:ea typeface="Calibri" pitchFamily="34" charset="-122"/>
                <a:cs typeface="Calibri" pitchFamily="34" charset="-120"/>
              </a:rPr>
              <a:t>rejected with a reason</a:t>
            </a:r>
            <a:endParaRPr lang="en-US" sz="1150" dirty="0"/>
          </a:p>
        </p:txBody>
      </p:sp>
      <p:sp>
        <p:nvSpPr>
          <p:cNvPr id="16" name="Text 14"/>
          <p:cNvSpPr/>
          <p:nvPr/>
        </p:nvSpPr>
        <p:spPr>
          <a:xfrm>
            <a:off x="9235440" y="3794760"/>
            <a:ext cx="2377440" cy="658368"/>
          </a:xfrm>
          <a:prstGeom prst="rect">
            <a:avLst/>
          </a:prstGeom>
          <a:noFill/>
          <a:ln/>
        </p:spPr>
        <p:txBody>
          <a:bodyPr wrap="square" lIns="0" tIns="0" rIns="0" bIns="0" rtlCol="0" anchor="ctr"/>
          <a:lstStyle/>
          <a:p>
            <a:pPr algn="l" indent="0" marL="0">
              <a:buNone/>
            </a:pPr>
            <a:r>
              <a:rPr lang="en-US" sz="4000" b="1" dirty="0">
                <a:solidFill>
                  <a:srgbClr val="12513C"/>
                </a:solidFill>
                <a:latin typeface="Cambria" pitchFamily="34" charset="0"/>
                <a:ea typeface="Cambria" pitchFamily="34" charset="-122"/>
                <a:cs typeface="Cambria" pitchFamily="34" charset="-120"/>
              </a:rPr>
              <a:t>10</a:t>
            </a:r>
            <a:endParaRPr lang="en-US" sz="4000" dirty="0"/>
          </a:p>
        </p:txBody>
      </p:sp>
      <p:sp>
        <p:nvSpPr>
          <p:cNvPr id="17" name="Text 15"/>
          <p:cNvSpPr/>
          <p:nvPr/>
        </p:nvSpPr>
        <p:spPr>
          <a:xfrm>
            <a:off x="9235440" y="4453128"/>
            <a:ext cx="2377440" cy="420624"/>
          </a:xfrm>
          <a:prstGeom prst="rect">
            <a:avLst/>
          </a:prstGeom>
          <a:noFill/>
          <a:ln/>
        </p:spPr>
        <p:txBody>
          <a:bodyPr wrap="square" lIns="0" tIns="0" rIns="0" bIns="0" rtlCol="0" anchor="ctr"/>
          <a:lstStyle/>
          <a:p>
            <a:pPr algn="l" indent="0" marL="0">
              <a:buNone/>
            </a:pPr>
            <a:r>
              <a:rPr lang="en-US" sz="1150" dirty="0">
                <a:solidFill>
                  <a:srgbClr val="6B7B74"/>
                </a:solidFill>
                <a:latin typeface="Calibri" pitchFamily="34" charset="0"/>
                <a:ea typeface="Calibri" pitchFamily="34" charset="-122"/>
                <a:cs typeface="Calibri" pitchFamily="34" charset="-120"/>
              </a:rPr>
              <a:t>corruption types per stream</a:t>
            </a:r>
            <a:endParaRPr lang="en-US" sz="1150" dirty="0"/>
          </a:p>
        </p:txBody>
      </p:sp>
      <p:sp>
        <p:nvSpPr>
          <p:cNvPr id="18" name="Shape 16"/>
          <p:cNvSpPr/>
          <p:nvPr/>
        </p:nvSpPr>
        <p:spPr>
          <a:xfrm>
            <a:off x="548640" y="5029200"/>
            <a:ext cx="11064240" cy="1051560"/>
          </a:xfrm>
          <a:prstGeom prst="roundRect">
            <a:avLst>
              <a:gd name="adj" fmla="val 7826"/>
            </a:avLst>
          </a:prstGeom>
          <a:solidFill>
            <a:srgbClr val="FBF3E0"/>
          </a:solidFill>
          <a:ln w="12700">
            <a:solidFill>
              <a:srgbClr val="FBF3E0"/>
            </a:solidFill>
            <a:prstDash val="solid"/>
          </a:ln>
          <a:effectLst>
            <a:outerShdw sx="100000" sy="100000" kx="0" ky="0" algn="bl" rotWithShape="0" blurRad="127000" dist="19050" dir="5400000">
              <a:srgbClr val="1A1A1A">
                <a:alpha val="10000"/>
              </a:srgbClr>
            </a:outerShdw>
          </a:effectLst>
        </p:spPr>
      </p:sp>
      <p:sp>
        <p:nvSpPr>
          <p:cNvPr id="19" name="Text 17"/>
          <p:cNvSpPr/>
          <p:nvPr/>
        </p:nvSpPr>
        <p:spPr>
          <a:xfrm>
            <a:off x="841248" y="5175504"/>
            <a:ext cx="2926080" cy="256032"/>
          </a:xfrm>
          <a:prstGeom prst="rect">
            <a:avLst/>
          </a:prstGeom>
          <a:noFill/>
          <a:ln/>
        </p:spPr>
        <p:txBody>
          <a:bodyPr wrap="square" lIns="0" tIns="0" rIns="0" bIns="0" rtlCol="0" anchor="ctr"/>
          <a:lstStyle/>
          <a:p>
            <a:pPr indent="0" marL="0">
              <a:buNone/>
            </a:pPr>
            <a:r>
              <a:rPr lang="en-US" sz="1200" b="1" dirty="0">
                <a:solidFill>
                  <a:srgbClr val="8A6D1F"/>
                </a:solidFill>
                <a:latin typeface="Calibri" pitchFamily="34" charset="0"/>
                <a:ea typeface="Calibri" pitchFamily="34" charset="-122"/>
                <a:cs typeface="Calibri" pitchFamily="34" charset="-120"/>
              </a:rPr>
              <a:t>The headline rejection</a:t>
            </a:r>
            <a:endParaRPr lang="en-US" sz="1200" dirty="0"/>
          </a:p>
        </p:txBody>
      </p:sp>
      <p:sp>
        <p:nvSpPr>
          <p:cNvPr id="20" name="Text 18"/>
          <p:cNvSpPr/>
          <p:nvPr/>
        </p:nvSpPr>
        <p:spPr>
          <a:xfrm>
            <a:off x="841248" y="5468112"/>
            <a:ext cx="10515600" cy="292608"/>
          </a:xfrm>
          <a:prstGeom prst="rect">
            <a:avLst/>
          </a:prstGeom>
          <a:noFill/>
          <a:ln/>
        </p:spPr>
        <p:txBody>
          <a:bodyPr wrap="square" lIns="0" tIns="0" rIns="0" bIns="0" rtlCol="0" anchor="ctr"/>
          <a:lstStyle/>
          <a:p>
            <a:pPr indent="0" marL="0">
              <a:buNone/>
            </a:pPr>
            <a:r>
              <a:rPr lang="en-US" sz="1250" dirty="0">
                <a:solidFill>
                  <a:srgbClr val="0A2E24"/>
                </a:solidFill>
                <a:latin typeface="Courier New" pitchFamily="34" charset="0"/>
                <a:ea typeface="Courier New" pitchFamily="34" charset="-122"/>
                <a:cs typeface="Courier New" pitchFamily="34" charset="-120"/>
              </a:rPr>
              <a:t>entries: Input should be a valid integer        ·        rule: int_type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DELIVERABLE 1 · EVIDENCE</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Ten injected faults, eight distinct rules</a:t>
            </a:r>
            <a:endParaRPr lang="en-US" sz="3400" dirty="0"/>
          </a:p>
        </p:txBody>
      </p:sp>
      <p:graphicFrame>
        <p:nvGraphicFramePr>
          <p:cNvPr id="4" name="Chart 0" descr=""/>
          <p:cNvGraphicFramePr/>
          <p:nvPr/>
        </p:nvGraphicFramePr>
        <p:xfrm>
          <a:off x="54864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600200"/>
            <a:ext cx="3840480" cy="4206240"/>
          </a:xfrm>
          <a:prstGeom prst="roundRect">
            <a:avLst>
              <a:gd name="adj" fmla="val 2143"/>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6" name="Text 3"/>
          <p:cNvSpPr/>
          <p:nvPr/>
        </p:nvSpPr>
        <p:spPr>
          <a:xfrm>
            <a:off x="8065008" y="1810512"/>
            <a:ext cx="329184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Why this matters</a:t>
            </a:r>
            <a:endParaRPr lang="en-US" sz="1400" dirty="0"/>
          </a:p>
        </p:txBody>
      </p:sp>
      <p:sp>
        <p:nvSpPr>
          <p:cNvPr id="7" name="Text 4"/>
          <p:cNvSpPr/>
          <p:nvPr/>
        </p:nvSpPr>
        <p:spPr>
          <a:xfrm>
            <a:off x="8065008" y="2212848"/>
            <a:ext cx="3291840" cy="3383280"/>
          </a:xfrm>
          <a:prstGeom prst="rect">
            <a:avLst/>
          </a:prstGeom>
          <a:noFill/>
          <a:ln/>
        </p:spPr>
        <p:txBody>
          <a:bodyPr wrap="square" lIns="0" tIns="0" rIns="0" bIns="0" rtlCol="0" anchor="ctr"/>
          <a:lstStyle/>
          <a:p>
            <a:pPr indent="0" marL="0">
              <a:lnSpc>
                <a:spcPts val="1800"/>
              </a:lnSpc>
              <a:buNone/>
            </a:pPr>
            <a:r>
              <a:rPr lang="en-US" sz="1200" dirty="0">
                <a:solidFill>
                  <a:srgbClr val="3D4A44"/>
                </a:solidFill>
                <a:latin typeface="Calibri" pitchFamily="34" charset="0"/>
                <a:ea typeface="Calibri" pitchFamily="34" charset="-122"/>
                <a:cs typeface="Calibri" pitchFamily="34" charset="-120"/>
              </a:rPr>
              <a:t>Ten corruption types are injected per stream. They collapse to eight distinct rule identifiers, because several different faults violate the same rule — an unknown zone code and an impossible occupancy figure both fail as a cross-field value error, which is why that bar dominates.</a:t>
            </a:r>
            <a:endParaRPr lang="en-US" sz="1200" dirty="0"/>
          </a:p>
          <a:p>
            <a:pPr indent="0" marL="0">
              <a:lnSpc>
                <a:spcPts val="1800"/>
              </a:lnSpc>
              <a:buNone/>
            </a:pPr>
            <a:endParaRPr lang="en-US" sz="1200" dirty="0"/>
          </a:p>
          <a:p>
            <a:pPr indent="0" marL="0">
              <a:lnSpc>
                <a:spcPts val="1800"/>
              </a:lnSpc>
              <a:buNone/>
            </a:pPr>
            <a:r>
              <a:rPr lang="en-US" sz="1200" dirty="0">
                <a:solidFill>
                  <a:srgbClr val="3D4A44"/>
                </a:solidFill>
                <a:latin typeface="Calibri" pitchFamily="34" charset="0"/>
                <a:ea typeface="Calibri" pitchFamily="34" charset="-122"/>
                <a:cs typeface="Calibri" pitchFamily="34" charset="-120"/>
              </a:rPr>
              <a:t>Every rejected record carries a machine-readable rule identifier and a human-readable reason, plus the exact Kafka partition and offset it came from — so it can be found again on the broker.</a:t>
            </a:r>
            <a:endParaRPr lang="en-US" sz="1200" dirty="0"/>
          </a:p>
          <a:p>
            <a:pPr indent="0" marL="0">
              <a:lnSpc>
                <a:spcPts val="1800"/>
              </a:lnSpc>
              <a:buNone/>
            </a:pPr>
            <a:endParaRPr lang="en-US" sz="1200" dirty="0"/>
          </a:p>
          <a:p>
            <a:pPr indent="0" marL="0">
              <a:lnSpc>
                <a:spcPts val="1800"/>
              </a:lnSpc>
              <a:buNone/>
            </a:pPr>
            <a:r>
              <a:rPr lang="en-US" sz="1200" dirty="0">
                <a:solidFill>
                  <a:srgbClr val="3D4A44"/>
                </a:solidFill>
                <a:latin typeface="Calibri" pitchFamily="34" charset="0"/>
                <a:ea typeface="Calibri" pitchFamily="34" charset="-122"/>
                <a:cs typeface="Calibri" pitchFamily="34" charset="-120"/>
              </a:rPr>
              <a:t>A dead-letter queue without the reason is just a second copy of the corrupt data.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DELIVERABLE 2 · DELTA LAKEHOUSE · 25 PTS</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Three layers, and a real upsert</a:t>
            </a:r>
            <a:endParaRPr lang="en-US" sz="3400" dirty="0"/>
          </a:p>
        </p:txBody>
      </p:sp>
      <p:sp>
        <p:nvSpPr>
          <p:cNvPr id="4" name="Shape 2"/>
          <p:cNvSpPr/>
          <p:nvPr/>
        </p:nvSpPr>
        <p:spPr>
          <a:xfrm>
            <a:off x="548640" y="1572768"/>
            <a:ext cx="3566160"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822960" y="1773936"/>
            <a:ext cx="3017520" cy="310896"/>
          </a:xfrm>
          <a:prstGeom prst="rect">
            <a:avLst/>
          </a:prstGeom>
          <a:noFill/>
          <a:ln/>
        </p:spPr>
        <p:txBody>
          <a:bodyPr wrap="square" lIns="0" tIns="0" rIns="0" bIns="0" rtlCol="0" anchor="ctr"/>
          <a:lstStyle/>
          <a:p>
            <a:pPr indent="0" marL="0">
              <a:buNone/>
            </a:pPr>
            <a:r>
              <a:rPr lang="en-US" sz="1900" b="1" dirty="0">
                <a:solidFill>
                  <a:srgbClr val="12513C"/>
                </a:solidFill>
                <a:latin typeface="Cambria" pitchFamily="34" charset="0"/>
                <a:ea typeface="Cambria" pitchFamily="34" charset="-122"/>
                <a:cs typeface="Cambria" pitchFamily="34" charset="-120"/>
              </a:rPr>
              <a:t>BRONZE</a:t>
            </a:r>
            <a:endParaRPr lang="en-US" sz="1900" dirty="0"/>
          </a:p>
        </p:txBody>
      </p:sp>
      <p:sp>
        <p:nvSpPr>
          <p:cNvPr id="6" name="Text 4"/>
          <p:cNvSpPr/>
          <p:nvPr/>
        </p:nvSpPr>
        <p:spPr>
          <a:xfrm>
            <a:off x="822960" y="2176272"/>
            <a:ext cx="3017520" cy="1051560"/>
          </a:xfrm>
          <a:prstGeom prst="rect">
            <a:avLst/>
          </a:prstGeom>
          <a:noFill/>
          <a:ln/>
        </p:spPr>
        <p:txBody>
          <a:bodyPr wrap="square" lIns="0" tIns="0" rIns="0" bIns="0" rtlCol="0" anchor="ctr"/>
          <a:lstStyle/>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Raw, exactly as received, never edited. Carries the Kafka topic, partition and offset that produced each row.</a:t>
            </a:r>
            <a:endParaRPr lang="en-US" sz="1150" dirty="0"/>
          </a:p>
        </p:txBody>
      </p:sp>
      <p:sp>
        <p:nvSpPr>
          <p:cNvPr id="7" name="Text 5"/>
          <p:cNvSpPr/>
          <p:nvPr/>
        </p:nvSpPr>
        <p:spPr>
          <a:xfrm>
            <a:off x="822960" y="3200400"/>
            <a:ext cx="3017520" cy="548640"/>
          </a:xfrm>
          <a:prstGeom prst="rect">
            <a:avLst/>
          </a:prstGeom>
          <a:noFill/>
          <a:ln/>
        </p:spPr>
        <p:txBody>
          <a:bodyPr wrap="square" lIns="0" tIns="0" rIns="0" bIns="0" rtlCol="0" anchor="ctr"/>
          <a:lstStyle/>
          <a:p>
            <a:pPr indent="0" marL="0">
              <a:lnSpc>
                <a:spcPts val="1600"/>
              </a:lnSpc>
              <a:buNone/>
            </a:pPr>
            <a:r>
              <a:rPr lang="en-US" sz="1200" b="1" dirty="0">
                <a:solidFill>
                  <a:srgbClr val="2E7D5B"/>
                </a:solidFill>
                <a:latin typeface="Calibri" pitchFamily="34" charset="0"/>
                <a:ea typeface="Calibri" pitchFamily="34" charset="-122"/>
                <a:cs typeface="Calibri" pitchFamily="34" charset="-120"/>
              </a:rPr>
              <a:t>185,843 readings</a:t>
            </a:r>
            <a:endParaRPr lang="en-US" sz="1200" dirty="0"/>
          </a:p>
          <a:p>
            <a:pPr indent="0" marL="0">
              <a:lnSpc>
                <a:spcPts val="1600"/>
              </a:lnSpc>
              <a:buNone/>
            </a:pPr>
            <a:r>
              <a:rPr lang="en-US" sz="1200" b="1" dirty="0">
                <a:solidFill>
                  <a:srgbClr val="2E7D5B"/>
                </a:solidFill>
                <a:latin typeface="Calibri" pitchFamily="34" charset="0"/>
                <a:ea typeface="Calibri" pitchFamily="34" charset="-122"/>
                <a:cs typeface="Calibri" pitchFamily="34" charset="-120"/>
              </a:rPr>
              <a:t>11,054 request events</a:t>
            </a:r>
            <a:endParaRPr lang="en-US" sz="1200" dirty="0"/>
          </a:p>
        </p:txBody>
      </p:sp>
      <p:sp>
        <p:nvSpPr>
          <p:cNvPr id="8" name="Shape 6"/>
          <p:cNvSpPr/>
          <p:nvPr/>
        </p:nvSpPr>
        <p:spPr>
          <a:xfrm>
            <a:off x="4306824" y="1572768"/>
            <a:ext cx="3566160"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9" name="Text 7"/>
          <p:cNvSpPr/>
          <p:nvPr/>
        </p:nvSpPr>
        <p:spPr>
          <a:xfrm>
            <a:off x="4581144" y="1773936"/>
            <a:ext cx="3017520" cy="310896"/>
          </a:xfrm>
          <a:prstGeom prst="rect">
            <a:avLst/>
          </a:prstGeom>
          <a:noFill/>
          <a:ln/>
        </p:spPr>
        <p:txBody>
          <a:bodyPr wrap="square" lIns="0" tIns="0" rIns="0" bIns="0" rtlCol="0" anchor="ctr"/>
          <a:lstStyle/>
          <a:p>
            <a:pPr indent="0" marL="0">
              <a:buNone/>
            </a:pPr>
            <a:r>
              <a:rPr lang="en-US" sz="1900" b="1" dirty="0">
                <a:solidFill>
                  <a:srgbClr val="12513C"/>
                </a:solidFill>
                <a:latin typeface="Cambria" pitchFamily="34" charset="0"/>
                <a:ea typeface="Cambria" pitchFamily="34" charset="-122"/>
                <a:cs typeface="Cambria" pitchFamily="34" charset="-120"/>
              </a:rPr>
              <a:t>SILVER</a:t>
            </a:r>
            <a:endParaRPr lang="en-US" sz="1900" dirty="0"/>
          </a:p>
        </p:txBody>
      </p:sp>
      <p:sp>
        <p:nvSpPr>
          <p:cNvPr id="10" name="Text 8"/>
          <p:cNvSpPr/>
          <p:nvPr/>
        </p:nvSpPr>
        <p:spPr>
          <a:xfrm>
            <a:off x="4581144" y="2176272"/>
            <a:ext cx="3017520" cy="1051560"/>
          </a:xfrm>
          <a:prstGeom prst="rect">
            <a:avLst/>
          </a:prstGeom>
          <a:noFill/>
          <a:ln/>
        </p:spPr>
        <p:txBody>
          <a:bodyPr wrap="square" lIns="0" tIns="0" rIns="0" bIns="0" rtlCol="0" anchor="ctr"/>
          <a:lstStyle/>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Deduplicated, joined to reference data, PII hashed. Service requests collapsed by MERGE to current state.</a:t>
            </a:r>
            <a:endParaRPr lang="en-US" sz="1150" dirty="0"/>
          </a:p>
        </p:txBody>
      </p:sp>
      <p:sp>
        <p:nvSpPr>
          <p:cNvPr id="11" name="Text 9"/>
          <p:cNvSpPr/>
          <p:nvPr/>
        </p:nvSpPr>
        <p:spPr>
          <a:xfrm>
            <a:off x="4581144" y="3200400"/>
            <a:ext cx="3017520" cy="548640"/>
          </a:xfrm>
          <a:prstGeom prst="rect">
            <a:avLst/>
          </a:prstGeom>
          <a:noFill/>
          <a:ln/>
        </p:spPr>
        <p:txBody>
          <a:bodyPr wrap="square" lIns="0" tIns="0" rIns="0" bIns="0" rtlCol="0" anchor="ctr"/>
          <a:lstStyle/>
          <a:p>
            <a:pPr indent="0" marL="0">
              <a:lnSpc>
                <a:spcPts val="1600"/>
              </a:lnSpc>
              <a:buNone/>
            </a:pPr>
            <a:r>
              <a:rPr lang="en-US" sz="1200" b="1" dirty="0">
                <a:solidFill>
                  <a:srgbClr val="2E7D5B"/>
                </a:solidFill>
                <a:latin typeface="Calibri" pitchFamily="34" charset="0"/>
                <a:ea typeface="Calibri" pitchFamily="34" charset="-122"/>
                <a:cs typeface="Calibri" pitchFamily="34" charset="-120"/>
              </a:rPr>
              <a:t>185,843 readings</a:t>
            </a:r>
            <a:endParaRPr lang="en-US" sz="1200" dirty="0"/>
          </a:p>
          <a:p>
            <a:pPr indent="0" marL="0">
              <a:lnSpc>
                <a:spcPts val="1600"/>
              </a:lnSpc>
              <a:buNone/>
            </a:pPr>
            <a:r>
              <a:rPr lang="en-US" sz="1200" b="1" dirty="0">
                <a:solidFill>
                  <a:srgbClr val="2E7D5B"/>
                </a:solidFill>
                <a:latin typeface="Calibri" pitchFamily="34" charset="0"/>
                <a:ea typeface="Calibri" pitchFamily="34" charset="-122"/>
                <a:cs typeface="Calibri" pitchFamily="34" charset="-120"/>
              </a:rPr>
              <a:t>2,500 requests</a:t>
            </a:r>
            <a:endParaRPr lang="en-US" sz="1200" dirty="0"/>
          </a:p>
        </p:txBody>
      </p:sp>
      <p:sp>
        <p:nvSpPr>
          <p:cNvPr id="12" name="Shape 10"/>
          <p:cNvSpPr/>
          <p:nvPr/>
        </p:nvSpPr>
        <p:spPr>
          <a:xfrm>
            <a:off x="8065008" y="1572768"/>
            <a:ext cx="3566160" cy="2286000"/>
          </a:xfrm>
          <a:prstGeom prst="roundRect">
            <a:avLst>
              <a:gd name="adj" fmla="val 3600"/>
            </a:avLst>
          </a:prstGeom>
          <a:solidFill>
            <a:srgbClr val="12513C"/>
          </a:solidFill>
          <a:ln w="12700">
            <a:solidFill>
              <a:srgbClr val="12513C"/>
            </a:solidFill>
            <a:prstDash val="solid"/>
          </a:ln>
          <a:effectLst>
            <a:outerShdw sx="100000" sy="100000" kx="0" ky="0" algn="bl" rotWithShape="0" blurRad="127000" dist="19050" dir="5400000">
              <a:srgbClr val="1A1A1A">
                <a:alpha val="10000"/>
              </a:srgbClr>
            </a:outerShdw>
          </a:effectLst>
        </p:spPr>
      </p:sp>
      <p:sp>
        <p:nvSpPr>
          <p:cNvPr id="13" name="Text 11"/>
          <p:cNvSpPr/>
          <p:nvPr/>
        </p:nvSpPr>
        <p:spPr>
          <a:xfrm>
            <a:off x="8339328" y="1773936"/>
            <a:ext cx="3017520" cy="310896"/>
          </a:xfrm>
          <a:prstGeom prst="rect">
            <a:avLst/>
          </a:prstGeom>
          <a:noFill/>
          <a:ln/>
        </p:spPr>
        <p:txBody>
          <a:bodyPr wrap="square" lIns="0" tIns="0" rIns="0" bIns="0" rtlCol="0" anchor="ctr"/>
          <a:lstStyle/>
          <a:p>
            <a:pPr indent="0" marL="0">
              <a:buNone/>
            </a:pPr>
            <a:r>
              <a:rPr lang="en-US" sz="1900" b="1" dirty="0">
                <a:solidFill>
                  <a:srgbClr val="C8A951"/>
                </a:solidFill>
                <a:latin typeface="Cambria" pitchFamily="34" charset="0"/>
                <a:ea typeface="Cambria" pitchFamily="34" charset="-122"/>
                <a:cs typeface="Cambria" pitchFamily="34" charset="-120"/>
              </a:rPr>
              <a:t>GOLD</a:t>
            </a:r>
            <a:endParaRPr lang="en-US" sz="1900" dirty="0"/>
          </a:p>
        </p:txBody>
      </p:sp>
      <p:sp>
        <p:nvSpPr>
          <p:cNvPr id="14" name="Text 12"/>
          <p:cNvSpPr/>
          <p:nvPr/>
        </p:nvSpPr>
        <p:spPr>
          <a:xfrm>
            <a:off x="8339328" y="2176272"/>
            <a:ext cx="3017520" cy="1051560"/>
          </a:xfrm>
          <a:prstGeom prst="rect">
            <a:avLst/>
          </a:prstGeom>
          <a:noFill/>
          <a:ln/>
        </p:spPr>
        <p:txBody>
          <a:bodyPr wrap="square" lIns="0" tIns="0" rIns="0" bIns="0" rtlCol="0" anchor="ctr"/>
          <a:lstStyle/>
          <a:p>
            <a:pPr indent="0" marL="0">
              <a:lnSpc>
                <a:spcPts val="1600"/>
              </a:lnSpc>
              <a:buNone/>
            </a:pPr>
            <a:r>
              <a:rPr lang="en-US" sz="1150" dirty="0">
                <a:solidFill>
                  <a:srgbClr val="CFE3D8"/>
                </a:solidFill>
                <a:latin typeface="Calibri" pitchFamily="34" charset="0"/>
                <a:ea typeface="Calibri" pitchFamily="34" charset="-122"/>
                <a:cs typeface="Calibri" pitchFamily="34" charset="-120"/>
              </a:rPr>
              <a:t>Aggregated by GROUP BY into one row per zone per hour, with metrics that exist nowhere upstream.</a:t>
            </a:r>
            <a:endParaRPr lang="en-US" sz="1150" dirty="0"/>
          </a:p>
        </p:txBody>
      </p:sp>
      <p:sp>
        <p:nvSpPr>
          <p:cNvPr id="15" name="Text 13"/>
          <p:cNvSpPr/>
          <p:nvPr/>
        </p:nvSpPr>
        <p:spPr>
          <a:xfrm>
            <a:off x="8339328" y="3200400"/>
            <a:ext cx="3017520" cy="548640"/>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Calibri" pitchFamily="34" charset="0"/>
                <a:ea typeface="Calibri" pitchFamily="34" charset="-122"/>
                <a:cs typeface="Calibri" pitchFamily="34" charset="-120"/>
              </a:rPr>
              <a:t>2,688 zone-hours</a:t>
            </a:r>
            <a:endParaRPr lang="en-US" sz="1200" dirty="0"/>
          </a:p>
        </p:txBody>
      </p:sp>
      <p:sp>
        <p:nvSpPr>
          <p:cNvPr id="16" name="Shape 14"/>
          <p:cNvSpPr/>
          <p:nvPr/>
        </p:nvSpPr>
        <p:spPr>
          <a:xfrm>
            <a:off x="548640" y="4041648"/>
            <a:ext cx="5486400" cy="2011680"/>
          </a:xfrm>
          <a:prstGeom prst="roundRect">
            <a:avLst>
              <a:gd name="adj" fmla="val 4091"/>
            </a:avLst>
          </a:prstGeom>
          <a:solidFill>
            <a:srgbClr val="FBF3E0"/>
          </a:solidFill>
          <a:ln w="12700">
            <a:solidFill>
              <a:srgbClr val="FBF3E0"/>
            </a:solidFill>
            <a:prstDash val="solid"/>
          </a:ln>
          <a:effectLst>
            <a:outerShdw sx="100000" sy="100000" kx="0" ky="0" algn="bl" rotWithShape="0" blurRad="127000" dist="19050" dir="5400000">
              <a:srgbClr val="1A1A1A">
                <a:alpha val="10000"/>
              </a:srgbClr>
            </a:outerShdw>
          </a:effectLst>
        </p:spPr>
      </p:sp>
      <p:sp>
        <p:nvSpPr>
          <p:cNvPr id="17" name="Text 15"/>
          <p:cNvSpPr/>
          <p:nvPr/>
        </p:nvSpPr>
        <p:spPr>
          <a:xfrm>
            <a:off x="841248" y="4224528"/>
            <a:ext cx="4937760" cy="274320"/>
          </a:xfrm>
          <a:prstGeom prst="rect">
            <a:avLst/>
          </a:prstGeom>
          <a:noFill/>
          <a:ln/>
        </p:spPr>
        <p:txBody>
          <a:bodyPr wrap="square" lIns="0" tIns="0" rIns="0" bIns="0" rtlCol="0" anchor="ctr"/>
          <a:lstStyle/>
          <a:p>
            <a:pPr indent="0" marL="0">
              <a:buNone/>
            </a:pPr>
            <a:r>
              <a:rPr lang="en-US" sz="1350" b="1" dirty="0">
                <a:solidFill>
                  <a:srgbClr val="8A6D1F"/>
                </a:solidFill>
                <a:latin typeface="Calibri" pitchFamily="34" charset="0"/>
                <a:ea typeface="Calibri" pitchFamily="34" charset="-122"/>
                <a:cs typeface="Calibri" pitchFamily="34" charset="-120"/>
              </a:rPr>
              <a:t>The MERGE — an upsert on a business key</a:t>
            </a:r>
            <a:endParaRPr lang="en-US" sz="1350" dirty="0"/>
          </a:p>
        </p:txBody>
      </p:sp>
      <p:sp>
        <p:nvSpPr>
          <p:cNvPr id="18" name="Text 16"/>
          <p:cNvSpPr/>
          <p:nvPr/>
        </p:nvSpPr>
        <p:spPr>
          <a:xfrm>
            <a:off x="841248" y="4572000"/>
            <a:ext cx="4937760" cy="640080"/>
          </a:xfrm>
          <a:prstGeom prst="rect">
            <a:avLst/>
          </a:prstGeom>
          <a:noFill/>
          <a:ln/>
        </p:spPr>
        <p:txBody>
          <a:bodyPr wrap="square" lIns="0" tIns="0" rIns="0" bIns="0" rtlCol="0" anchor="ctr"/>
          <a:lstStyle/>
          <a:p>
            <a:pPr indent="0" marL="0">
              <a:lnSpc>
                <a:spcPts val="1700"/>
              </a:lnSpc>
              <a:buNone/>
            </a:pPr>
            <a:r>
              <a:rPr lang="en-US" sz="1200" dirty="0">
                <a:solidFill>
                  <a:srgbClr val="3D4A44"/>
                </a:solidFill>
                <a:latin typeface="Calibri" pitchFamily="34" charset="0"/>
                <a:ea typeface="Calibri" pitchFamily="34" charset="-122"/>
                <a:cs typeface="Calibri" pitchFamily="34" charset="-120"/>
              </a:rPr>
              <a:t>A request emits a message on every status change, so one request arrives 4–6 times. MERGE keeps one row per request_id holding its current state.</a:t>
            </a:r>
            <a:endParaRPr lang="en-US" sz="1200" dirty="0"/>
          </a:p>
        </p:txBody>
      </p:sp>
      <p:sp>
        <p:nvSpPr>
          <p:cNvPr id="19" name="Text 17"/>
          <p:cNvSpPr/>
          <p:nvPr/>
        </p:nvSpPr>
        <p:spPr>
          <a:xfrm>
            <a:off x="841248" y="5349240"/>
            <a:ext cx="4937760" cy="365760"/>
          </a:xfrm>
          <a:prstGeom prst="rect">
            <a:avLst/>
          </a:prstGeom>
          <a:noFill/>
          <a:ln/>
        </p:spPr>
        <p:txBody>
          <a:bodyPr wrap="square" lIns="0" tIns="0" rIns="0" bIns="0" rtlCol="0" anchor="ctr"/>
          <a:lstStyle/>
          <a:p>
            <a:pPr indent="0" marL="0">
              <a:buNone/>
            </a:pPr>
            <a:r>
              <a:rPr lang="en-US" sz="1700" b="1" dirty="0">
                <a:solidFill>
                  <a:srgbClr val="12513C"/>
                </a:solidFill>
                <a:latin typeface="Cambria" pitchFamily="34" charset="0"/>
                <a:ea typeface="Cambria" pitchFamily="34" charset="-122"/>
                <a:cs typeface="Cambria" pitchFamily="34" charset="-120"/>
              </a:rPr>
              <a:t>11,054 events   →   2,500 current-state rows</a:t>
            </a:r>
            <a:endParaRPr lang="en-US" sz="1700" dirty="0"/>
          </a:p>
        </p:txBody>
      </p:sp>
      <p:sp>
        <p:nvSpPr>
          <p:cNvPr id="20" name="Shape 18"/>
          <p:cNvSpPr/>
          <p:nvPr/>
        </p:nvSpPr>
        <p:spPr>
          <a:xfrm>
            <a:off x="6263640" y="4041648"/>
            <a:ext cx="5349240" cy="2011680"/>
          </a:xfrm>
          <a:prstGeom prst="roundRect">
            <a:avLst>
              <a:gd name="adj" fmla="val 4091"/>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1" name="Text 19"/>
          <p:cNvSpPr/>
          <p:nvPr/>
        </p:nvSpPr>
        <p:spPr>
          <a:xfrm>
            <a:off x="6556248" y="4224528"/>
            <a:ext cx="4754880" cy="274320"/>
          </a:xfrm>
          <a:prstGeom prst="rect">
            <a:avLst/>
          </a:prstGeom>
          <a:noFill/>
          <a:ln/>
        </p:spPr>
        <p:txBody>
          <a:bodyPr wrap="square" lIns="0" tIns="0" rIns="0" bIns="0" rtlCol="0" anchor="ctr"/>
          <a:lstStyle/>
          <a:p>
            <a:pPr indent="0" marL="0">
              <a:buNone/>
            </a:pPr>
            <a:r>
              <a:rPr lang="en-US" sz="1350" b="1" dirty="0">
                <a:solidFill>
                  <a:srgbClr val="12513C"/>
                </a:solidFill>
                <a:latin typeface="Calibri" pitchFamily="34" charset="0"/>
                <a:ea typeface="Calibri" pitchFamily="34" charset="-122"/>
                <a:cs typeface="Calibri" pitchFamily="34" charset="-120"/>
              </a:rPr>
              <a:t>Gold is a genuine aggregate</a:t>
            </a:r>
            <a:endParaRPr lang="en-US" sz="1350" dirty="0"/>
          </a:p>
        </p:txBody>
      </p:sp>
      <p:sp>
        <p:nvSpPr>
          <p:cNvPr id="22" name="Text 20"/>
          <p:cNvSpPr/>
          <p:nvPr/>
        </p:nvSpPr>
        <p:spPr>
          <a:xfrm>
            <a:off x="6556248" y="4572000"/>
            <a:ext cx="4754880" cy="640080"/>
          </a:xfrm>
          <a:prstGeom prst="rect">
            <a:avLst/>
          </a:prstGeom>
          <a:noFill/>
          <a:ln/>
        </p:spPr>
        <p:txBody>
          <a:bodyPr wrap="square" lIns="0" tIns="0" rIns="0" bIns="0" rtlCol="0" anchor="ctr"/>
          <a:lstStyle/>
          <a:p>
            <a:pPr indent="0" marL="0">
              <a:lnSpc>
                <a:spcPts val="1700"/>
              </a:lnSpc>
              <a:buNone/>
            </a:pPr>
            <a:r>
              <a:rPr lang="en-US" sz="1200" dirty="0">
                <a:solidFill>
                  <a:srgbClr val="3D4A44"/>
                </a:solidFill>
                <a:latin typeface="Calibri" pitchFamily="34" charset="0"/>
                <a:ea typeface="Calibri" pitchFamily="34" charset="-122"/>
                <a:cs typeface="Calibri" pitchFamily="34" charset="-120"/>
              </a:rPr>
              <a:t>minutes_above_90pct is the number a duty officer acts on — and it cannot be read off any single sensor reading. It only exists after grouping.</a:t>
            </a:r>
            <a:endParaRPr lang="en-US" sz="1200" dirty="0"/>
          </a:p>
        </p:txBody>
      </p:sp>
      <p:sp>
        <p:nvSpPr>
          <p:cNvPr id="23" name="Text 21"/>
          <p:cNvSpPr/>
          <p:nvPr/>
        </p:nvSpPr>
        <p:spPr>
          <a:xfrm>
            <a:off x="6556248" y="5349240"/>
            <a:ext cx="4846320" cy="365760"/>
          </a:xfrm>
          <a:prstGeom prst="rect">
            <a:avLst/>
          </a:prstGeom>
          <a:noFill/>
          <a:ln/>
        </p:spPr>
        <p:txBody>
          <a:bodyPr wrap="square" lIns="0" tIns="0" rIns="0" bIns="0" rtlCol="0" anchor="ctr"/>
          <a:lstStyle/>
          <a:p>
            <a:pPr indent="0" marL="0">
              <a:buNone/>
            </a:pPr>
            <a:r>
              <a:rPr lang="en-US" sz="1700" b="1" dirty="0">
                <a:solidFill>
                  <a:srgbClr val="12513C"/>
                </a:solidFill>
                <a:latin typeface="Cambria" pitchFamily="34" charset="0"/>
                <a:ea typeface="Cambria" pitchFamily="34" charset="-122"/>
                <a:cs typeface="Cambria" pitchFamily="34" charset="-120"/>
              </a:rPr>
              <a:t>185,843 readings   →   2,688 zone-hours   ·   69 : 1</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DELIVERABLE 2 · PROVING THE FAILURE PATH</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A bad write is actually refused</a:t>
            </a:r>
            <a:endParaRPr lang="en-US" sz="3400" dirty="0"/>
          </a:p>
        </p:txBody>
      </p:sp>
      <p:sp>
        <p:nvSpPr>
          <p:cNvPr id="4" name="Shape 2"/>
          <p:cNvSpPr/>
          <p:nvPr/>
        </p:nvSpPr>
        <p:spPr>
          <a:xfrm>
            <a:off x="548640" y="1600200"/>
            <a:ext cx="5486400" cy="2286000"/>
          </a:xfrm>
          <a:prstGeom prst="roundRect">
            <a:avLst>
              <a:gd name="adj" fmla="val 3600"/>
            </a:avLst>
          </a:prstGeom>
          <a:solidFill>
            <a:srgbClr val="FDF0EE"/>
          </a:solidFill>
          <a:ln w="12700">
            <a:solidFill>
              <a:srgbClr val="FDF0EE"/>
            </a:solidFill>
            <a:prstDash val="solid"/>
          </a:ln>
          <a:effectLst>
            <a:outerShdw sx="100000" sy="100000" kx="0" ky="0" algn="bl" rotWithShape="0" blurRad="127000" dist="19050" dir="5400000">
              <a:srgbClr val="1A1A1A">
                <a:alpha val="10000"/>
              </a:srgbClr>
            </a:outerShdw>
          </a:effectLst>
        </p:spPr>
      </p:sp>
      <p:sp>
        <p:nvSpPr>
          <p:cNvPr id="5" name="Shape 3"/>
          <p:cNvSpPr/>
          <p:nvPr/>
        </p:nvSpPr>
        <p:spPr>
          <a:xfrm>
            <a:off x="841248" y="1828800"/>
            <a:ext cx="402336" cy="402336"/>
          </a:xfrm>
          <a:prstGeom prst="ellipse">
            <a:avLst/>
          </a:prstGeom>
          <a:solidFill>
            <a:srgbClr val="B4453C"/>
          </a:solidFill>
          <a:ln w="12700">
            <a:solidFill>
              <a:srgbClr val="B4453C"/>
            </a:solidFill>
            <a:prstDash val="solid"/>
          </a:ln>
        </p:spPr>
      </p:sp>
      <p:sp>
        <p:nvSpPr>
          <p:cNvPr id="6" name="Text 4"/>
          <p:cNvSpPr/>
          <p:nvPr/>
        </p:nvSpPr>
        <p:spPr>
          <a:xfrm>
            <a:off x="841248" y="18288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389888" y="1874520"/>
            <a:ext cx="4206240" cy="310896"/>
          </a:xfrm>
          <a:prstGeom prst="rect">
            <a:avLst/>
          </a:prstGeom>
          <a:noFill/>
          <a:ln/>
        </p:spPr>
        <p:txBody>
          <a:bodyPr wrap="square" lIns="0" tIns="0" rIns="0" bIns="0" rtlCol="0" anchor="ctr"/>
          <a:lstStyle/>
          <a:p>
            <a:pPr indent="0" marL="0">
              <a:buNone/>
            </a:pPr>
            <a:r>
              <a:rPr lang="en-US" sz="1400" b="1" dirty="0">
                <a:solidFill>
                  <a:srgbClr val="B4453C"/>
                </a:solidFill>
                <a:latin typeface="Calibri" pitchFamily="34" charset="0"/>
                <a:ea typeface="Calibri" pitchFamily="34" charset="-122"/>
                <a:cs typeface="Calibri" pitchFamily="34" charset="-120"/>
              </a:rPr>
              <a:t>Breaking change — REFUSED</a:t>
            </a:r>
            <a:endParaRPr lang="en-US" sz="1400" dirty="0"/>
          </a:p>
        </p:txBody>
      </p:sp>
      <p:sp>
        <p:nvSpPr>
          <p:cNvPr id="8" name="Text 6"/>
          <p:cNvSpPr/>
          <p:nvPr/>
        </p:nvSpPr>
        <p:spPr>
          <a:xfrm>
            <a:off x="841248" y="2331720"/>
            <a:ext cx="4937760" cy="274320"/>
          </a:xfrm>
          <a:prstGeom prst="rect">
            <a:avLst/>
          </a:prstGeom>
          <a:noFill/>
          <a:ln/>
        </p:spPr>
        <p:txBody>
          <a:bodyPr wrap="square" lIns="0" tIns="0" rIns="0" bIns="0" rtlCol="0" anchor="ctr"/>
          <a:lstStyle/>
          <a:p>
            <a:pPr indent="0" marL="0">
              <a:buNone/>
            </a:pPr>
            <a:r>
              <a:rPr lang="en-US" sz="1200" dirty="0">
                <a:solidFill>
                  <a:srgbClr val="3D4A44"/>
                </a:solidFill>
                <a:latin typeface="Calibri" pitchFamily="34" charset="0"/>
                <a:ea typeface="Calibri" pitchFamily="34" charset="-122"/>
                <a:cs typeface="Calibri" pitchFamily="34" charset="-120"/>
              </a:rPr>
              <a:t>Appending a text column where the table holds integers:</a:t>
            </a:r>
            <a:endParaRPr lang="en-US" sz="1200" dirty="0"/>
          </a:p>
        </p:txBody>
      </p:sp>
      <p:sp>
        <p:nvSpPr>
          <p:cNvPr id="9" name="Text 7"/>
          <p:cNvSpPr/>
          <p:nvPr/>
        </p:nvSpPr>
        <p:spPr>
          <a:xfrm>
            <a:off x="841248" y="2670048"/>
            <a:ext cx="4937760" cy="1005840"/>
          </a:xfrm>
          <a:prstGeom prst="rect">
            <a:avLst/>
          </a:prstGeom>
          <a:noFill/>
          <a:ln/>
        </p:spPr>
        <p:txBody>
          <a:bodyPr wrap="square" lIns="0" tIns="0" rIns="0" bIns="0" rtlCol="0" anchor="ctr"/>
          <a:lstStyle/>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ValueError: Schema of data</a:t>
            </a:r>
            <a:endParaRPr lang="en-US" sz="1050" dirty="0"/>
          </a:p>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does not match table schema</a:t>
            </a:r>
            <a:endParaRPr lang="en-US" sz="1050" dirty="0"/>
          </a:p>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  Data schema:  occupancy_estimate: string</a:t>
            </a:r>
            <a:endParaRPr lang="en-US" sz="1050" dirty="0"/>
          </a:p>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  Table schema: occupancy_estimate: int64</a:t>
            </a:r>
            <a:endParaRPr lang="en-US" sz="1050" dirty="0"/>
          </a:p>
        </p:txBody>
      </p:sp>
      <p:sp>
        <p:nvSpPr>
          <p:cNvPr id="10" name="Shape 8"/>
          <p:cNvSpPr/>
          <p:nvPr/>
        </p:nvSpPr>
        <p:spPr>
          <a:xfrm>
            <a:off x="6263640" y="1600200"/>
            <a:ext cx="5349240" cy="2286000"/>
          </a:xfrm>
          <a:prstGeom prst="roundRect">
            <a:avLst>
              <a:gd name="adj" fmla="val 3600"/>
            </a:avLst>
          </a:prstGeom>
          <a:solidFill>
            <a:srgbClr val="EEF5F0"/>
          </a:solidFill>
          <a:ln w="12700">
            <a:solidFill>
              <a:srgbClr val="EEF5F0"/>
            </a:solidFill>
            <a:prstDash val="solid"/>
          </a:ln>
          <a:effectLst>
            <a:outerShdw sx="100000" sy="100000" kx="0" ky="0" algn="bl" rotWithShape="0" blurRad="127000" dist="19050" dir="5400000">
              <a:srgbClr val="1A1A1A">
                <a:alpha val="10000"/>
              </a:srgbClr>
            </a:outerShdw>
          </a:effectLst>
        </p:spPr>
      </p:sp>
      <p:sp>
        <p:nvSpPr>
          <p:cNvPr id="11" name="Shape 9"/>
          <p:cNvSpPr/>
          <p:nvPr/>
        </p:nvSpPr>
        <p:spPr>
          <a:xfrm>
            <a:off x="6556248" y="1828800"/>
            <a:ext cx="402336" cy="402336"/>
          </a:xfrm>
          <a:prstGeom prst="ellipse">
            <a:avLst/>
          </a:prstGeom>
          <a:solidFill>
            <a:srgbClr val="2E7D5B"/>
          </a:solidFill>
          <a:ln w="12700">
            <a:solidFill>
              <a:srgbClr val="2E7D5B"/>
            </a:solidFill>
            <a:prstDash val="solid"/>
          </a:ln>
        </p:spPr>
      </p:sp>
      <p:sp>
        <p:nvSpPr>
          <p:cNvPr id="12" name="Text 10"/>
          <p:cNvSpPr/>
          <p:nvPr/>
        </p:nvSpPr>
        <p:spPr>
          <a:xfrm>
            <a:off x="6556248" y="18288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7104888" y="1874520"/>
            <a:ext cx="4206240" cy="310896"/>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Additive change — ACCEPTED</a:t>
            </a:r>
            <a:endParaRPr lang="en-US" sz="1400" dirty="0"/>
          </a:p>
        </p:txBody>
      </p:sp>
      <p:sp>
        <p:nvSpPr>
          <p:cNvPr id="14" name="Text 12"/>
          <p:cNvSpPr/>
          <p:nvPr/>
        </p:nvSpPr>
        <p:spPr>
          <a:xfrm>
            <a:off x="6556248" y="2331720"/>
            <a:ext cx="4754880" cy="274320"/>
          </a:xfrm>
          <a:prstGeom prst="rect">
            <a:avLst/>
          </a:prstGeom>
          <a:noFill/>
          <a:ln/>
        </p:spPr>
        <p:txBody>
          <a:bodyPr wrap="square" lIns="0" tIns="0" rIns="0" bIns="0" rtlCol="0" anchor="ctr"/>
          <a:lstStyle/>
          <a:p>
            <a:pPr indent="0" marL="0">
              <a:buNone/>
            </a:pPr>
            <a:r>
              <a:rPr lang="en-US" sz="1200" dirty="0">
                <a:solidFill>
                  <a:srgbClr val="3D4A44"/>
                </a:solidFill>
                <a:latin typeface="Calibri" pitchFamily="34" charset="0"/>
                <a:ea typeface="Calibri" pitchFamily="34" charset="-122"/>
                <a:cs typeface="Calibri" pitchFamily="34" charset="-120"/>
              </a:rPr>
              <a:t>A genuinely new column, under an explicit flag:</a:t>
            </a:r>
            <a:endParaRPr lang="en-US" sz="1200" dirty="0"/>
          </a:p>
        </p:txBody>
      </p:sp>
      <p:sp>
        <p:nvSpPr>
          <p:cNvPr id="15" name="Text 13"/>
          <p:cNvSpPr/>
          <p:nvPr/>
        </p:nvSpPr>
        <p:spPr>
          <a:xfrm>
            <a:off x="6556248" y="2670048"/>
            <a:ext cx="4754880" cy="1005840"/>
          </a:xfrm>
          <a:prstGeom prst="rect">
            <a:avLst/>
          </a:prstGeom>
          <a:noFill/>
          <a:ln/>
        </p:spPr>
        <p:txBody>
          <a:bodyPr wrap="square" lIns="0" tIns="0" rIns="0" bIns="0" rtlCol="0" anchor="ctr"/>
          <a:lstStyle/>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schema_mode="merge"</a:t>
            </a:r>
            <a:endParaRPr lang="en-US" sz="1050" dirty="0"/>
          </a:p>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  → sensor_firmware_version added</a:t>
            </a:r>
            <a:endParaRPr lang="en-US" sz="1050" dirty="0"/>
          </a:p>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  → existing rows keep NULL</a:t>
            </a:r>
            <a:endParaRPr lang="en-US" sz="1050" dirty="0"/>
          </a:p>
          <a:p>
            <a:pPr indent="0" marL="0">
              <a:lnSpc>
                <a:spcPts val="1500"/>
              </a:lnSpc>
              <a:buNone/>
            </a:pPr>
            <a:r>
              <a:rPr lang="en-US" sz="1050" dirty="0">
                <a:solidFill>
                  <a:srgbClr val="0A2E24"/>
                </a:solidFill>
                <a:latin typeface="Courier New" pitchFamily="34" charset="0"/>
                <a:ea typeface="Courier New" pitchFamily="34" charset="-122"/>
                <a:cs typeface="Courier New" pitchFamily="34" charset="-120"/>
              </a:rPr>
              <a:t>  → no rewrite, no data loss</a:t>
            </a:r>
            <a:endParaRPr lang="en-US" sz="1050" dirty="0"/>
          </a:p>
        </p:txBody>
      </p:sp>
      <p:sp>
        <p:nvSpPr>
          <p:cNvPr id="16" name="Shape 14"/>
          <p:cNvSpPr/>
          <p:nvPr/>
        </p:nvSpPr>
        <p:spPr>
          <a:xfrm>
            <a:off x="548640" y="4114800"/>
            <a:ext cx="11064240" cy="1737360"/>
          </a:xfrm>
          <a:prstGeom prst="roundRect">
            <a:avLst>
              <a:gd name="adj" fmla="val 4737"/>
            </a:avLst>
          </a:prstGeom>
          <a:solidFill>
            <a:srgbClr val="12513C"/>
          </a:solidFill>
          <a:ln w="12700">
            <a:solidFill>
              <a:srgbClr val="12513C"/>
            </a:solidFill>
            <a:prstDash val="solid"/>
          </a:ln>
          <a:effectLst>
            <a:outerShdw sx="100000" sy="100000" kx="0" ky="0" algn="bl" rotWithShape="0" blurRad="127000" dist="19050" dir="5400000">
              <a:srgbClr val="1A1A1A">
                <a:alpha val="10000"/>
              </a:srgbClr>
            </a:outerShdw>
          </a:effectLst>
        </p:spPr>
      </p:sp>
      <p:sp>
        <p:nvSpPr>
          <p:cNvPr id="17" name="Text 15"/>
          <p:cNvSpPr/>
          <p:nvPr/>
        </p:nvSpPr>
        <p:spPr>
          <a:xfrm>
            <a:off x="868680" y="4343400"/>
            <a:ext cx="10424160" cy="320040"/>
          </a:xfrm>
          <a:prstGeom prst="rect">
            <a:avLst/>
          </a:prstGeom>
          <a:noFill/>
          <a:ln/>
        </p:spPr>
        <p:txBody>
          <a:bodyPr wrap="square" lIns="0" tIns="0" rIns="0" bIns="0" rtlCol="0" anchor="ctr"/>
          <a:lstStyle/>
          <a:p>
            <a:pPr indent="0" marL="0">
              <a:buNone/>
            </a:pPr>
            <a:r>
              <a:rPr lang="en-US" sz="1900" b="1" dirty="0">
                <a:solidFill>
                  <a:srgbClr val="C8A951"/>
                </a:solidFill>
                <a:latin typeface="Cambria" pitchFamily="34" charset="0"/>
                <a:ea typeface="Cambria" pitchFamily="34" charset="-122"/>
                <a:cs typeface="Cambria" pitchFamily="34" charset="-120"/>
              </a:rPr>
              <a:t>Rejecting a breaking change and accepting an additive one are the same mechanism</a:t>
            </a:r>
            <a:endParaRPr lang="en-US" sz="1900" dirty="0"/>
          </a:p>
        </p:txBody>
      </p:sp>
      <p:sp>
        <p:nvSpPr>
          <p:cNvPr id="18" name="Text 16"/>
          <p:cNvSpPr/>
          <p:nvPr/>
        </p:nvSpPr>
        <p:spPr>
          <a:xfrm>
            <a:off x="868680" y="4754880"/>
            <a:ext cx="10424160" cy="914400"/>
          </a:xfrm>
          <a:prstGeom prst="rect">
            <a:avLst/>
          </a:prstGeom>
          <a:noFill/>
          <a:ln/>
        </p:spPr>
        <p:txBody>
          <a:bodyPr wrap="square" lIns="0" tIns="0" rIns="0" bIns="0" rtlCol="0" anchor="ctr"/>
          <a:lstStyle/>
          <a:p>
            <a:pPr indent="0" marL="0">
              <a:lnSpc>
                <a:spcPts val="1800"/>
              </a:lnSpc>
              <a:buNone/>
            </a:pPr>
            <a:r>
              <a:rPr lang="en-US" sz="1250" dirty="0">
                <a:solidFill>
                  <a:srgbClr val="CFE3D8"/>
                </a:solidFill>
                <a:latin typeface="Calibri" pitchFamily="34" charset="0"/>
                <a:ea typeface="Calibri" pitchFamily="34" charset="-122"/>
                <a:cs typeface="Calibri" pitchFamily="34" charset="-120"/>
              </a:rPr>
              <a:t>Knowing the difference is the whole skill. The demo also shows that delta-rs has two write engines that behave differently — the default one silently casts the text to a number. That is the same silent-coercion failure the Pydantic contract exists to prevent, so the pipeline writes through the strict engine. Both engines are shown, so the difference is on the record rather than asserted.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DELIVERABLE 3 · RAG PIPELINE · 25 PTS</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Finding the right paragraph, two different ways</a:t>
            </a:r>
            <a:endParaRPr lang="en-US" sz="3400" dirty="0"/>
          </a:p>
        </p:txBody>
      </p:sp>
      <p:sp>
        <p:nvSpPr>
          <p:cNvPr id="4" name="Shape 2"/>
          <p:cNvSpPr/>
          <p:nvPr/>
        </p:nvSpPr>
        <p:spPr>
          <a:xfrm>
            <a:off x="548640" y="1572768"/>
            <a:ext cx="5440680" cy="1335024"/>
          </a:xfrm>
          <a:prstGeom prst="roundRect">
            <a:avLst>
              <a:gd name="adj" fmla="val 6164"/>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Shape 3"/>
          <p:cNvSpPr/>
          <p:nvPr/>
        </p:nvSpPr>
        <p:spPr>
          <a:xfrm>
            <a:off x="804672" y="1828800"/>
            <a:ext cx="402336" cy="402336"/>
          </a:xfrm>
          <a:prstGeom prst="ellipse">
            <a:avLst/>
          </a:prstGeom>
          <a:solidFill>
            <a:srgbClr val="12513C"/>
          </a:solidFill>
          <a:ln w="12700">
            <a:solidFill>
              <a:srgbClr val="12513C"/>
            </a:solidFill>
            <a:prstDash val="solid"/>
          </a:ln>
        </p:spPr>
      </p:sp>
      <p:sp>
        <p:nvSpPr>
          <p:cNvPr id="6" name="Text 4"/>
          <p:cNvSpPr/>
          <p:nvPr/>
        </p:nvSpPr>
        <p:spPr>
          <a:xfrm>
            <a:off x="804672" y="18288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53312" y="1773936"/>
            <a:ext cx="4389120" cy="274320"/>
          </a:xfrm>
          <a:prstGeom prst="rect">
            <a:avLst/>
          </a:prstGeom>
          <a:noFill/>
          <a:ln/>
        </p:spPr>
        <p:txBody>
          <a:bodyPr wrap="square" lIns="0" tIns="0" rIns="0" bIns="0" rtlCol="0" anchor="ctr"/>
          <a:lstStyle/>
          <a:p>
            <a:pPr indent="0" marL="0">
              <a:buNone/>
            </a:pPr>
            <a:r>
              <a:rPr lang="en-US" sz="1350" b="1" dirty="0">
                <a:solidFill>
                  <a:srgbClr val="12513C"/>
                </a:solidFill>
                <a:latin typeface="Calibri" pitchFamily="34" charset="0"/>
                <a:ea typeface="Calibri" pitchFamily="34" charset="-122"/>
                <a:cs typeface="Calibri" pitchFamily="34" charset="-120"/>
              </a:rPr>
              <a:t>Chunk</a:t>
            </a:r>
            <a:endParaRPr lang="en-US" sz="1350" dirty="0"/>
          </a:p>
        </p:txBody>
      </p:sp>
      <p:sp>
        <p:nvSpPr>
          <p:cNvPr id="8" name="Text 6"/>
          <p:cNvSpPr/>
          <p:nvPr/>
        </p:nvSpPr>
        <p:spPr>
          <a:xfrm>
            <a:off x="1353312" y="2075688"/>
            <a:ext cx="4434840" cy="731520"/>
          </a:xfrm>
          <a:prstGeom prst="rect">
            <a:avLst/>
          </a:prstGeom>
          <a:noFill/>
          <a:ln/>
        </p:spPr>
        <p:txBody>
          <a:bodyPr wrap="square" lIns="0" tIns="0" rIns="0" bIns="0" rtlCol="0" anchor="ctr"/>
          <a:lstStyle/>
          <a:p>
            <a:pPr indent="0" marL="0">
              <a:lnSpc>
                <a:spcPts val="1400"/>
              </a:lnSpc>
              <a:buNone/>
            </a:pPr>
            <a:r>
              <a:rPr lang="en-US" sz="1050" dirty="0">
                <a:solidFill>
                  <a:srgbClr val="3D4A44"/>
                </a:solidFill>
                <a:latin typeface="Calibri" pitchFamily="34" charset="0"/>
                <a:ea typeface="Calibri" pitchFamily="34" charset="-122"/>
                <a:cs typeface="Calibri" pitchFamily="34" charset="-120"/>
              </a:rPr>
              <a:t>10 SOP documents split on their own headings, then paragraphs, then sentences — 87 chunks, 512-token ceiling.</a:t>
            </a:r>
            <a:endParaRPr lang="en-US" sz="1050" dirty="0"/>
          </a:p>
        </p:txBody>
      </p:sp>
      <p:sp>
        <p:nvSpPr>
          <p:cNvPr id="9" name="Shape 7"/>
          <p:cNvSpPr/>
          <p:nvPr/>
        </p:nvSpPr>
        <p:spPr>
          <a:xfrm>
            <a:off x="6263640" y="1572768"/>
            <a:ext cx="5440680" cy="1335024"/>
          </a:xfrm>
          <a:prstGeom prst="roundRect">
            <a:avLst>
              <a:gd name="adj" fmla="val 6164"/>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0" name="Shape 8"/>
          <p:cNvSpPr/>
          <p:nvPr/>
        </p:nvSpPr>
        <p:spPr>
          <a:xfrm>
            <a:off x="6519672" y="1828800"/>
            <a:ext cx="402336" cy="402336"/>
          </a:xfrm>
          <a:prstGeom prst="ellipse">
            <a:avLst/>
          </a:prstGeom>
          <a:solidFill>
            <a:srgbClr val="12513C"/>
          </a:solidFill>
          <a:ln w="12700">
            <a:solidFill>
              <a:srgbClr val="12513C"/>
            </a:solidFill>
            <a:prstDash val="solid"/>
          </a:ln>
        </p:spPr>
      </p:sp>
      <p:sp>
        <p:nvSpPr>
          <p:cNvPr id="11" name="Text 9"/>
          <p:cNvSpPr/>
          <p:nvPr/>
        </p:nvSpPr>
        <p:spPr>
          <a:xfrm>
            <a:off x="6519672" y="18288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068312" y="1773936"/>
            <a:ext cx="4389120" cy="274320"/>
          </a:xfrm>
          <a:prstGeom prst="rect">
            <a:avLst/>
          </a:prstGeom>
          <a:noFill/>
          <a:ln/>
        </p:spPr>
        <p:txBody>
          <a:bodyPr wrap="square" lIns="0" tIns="0" rIns="0" bIns="0" rtlCol="0" anchor="ctr"/>
          <a:lstStyle/>
          <a:p>
            <a:pPr indent="0" marL="0">
              <a:buNone/>
            </a:pPr>
            <a:r>
              <a:rPr lang="en-US" sz="1350" b="1" dirty="0">
                <a:solidFill>
                  <a:srgbClr val="12513C"/>
                </a:solidFill>
                <a:latin typeface="Calibri" pitchFamily="34" charset="0"/>
                <a:ea typeface="Calibri" pitchFamily="34" charset="-122"/>
                <a:cs typeface="Calibri" pitchFamily="34" charset="-120"/>
              </a:rPr>
              <a:t>Embed</a:t>
            </a:r>
            <a:endParaRPr lang="en-US" sz="1350" dirty="0"/>
          </a:p>
        </p:txBody>
      </p:sp>
      <p:sp>
        <p:nvSpPr>
          <p:cNvPr id="13" name="Text 11"/>
          <p:cNvSpPr/>
          <p:nvPr/>
        </p:nvSpPr>
        <p:spPr>
          <a:xfrm>
            <a:off x="7068312" y="2075688"/>
            <a:ext cx="4434840" cy="731520"/>
          </a:xfrm>
          <a:prstGeom prst="rect">
            <a:avLst/>
          </a:prstGeom>
          <a:noFill/>
          <a:ln/>
        </p:spPr>
        <p:txBody>
          <a:bodyPr wrap="square" lIns="0" tIns="0" rIns="0" bIns="0" rtlCol="0" anchor="ctr"/>
          <a:lstStyle/>
          <a:p>
            <a:pPr indent="0" marL="0">
              <a:lnSpc>
                <a:spcPts val="1400"/>
              </a:lnSpc>
              <a:buNone/>
            </a:pPr>
            <a:r>
              <a:rPr lang="en-US" sz="1050" dirty="0">
                <a:solidFill>
                  <a:srgbClr val="3D4A44"/>
                </a:solidFill>
                <a:latin typeface="Calibri" pitchFamily="34" charset="0"/>
                <a:ea typeface="Calibri" pitchFamily="34" charset="-122"/>
                <a:cs typeface="Calibri" pitchFamily="34" charset="-120"/>
              </a:rPr>
              <a:t>multilingual-e5-small, 384 dimensions, run locally. Multilingual because one golden question is in Arabic.</a:t>
            </a:r>
            <a:endParaRPr lang="en-US" sz="1050" dirty="0"/>
          </a:p>
        </p:txBody>
      </p:sp>
      <p:sp>
        <p:nvSpPr>
          <p:cNvPr id="14" name="Shape 12"/>
          <p:cNvSpPr/>
          <p:nvPr/>
        </p:nvSpPr>
        <p:spPr>
          <a:xfrm>
            <a:off x="548640" y="3054096"/>
            <a:ext cx="5440680" cy="1335024"/>
          </a:xfrm>
          <a:prstGeom prst="roundRect">
            <a:avLst>
              <a:gd name="adj" fmla="val 6164"/>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5" name="Shape 13"/>
          <p:cNvSpPr/>
          <p:nvPr/>
        </p:nvSpPr>
        <p:spPr>
          <a:xfrm>
            <a:off x="804672" y="3310128"/>
            <a:ext cx="402336" cy="402336"/>
          </a:xfrm>
          <a:prstGeom prst="ellipse">
            <a:avLst/>
          </a:prstGeom>
          <a:solidFill>
            <a:srgbClr val="12513C"/>
          </a:solidFill>
          <a:ln w="12700">
            <a:solidFill>
              <a:srgbClr val="12513C"/>
            </a:solidFill>
            <a:prstDash val="solid"/>
          </a:ln>
        </p:spPr>
      </p:sp>
      <p:sp>
        <p:nvSpPr>
          <p:cNvPr id="16" name="Text 14"/>
          <p:cNvSpPr/>
          <p:nvPr/>
        </p:nvSpPr>
        <p:spPr>
          <a:xfrm>
            <a:off x="804672" y="33101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53312" y="3255264"/>
            <a:ext cx="4389120" cy="274320"/>
          </a:xfrm>
          <a:prstGeom prst="rect">
            <a:avLst/>
          </a:prstGeom>
          <a:noFill/>
          <a:ln/>
        </p:spPr>
        <p:txBody>
          <a:bodyPr wrap="square" lIns="0" tIns="0" rIns="0" bIns="0" rtlCol="0" anchor="ctr"/>
          <a:lstStyle/>
          <a:p>
            <a:pPr indent="0" marL="0">
              <a:buNone/>
            </a:pPr>
            <a:r>
              <a:rPr lang="en-US" sz="1350" b="1" dirty="0">
                <a:solidFill>
                  <a:srgbClr val="12513C"/>
                </a:solidFill>
                <a:latin typeface="Calibri" pitchFamily="34" charset="0"/>
                <a:ea typeface="Calibri" pitchFamily="34" charset="-122"/>
                <a:cs typeface="Calibri" pitchFamily="34" charset="-120"/>
              </a:rPr>
              <a:t>Search twice</a:t>
            </a:r>
            <a:endParaRPr lang="en-US" sz="1350" dirty="0"/>
          </a:p>
        </p:txBody>
      </p:sp>
      <p:sp>
        <p:nvSpPr>
          <p:cNvPr id="18" name="Text 16"/>
          <p:cNvSpPr/>
          <p:nvPr/>
        </p:nvSpPr>
        <p:spPr>
          <a:xfrm>
            <a:off x="1353312" y="3557016"/>
            <a:ext cx="4434840" cy="731520"/>
          </a:xfrm>
          <a:prstGeom prst="rect">
            <a:avLst/>
          </a:prstGeom>
          <a:noFill/>
          <a:ln/>
        </p:spPr>
        <p:txBody>
          <a:bodyPr wrap="square" lIns="0" tIns="0" rIns="0" bIns="0" rtlCol="0" anchor="ctr"/>
          <a:lstStyle/>
          <a:p>
            <a:pPr indent="0" marL="0">
              <a:lnSpc>
                <a:spcPts val="1400"/>
              </a:lnSpc>
              <a:buNone/>
            </a:pPr>
            <a:r>
              <a:rPr lang="en-US" sz="1050" dirty="0">
                <a:solidFill>
                  <a:srgbClr val="3D4A44"/>
                </a:solidFill>
                <a:latin typeface="Calibri" pitchFamily="34" charset="0"/>
                <a:ea typeface="Calibri" pitchFamily="34" charset="-122"/>
                <a:cs typeface="Calibri" pitchFamily="34" charset="-120"/>
              </a:rPr>
              <a:t>Qdrant finds by meaning. BM25 finds by exact keyword. Each fails where the other succeeds.</a:t>
            </a:r>
            <a:endParaRPr lang="en-US" sz="1050" dirty="0"/>
          </a:p>
        </p:txBody>
      </p:sp>
      <p:sp>
        <p:nvSpPr>
          <p:cNvPr id="19" name="Shape 17"/>
          <p:cNvSpPr/>
          <p:nvPr/>
        </p:nvSpPr>
        <p:spPr>
          <a:xfrm>
            <a:off x="6263640" y="3054096"/>
            <a:ext cx="5440680" cy="1335024"/>
          </a:xfrm>
          <a:prstGeom prst="roundRect">
            <a:avLst>
              <a:gd name="adj" fmla="val 6164"/>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0" name="Shape 18"/>
          <p:cNvSpPr/>
          <p:nvPr/>
        </p:nvSpPr>
        <p:spPr>
          <a:xfrm>
            <a:off x="6519672" y="3310128"/>
            <a:ext cx="402336" cy="402336"/>
          </a:xfrm>
          <a:prstGeom prst="ellipse">
            <a:avLst/>
          </a:prstGeom>
          <a:solidFill>
            <a:srgbClr val="C8A951"/>
          </a:solidFill>
          <a:ln w="12700">
            <a:solidFill>
              <a:srgbClr val="C8A951"/>
            </a:solidFill>
            <a:prstDash val="solid"/>
          </a:ln>
        </p:spPr>
      </p:sp>
      <p:sp>
        <p:nvSpPr>
          <p:cNvPr id="21" name="Text 19"/>
          <p:cNvSpPr/>
          <p:nvPr/>
        </p:nvSpPr>
        <p:spPr>
          <a:xfrm>
            <a:off x="6519672" y="3310128"/>
            <a:ext cx="402336" cy="402336"/>
          </a:xfrm>
          <a:prstGeom prst="rect">
            <a:avLst/>
          </a:prstGeom>
          <a:noFill/>
          <a:ln/>
        </p:spPr>
        <p:txBody>
          <a:bodyPr wrap="square" lIns="0" tIns="0" rIns="0" bIns="0" rtlCol="0" anchor="ctr"/>
          <a:lstStyle/>
          <a:p>
            <a:pPr algn="ctr" indent="0" marL="0">
              <a:buNone/>
            </a:pPr>
            <a:r>
              <a:rPr lang="en-US" sz="1300" b="1" dirty="0">
                <a:solidFill>
                  <a:srgbClr val="0A2E24"/>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068312" y="3255264"/>
            <a:ext cx="4389120" cy="274320"/>
          </a:xfrm>
          <a:prstGeom prst="rect">
            <a:avLst/>
          </a:prstGeom>
          <a:noFill/>
          <a:ln/>
        </p:spPr>
        <p:txBody>
          <a:bodyPr wrap="square" lIns="0" tIns="0" rIns="0" bIns="0" rtlCol="0" anchor="ctr"/>
          <a:lstStyle/>
          <a:p>
            <a:pPr indent="0" marL="0">
              <a:buNone/>
            </a:pPr>
            <a:r>
              <a:rPr lang="en-US" sz="1350" b="1" dirty="0">
                <a:solidFill>
                  <a:srgbClr val="12513C"/>
                </a:solidFill>
                <a:latin typeface="Calibri" pitchFamily="34" charset="0"/>
                <a:ea typeface="Calibri" pitchFamily="34" charset="-122"/>
                <a:cs typeface="Calibri" pitchFamily="34" charset="-120"/>
              </a:rPr>
              <a:t>Fuse with RRF</a:t>
            </a:r>
            <a:endParaRPr lang="en-US" sz="1350" dirty="0"/>
          </a:p>
        </p:txBody>
      </p:sp>
      <p:sp>
        <p:nvSpPr>
          <p:cNvPr id="23" name="Text 21"/>
          <p:cNvSpPr/>
          <p:nvPr/>
        </p:nvSpPr>
        <p:spPr>
          <a:xfrm>
            <a:off x="7068312" y="3557016"/>
            <a:ext cx="4434840" cy="731520"/>
          </a:xfrm>
          <a:prstGeom prst="rect">
            <a:avLst/>
          </a:prstGeom>
          <a:noFill/>
          <a:ln/>
        </p:spPr>
        <p:txBody>
          <a:bodyPr wrap="square" lIns="0" tIns="0" rIns="0" bIns="0" rtlCol="0" anchor="ctr"/>
          <a:lstStyle/>
          <a:p>
            <a:pPr indent="0" marL="0">
              <a:lnSpc>
                <a:spcPts val="1400"/>
              </a:lnSpc>
              <a:buNone/>
            </a:pPr>
            <a:r>
              <a:rPr lang="en-US" sz="1050" dirty="0">
                <a:solidFill>
                  <a:srgbClr val="3D4A44"/>
                </a:solidFill>
                <a:latin typeface="Calibri" pitchFamily="34" charset="0"/>
                <a:ea typeface="Calibri" pitchFamily="34" charset="-122"/>
                <a:cs typeface="Calibri" pitchFamily="34" charset="-120"/>
              </a:rPr>
              <a:t>Reciprocal Rank Fusion, k=60, written by hand. Combines positions, not scores — 0.83 and 14.2 are not comparable, but 1st and 3rd always are.</a:t>
            </a:r>
            <a:endParaRPr lang="en-US" sz="1050" dirty="0"/>
          </a:p>
        </p:txBody>
      </p:sp>
      <p:sp>
        <p:nvSpPr>
          <p:cNvPr id="24" name="Shape 22"/>
          <p:cNvSpPr/>
          <p:nvPr/>
        </p:nvSpPr>
        <p:spPr>
          <a:xfrm>
            <a:off x="548640" y="4535424"/>
            <a:ext cx="5440680" cy="1335024"/>
          </a:xfrm>
          <a:prstGeom prst="roundRect">
            <a:avLst>
              <a:gd name="adj" fmla="val 6164"/>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5" name="Shape 23"/>
          <p:cNvSpPr/>
          <p:nvPr/>
        </p:nvSpPr>
        <p:spPr>
          <a:xfrm>
            <a:off x="804672" y="4791456"/>
            <a:ext cx="402336" cy="402336"/>
          </a:xfrm>
          <a:prstGeom prst="ellipse">
            <a:avLst/>
          </a:prstGeom>
          <a:solidFill>
            <a:srgbClr val="12513C"/>
          </a:solidFill>
          <a:ln w="12700">
            <a:solidFill>
              <a:srgbClr val="12513C"/>
            </a:solidFill>
            <a:prstDash val="solid"/>
          </a:ln>
        </p:spPr>
      </p:sp>
      <p:sp>
        <p:nvSpPr>
          <p:cNvPr id="26" name="Text 24"/>
          <p:cNvSpPr/>
          <p:nvPr/>
        </p:nvSpPr>
        <p:spPr>
          <a:xfrm>
            <a:off x="804672" y="47914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353312" y="4736592"/>
            <a:ext cx="4389120" cy="274320"/>
          </a:xfrm>
          <a:prstGeom prst="rect">
            <a:avLst/>
          </a:prstGeom>
          <a:noFill/>
          <a:ln/>
        </p:spPr>
        <p:txBody>
          <a:bodyPr wrap="square" lIns="0" tIns="0" rIns="0" bIns="0" rtlCol="0" anchor="ctr"/>
          <a:lstStyle/>
          <a:p>
            <a:pPr indent="0" marL="0">
              <a:buNone/>
            </a:pPr>
            <a:r>
              <a:rPr lang="en-US" sz="1350" b="1" dirty="0">
                <a:solidFill>
                  <a:srgbClr val="12513C"/>
                </a:solidFill>
                <a:latin typeface="Calibri" pitchFamily="34" charset="0"/>
                <a:ea typeface="Calibri" pitchFamily="34" charset="-122"/>
                <a:cs typeface="Calibri" pitchFamily="34" charset="-120"/>
              </a:rPr>
              <a:t>Rerank</a:t>
            </a:r>
            <a:endParaRPr lang="en-US" sz="1350" dirty="0"/>
          </a:p>
        </p:txBody>
      </p:sp>
      <p:sp>
        <p:nvSpPr>
          <p:cNvPr id="28" name="Text 26"/>
          <p:cNvSpPr/>
          <p:nvPr/>
        </p:nvSpPr>
        <p:spPr>
          <a:xfrm>
            <a:off x="1353312" y="5038344"/>
            <a:ext cx="4434840" cy="731520"/>
          </a:xfrm>
          <a:prstGeom prst="rect">
            <a:avLst/>
          </a:prstGeom>
          <a:noFill/>
          <a:ln/>
        </p:spPr>
        <p:txBody>
          <a:bodyPr wrap="square" lIns="0" tIns="0" rIns="0" bIns="0" rtlCol="0" anchor="ctr"/>
          <a:lstStyle/>
          <a:p>
            <a:pPr indent="0" marL="0">
              <a:lnSpc>
                <a:spcPts val="1400"/>
              </a:lnSpc>
              <a:buNone/>
            </a:pPr>
            <a:r>
              <a:rPr lang="en-US" sz="1050" dirty="0">
                <a:solidFill>
                  <a:srgbClr val="3D4A44"/>
                </a:solidFill>
                <a:latin typeface="Calibri" pitchFamily="34" charset="0"/>
                <a:ea typeface="Calibri" pitchFamily="34" charset="-122"/>
                <a:cs typeface="Calibri" pitchFamily="34" charset="-120"/>
              </a:rPr>
              <a:t>A cross-encoder reads the question and passage together, and cuts 50 candidates to the best 5.</a:t>
            </a:r>
            <a:endParaRPr lang="en-US" sz="1050" dirty="0"/>
          </a:p>
        </p:txBody>
      </p:sp>
      <p:sp>
        <p:nvSpPr>
          <p:cNvPr id="29" name="Shape 27"/>
          <p:cNvSpPr/>
          <p:nvPr/>
        </p:nvSpPr>
        <p:spPr>
          <a:xfrm>
            <a:off x="6263640" y="4535424"/>
            <a:ext cx="5440680" cy="1335024"/>
          </a:xfrm>
          <a:prstGeom prst="roundRect">
            <a:avLst>
              <a:gd name="adj" fmla="val 6164"/>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30" name="Shape 28"/>
          <p:cNvSpPr/>
          <p:nvPr/>
        </p:nvSpPr>
        <p:spPr>
          <a:xfrm>
            <a:off x="6519672" y="4791456"/>
            <a:ext cx="402336" cy="402336"/>
          </a:xfrm>
          <a:prstGeom prst="ellipse">
            <a:avLst/>
          </a:prstGeom>
          <a:solidFill>
            <a:srgbClr val="12513C"/>
          </a:solidFill>
          <a:ln w="12700">
            <a:solidFill>
              <a:srgbClr val="12513C"/>
            </a:solidFill>
            <a:prstDash val="solid"/>
          </a:ln>
        </p:spPr>
      </p:sp>
      <p:sp>
        <p:nvSpPr>
          <p:cNvPr id="31" name="Text 29"/>
          <p:cNvSpPr/>
          <p:nvPr/>
        </p:nvSpPr>
        <p:spPr>
          <a:xfrm>
            <a:off x="6519672" y="47914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7068312" y="4736592"/>
            <a:ext cx="4389120" cy="274320"/>
          </a:xfrm>
          <a:prstGeom prst="rect">
            <a:avLst/>
          </a:prstGeom>
          <a:noFill/>
          <a:ln/>
        </p:spPr>
        <p:txBody>
          <a:bodyPr wrap="square" lIns="0" tIns="0" rIns="0" bIns="0" rtlCol="0" anchor="ctr"/>
          <a:lstStyle/>
          <a:p>
            <a:pPr indent="0" marL="0">
              <a:buNone/>
            </a:pPr>
            <a:r>
              <a:rPr lang="en-US" sz="1350" b="1" dirty="0">
                <a:solidFill>
                  <a:srgbClr val="12513C"/>
                </a:solidFill>
                <a:latin typeface="Calibri" pitchFamily="34" charset="0"/>
                <a:ea typeface="Calibri" pitchFamily="34" charset="-122"/>
                <a:cs typeface="Calibri" pitchFamily="34" charset="-120"/>
              </a:rPr>
              <a:t>Answer</a:t>
            </a:r>
            <a:endParaRPr lang="en-US" sz="1350" dirty="0"/>
          </a:p>
        </p:txBody>
      </p:sp>
      <p:sp>
        <p:nvSpPr>
          <p:cNvPr id="33" name="Text 31"/>
          <p:cNvSpPr/>
          <p:nvPr/>
        </p:nvSpPr>
        <p:spPr>
          <a:xfrm>
            <a:off x="7068312" y="5038344"/>
            <a:ext cx="4434840" cy="731520"/>
          </a:xfrm>
          <a:prstGeom prst="rect">
            <a:avLst/>
          </a:prstGeom>
          <a:noFill/>
          <a:ln/>
        </p:spPr>
        <p:txBody>
          <a:bodyPr wrap="square" lIns="0" tIns="0" rIns="0" bIns="0" rtlCol="0" anchor="ctr"/>
          <a:lstStyle/>
          <a:p>
            <a:pPr indent="0" marL="0">
              <a:lnSpc>
                <a:spcPts val="1400"/>
              </a:lnSpc>
              <a:buNone/>
            </a:pPr>
            <a:r>
              <a:rPr lang="en-US" sz="1050" dirty="0">
                <a:solidFill>
                  <a:srgbClr val="3D4A44"/>
                </a:solidFill>
                <a:latin typeface="Calibri" pitchFamily="34" charset="0"/>
                <a:ea typeface="Calibri" pitchFamily="34" charset="-122"/>
                <a:cs typeface="Calibri" pitchFamily="34" charset="-120"/>
              </a:rPr>
              <a:t>The model may only use the supplied passages, must cite the document code for every claim, and must refuse when they do not cover the question.</a:t>
            </a:r>
            <a:endParaRPr lang="en-US" sz="1050" dirty="0"/>
          </a:p>
        </p:txBody>
      </p:sp>
      <p:sp>
        <p:nvSpPr>
          <p:cNvPr id="34" name="Text 32"/>
          <p:cNvSpPr/>
          <p:nvPr/>
        </p:nvSpPr>
        <p:spPr>
          <a:xfrm>
            <a:off x="548640" y="6053328"/>
            <a:ext cx="11064240" cy="365760"/>
          </a:xfrm>
          <a:prstGeom prst="rect">
            <a:avLst/>
          </a:prstGeom>
          <a:noFill/>
          <a:ln/>
        </p:spPr>
        <p:txBody>
          <a:bodyPr wrap="square" lIns="0" tIns="0" rIns="0" bIns="0" rtlCol="0" anchor="ctr"/>
          <a:lstStyle/>
          <a:p>
            <a:pPr algn="ctr" indent="0" marL="0">
              <a:buNone/>
            </a:pPr>
            <a:r>
              <a:rPr lang="en-US" sz="1400" b="1" dirty="0">
                <a:solidFill>
                  <a:srgbClr val="12513C"/>
                </a:solidFill>
                <a:latin typeface="Courier New" pitchFamily="34" charset="0"/>
                <a:ea typeface="Courier New" pitchFamily="34" charset="-122"/>
                <a:cs typeface="Courier New" pitchFamily="34" charset="-120"/>
              </a:rPr>
              <a:t>score(d)  =  Σ  1 / (k + rank of d in list i),      k = 60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E24"/>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THE COPILOT IN ACTION</a:t>
            </a:r>
            <a:endParaRPr lang="en-US" sz="1100" dirty="0"/>
          </a:p>
        </p:txBody>
      </p:sp>
      <p:sp>
        <p:nvSpPr>
          <p:cNvPr id="3" name="Text 1"/>
          <p:cNvSpPr/>
          <p:nvPr/>
        </p:nvSpPr>
        <p:spPr>
          <a:xfrm>
            <a:off x="548640" y="658368"/>
            <a:ext cx="109728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questions, three behaviours</a:t>
            </a:r>
            <a:endParaRPr lang="en-US" sz="3200" dirty="0"/>
          </a:p>
        </p:txBody>
      </p:sp>
      <p:sp>
        <p:nvSpPr>
          <p:cNvPr id="4" name="Shape 2"/>
          <p:cNvSpPr/>
          <p:nvPr/>
        </p:nvSpPr>
        <p:spPr>
          <a:xfrm>
            <a:off x="548640" y="1481328"/>
            <a:ext cx="11064240" cy="1481328"/>
          </a:xfrm>
          <a:prstGeom prst="roundRect">
            <a:avLst>
              <a:gd name="adj" fmla="val 4938"/>
            </a:avLst>
          </a:prstGeom>
          <a:solidFill>
            <a:srgbClr val="133B2E"/>
          </a:solidFill>
          <a:ln w="12700">
            <a:solidFill>
              <a:srgbClr val="133B2E"/>
            </a:solidFill>
            <a:prstDash val="solid"/>
          </a:ln>
        </p:spPr>
      </p:sp>
      <p:sp>
        <p:nvSpPr>
          <p:cNvPr id="5" name="Shape 3"/>
          <p:cNvSpPr/>
          <p:nvPr/>
        </p:nvSpPr>
        <p:spPr>
          <a:xfrm>
            <a:off x="841248" y="1700784"/>
            <a:ext cx="402336" cy="402336"/>
          </a:xfrm>
          <a:prstGeom prst="ellipse">
            <a:avLst/>
          </a:prstGeom>
          <a:solidFill>
            <a:srgbClr val="C8A951"/>
          </a:solidFill>
          <a:ln w="12700">
            <a:solidFill>
              <a:srgbClr val="C8A951"/>
            </a:solidFill>
            <a:prstDash val="solid"/>
          </a:ln>
        </p:spPr>
      </p:sp>
      <p:sp>
        <p:nvSpPr>
          <p:cNvPr id="6" name="Text 4"/>
          <p:cNvSpPr/>
          <p:nvPr/>
        </p:nvSpPr>
        <p:spPr>
          <a:xfrm>
            <a:off x="841248" y="1700784"/>
            <a:ext cx="402336" cy="402336"/>
          </a:xfrm>
          <a:prstGeom prst="rect">
            <a:avLst/>
          </a:prstGeom>
          <a:noFill/>
          <a:ln/>
        </p:spPr>
        <p:txBody>
          <a:bodyPr wrap="square" lIns="0" tIns="0" rIns="0" bIns="0" rtlCol="0" anchor="ctr"/>
          <a:lstStyle/>
          <a:p>
            <a:pPr algn="ctr" indent="0" marL="0">
              <a:buNone/>
            </a:pPr>
            <a:r>
              <a:rPr lang="en-US" sz="1300" b="1" dirty="0">
                <a:solidFill>
                  <a:srgbClr val="0A2E24"/>
                </a:solidFill>
                <a:latin typeface="Calibri" pitchFamily="34" charset="0"/>
                <a:ea typeface="Calibri" pitchFamily="34" charset="-122"/>
                <a:cs typeface="Calibri" pitchFamily="34" charset="-120"/>
              </a:rPr>
              <a:t>Q</a:t>
            </a:r>
            <a:endParaRPr lang="en-US" sz="1300" dirty="0"/>
          </a:p>
        </p:txBody>
      </p:sp>
      <p:sp>
        <p:nvSpPr>
          <p:cNvPr id="7" name="Text 5"/>
          <p:cNvSpPr/>
          <p:nvPr/>
        </p:nvSpPr>
        <p:spPr>
          <a:xfrm>
            <a:off x="1417320" y="1645920"/>
            <a:ext cx="99669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MATAF_01 has been above 90% for 12 minutes. Who authorizes diversion?</a:t>
            </a:r>
            <a:endParaRPr lang="en-US" sz="1300" dirty="0"/>
          </a:p>
        </p:txBody>
      </p:sp>
      <p:sp>
        <p:nvSpPr>
          <p:cNvPr id="8" name="Text 6"/>
          <p:cNvSpPr/>
          <p:nvPr/>
        </p:nvSpPr>
        <p:spPr>
          <a:xfrm>
            <a:off x="1417320" y="1984248"/>
            <a:ext cx="9966960" cy="566928"/>
          </a:xfrm>
          <a:prstGeom prst="rect">
            <a:avLst/>
          </a:prstGeom>
          <a:noFill/>
          <a:ln/>
        </p:spPr>
        <p:txBody>
          <a:bodyPr wrap="square" lIns="0" tIns="0" rIns="0" bIns="0" rtlCol="0" anchor="ctr"/>
          <a:lstStyle/>
          <a:p>
            <a:pPr indent="0" marL="0">
              <a:lnSpc>
                <a:spcPts val="1500"/>
              </a:lnSpc>
              <a:buNone/>
            </a:pPr>
            <a:r>
              <a:rPr lang="en-US" sz="1150" dirty="0">
                <a:solidFill>
                  <a:srgbClr val="CFE3D8"/>
                </a:solidFill>
                <a:latin typeface="Calibri" pitchFamily="34" charset="0"/>
                <a:ea typeface="Calibri" pitchFamily="34" charset="-122"/>
                <a:cs typeface="Calibri" pitchFamily="34" charset="-120"/>
              </a:rPr>
              <a:t>The SOC Controller authorizes diversion. At 90% the zone is in the CRITICAL band; the authority matrix permits diversion of arriving flow at this threshold  [2, SOP-CS-011].</a:t>
            </a:r>
            <a:endParaRPr lang="en-US" sz="1150" dirty="0"/>
          </a:p>
        </p:txBody>
      </p:sp>
      <p:sp>
        <p:nvSpPr>
          <p:cNvPr id="9" name="Text 7"/>
          <p:cNvSpPr/>
          <p:nvPr/>
        </p:nvSpPr>
        <p:spPr>
          <a:xfrm>
            <a:off x="1417320" y="2578608"/>
            <a:ext cx="9966960" cy="274320"/>
          </a:xfrm>
          <a:prstGeom prst="rect">
            <a:avLst/>
          </a:prstGeom>
          <a:noFill/>
          <a:ln/>
        </p:spPr>
        <p:txBody>
          <a:bodyPr wrap="square" lIns="0" tIns="0" rIns="0" bIns="0" rtlCol="0" anchor="ctr"/>
          <a:lstStyle/>
          <a:p>
            <a:pPr indent="0" marL="0">
              <a:buNone/>
            </a:pPr>
            <a:r>
              <a:rPr lang="en-US" sz="1050" i="1" dirty="0">
                <a:solidFill>
                  <a:srgbClr val="C8A951"/>
                </a:solidFill>
                <a:latin typeface="Calibri" pitchFamily="34" charset="0"/>
                <a:ea typeface="Calibri" pitchFamily="34" charset="-122"/>
                <a:cs typeface="Calibri" pitchFamily="34" charset="-120"/>
              </a:rPr>
              <a:t>Correct, and every claim is traceable to a document code.</a:t>
            </a:r>
            <a:endParaRPr lang="en-US" sz="1050" dirty="0"/>
          </a:p>
        </p:txBody>
      </p:sp>
      <p:sp>
        <p:nvSpPr>
          <p:cNvPr id="10" name="Shape 8"/>
          <p:cNvSpPr/>
          <p:nvPr/>
        </p:nvSpPr>
        <p:spPr>
          <a:xfrm>
            <a:off x="548640" y="3054096"/>
            <a:ext cx="11064240" cy="1481328"/>
          </a:xfrm>
          <a:prstGeom prst="roundRect">
            <a:avLst>
              <a:gd name="adj" fmla="val 4938"/>
            </a:avLst>
          </a:prstGeom>
          <a:solidFill>
            <a:srgbClr val="133B2E"/>
          </a:solidFill>
          <a:ln w="12700">
            <a:solidFill>
              <a:srgbClr val="133B2E"/>
            </a:solidFill>
            <a:prstDash val="solid"/>
          </a:ln>
        </p:spPr>
      </p:sp>
      <p:sp>
        <p:nvSpPr>
          <p:cNvPr id="11" name="Shape 9"/>
          <p:cNvSpPr/>
          <p:nvPr/>
        </p:nvSpPr>
        <p:spPr>
          <a:xfrm>
            <a:off x="841248" y="3273552"/>
            <a:ext cx="402336" cy="402336"/>
          </a:xfrm>
          <a:prstGeom prst="ellipse">
            <a:avLst/>
          </a:prstGeom>
          <a:solidFill>
            <a:srgbClr val="C8A951"/>
          </a:solidFill>
          <a:ln w="12700">
            <a:solidFill>
              <a:srgbClr val="C8A951"/>
            </a:solidFill>
            <a:prstDash val="solid"/>
          </a:ln>
        </p:spPr>
      </p:sp>
      <p:sp>
        <p:nvSpPr>
          <p:cNvPr id="12" name="Text 10"/>
          <p:cNvSpPr/>
          <p:nvPr/>
        </p:nvSpPr>
        <p:spPr>
          <a:xfrm>
            <a:off x="841248" y="3273552"/>
            <a:ext cx="402336" cy="402336"/>
          </a:xfrm>
          <a:prstGeom prst="rect">
            <a:avLst/>
          </a:prstGeom>
          <a:noFill/>
          <a:ln/>
        </p:spPr>
        <p:txBody>
          <a:bodyPr wrap="square" lIns="0" tIns="0" rIns="0" bIns="0" rtlCol="0" anchor="ctr"/>
          <a:lstStyle/>
          <a:p>
            <a:pPr algn="ctr" indent="0" marL="0">
              <a:buNone/>
            </a:pPr>
            <a:r>
              <a:rPr lang="en-US" sz="1300" b="1" dirty="0">
                <a:solidFill>
                  <a:srgbClr val="0A2E24"/>
                </a:solidFill>
                <a:latin typeface="Calibri" pitchFamily="34" charset="0"/>
                <a:ea typeface="Calibri" pitchFamily="34" charset="-122"/>
                <a:cs typeface="Calibri" pitchFamily="34" charset="-120"/>
              </a:rPr>
              <a:t>ع</a:t>
            </a:r>
            <a:endParaRPr lang="en-US" sz="1300" dirty="0"/>
          </a:p>
        </p:txBody>
      </p:sp>
      <p:sp>
        <p:nvSpPr>
          <p:cNvPr id="13" name="Text 11"/>
          <p:cNvSpPr/>
          <p:nvPr/>
        </p:nvSpPr>
        <p:spPr>
          <a:xfrm>
            <a:off x="1417320" y="3218688"/>
            <a:ext cx="99669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ما هي إجراءات الإخلاء؟</a:t>
            </a:r>
            <a:endParaRPr lang="en-US" sz="1300" dirty="0"/>
          </a:p>
        </p:txBody>
      </p:sp>
      <p:sp>
        <p:nvSpPr>
          <p:cNvPr id="14" name="Text 12"/>
          <p:cNvSpPr/>
          <p:nvPr/>
        </p:nvSpPr>
        <p:spPr>
          <a:xfrm>
            <a:off x="1417320" y="3557016"/>
            <a:ext cx="9966960" cy="566928"/>
          </a:xfrm>
          <a:prstGeom prst="rect">
            <a:avLst/>
          </a:prstGeom>
          <a:noFill/>
          <a:ln/>
        </p:spPr>
        <p:txBody>
          <a:bodyPr wrap="square" lIns="0" tIns="0" rIns="0" bIns="0" rtlCol="0" anchor="ctr"/>
          <a:lstStyle/>
          <a:p>
            <a:pPr indent="0" marL="0">
              <a:lnSpc>
                <a:spcPts val="1500"/>
              </a:lnSpc>
              <a:buNone/>
            </a:pPr>
            <a:r>
              <a:rPr lang="en-US" sz="1150" dirty="0">
                <a:solidFill>
                  <a:srgbClr val="CFE3D8"/>
                </a:solidFill>
                <a:latin typeface="Calibri" pitchFamily="34" charset="0"/>
                <a:ea typeface="Calibri" pitchFamily="34" charset="-122"/>
                <a:cs typeface="Calibri" pitchFamily="34" charset="-120"/>
              </a:rPr>
              <a:t>إجراءات الإخلاء: تحرك بهدوء في الاتجاه المذكور في الإعلان، واتبع تعليمات الموظفين… الإخلاء يتطلب موافقة مشتركة من مدير العمليات المناوب ومنسق الدفاع المدني  [4, SOP-CS-015].</a:t>
            </a:r>
            <a:endParaRPr lang="en-US" sz="1150" dirty="0"/>
          </a:p>
        </p:txBody>
      </p:sp>
      <p:sp>
        <p:nvSpPr>
          <p:cNvPr id="15" name="Text 13"/>
          <p:cNvSpPr/>
          <p:nvPr/>
        </p:nvSpPr>
        <p:spPr>
          <a:xfrm>
            <a:off x="1417320" y="4151376"/>
            <a:ext cx="9966960" cy="274320"/>
          </a:xfrm>
          <a:prstGeom prst="rect">
            <a:avLst/>
          </a:prstGeom>
          <a:noFill/>
          <a:ln/>
        </p:spPr>
        <p:txBody>
          <a:bodyPr wrap="square" lIns="0" tIns="0" rIns="0" bIns="0" rtlCol="0" anchor="ctr"/>
          <a:lstStyle/>
          <a:p>
            <a:pPr indent="0" marL="0">
              <a:buNone/>
            </a:pPr>
            <a:r>
              <a:rPr lang="en-US" sz="1050" i="1" dirty="0">
                <a:solidFill>
                  <a:srgbClr val="C8A951"/>
                </a:solidFill>
                <a:latin typeface="Calibri" pitchFamily="34" charset="0"/>
                <a:ea typeface="Calibri" pitchFamily="34" charset="-122"/>
                <a:cs typeface="Calibri" pitchFamily="34" charset="-120"/>
              </a:rPr>
              <a:t>Answers in Arabic, from Arabic source passages.</a:t>
            </a:r>
            <a:endParaRPr lang="en-US" sz="1050" dirty="0"/>
          </a:p>
        </p:txBody>
      </p:sp>
      <p:sp>
        <p:nvSpPr>
          <p:cNvPr id="16" name="Shape 14"/>
          <p:cNvSpPr/>
          <p:nvPr/>
        </p:nvSpPr>
        <p:spPr>
          <a:xfrm>
            <a:off x="548640" y="4626864"/>
            <a:ext cx="11064240" cy="1481328"/>
          </a:xfrm>
          <a:prstGeom prst="roundRect">
            <a:avLst>
              <a:gd name="adj" fmla="val 4938"/>
            </a:avLst>
          </a:prstGeom>
          <a:solidFill>
            <a:srgbClr val="3A2620"/>
          </a:solidFill>
          <a:ln w="12700">
            <a:solidFill>
              <a:srgbClr val="3A2620"/>
            </a:solidFill>
            <a:prstDash val="solid"/>
          </a:ln>
        </p:spPr>
      </p:sp>
      <p:sp>
        <p:nvSpPr>
          <p:cNvPr id="17" name="Shape 15"/>
          <p:cNvSpPr/>
          <p:nvPr/>
        </p:nvSpPr>
        <p:spPr>
          <a:xfrm>
            <a:off x="841248" y="4846320"/>
            <a:ext cx="402336" cy="402336"/>
          </a:xfrm>
          <a:prstGeom prst="ellipse">
            <a:avLst/>
          </a:prstGeom>
          <a:solidFill>
            <a:srgbClr val="B4453C"/>
          </a:solidFill>
          <a:ln w="12700">
            <a:solidFill>
              <a:srgbClr val="B4453C"/>
            </a:solidFill>
            <a:prstDash val="solid"/>
          </a:ln>
        </p:spPr>
      </p:sp>
      <p:sp>
        <p:nvSpPr>
          <p:cNvPr id="18" name="Text 16"/>
          <p:cNvSpPr/>
          <p:nvPr/>
        </p:nvSpPr>
        <p:spPr>
          <a:xfrm>
            <a:off x="841248" y="48463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1417320" y="4791456"/>
            <a:ext cx="99669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is the refund policy for a cancelled Umrah booking?</a:t>
            </a:r>
            <a:endParaRPr lang="en-US" sz="1300" dirty="0"/>
          </a:p>
        </p:txBody>
      </p:sp>
      <p:sp>
        <p:nvSpPr>
          <p:cNvPr id="20" name="Text 18"/>
          <p:cNvSpPr/>
          <p:nvPr/>
        </p:nvSpPr>
        <p:spPr>
          <a:xfrm>
            <a:off x="1417320" y="5129784"/>
            <a:ext cx="9966960" cy="566928"/>
          </a:xfrm>
          <a:prstGeom prst="rect">
            <a:avLst/>
          </a:prstGeom>
          <a:noFill/>
          <a:ln/>
        </p:spPr>
        <p:txBody>
          <a:bodyPr wrap="square" lIns="0" tIns="0" rIns="0" bIns="0" rtlCol="0" anchor="ctr"/>
          <a:lstStyle/>
          <a:p>
            <a:pPr indent="0" marL="0">
              <a:lnSpc>
                <a:spcPts val="1500"/>
              </a:lnSpc>
              <a:buNone/>
            </a:pPr>
            <a:r>
              <a:rPr lang="en-US" sz="1150" dirty="0">
                <a:solidFill>
                  <a:srgbClr val="CFE3D8"/>
                </a:solidFill>
                <a:latin typeface="Calibri" pitchFamily="34" charset="0"/>
                <a:ea typeface="Calibri" pitchFamily="34" charset="-122"/>
                <a:cs typeface="Calibri" pitchFamily="34" charset="-120"/>
              </a:rPr>
              <a:t>This is not covered in the available procedures.</a:t>
            </a:r>
            <a:endParaRPr lang="en-US" sz="1150" dirty="0"/>
          </a:p>
        </p:txBody>
      </p:sp>
      <p:sp>
        <p:nvSpPr>
          <p:cNvPr id="21" name="Text 19"/>
          <p:cNvSpPr/>
          <p:nvPr/>
        </p:nvSpPr>
        <p:spPr>
          <a:xfrm>
            <a:off x="1417320" y="5724144"/>
            <a:ext cx="9966960" cy="274320"/>
          </a:xfrm>
          <a:prstGeom prst="rect">
            <a:avLst/>
          </a:prstGeom>
          <a:noFill/>
          <a:ln/>
        </p:spPr>
        <p:txBody>
          <a:bodyPr wrap="square" lIns="0" tIns="0" rIns="0" bIns="0" rtlCol="0" anchor="ctr"/>
          <a:lstStyle/>
          <a:p>
            <a:pPr indent="0" marL="0">
              <a:buNone/>
            </a:pPr>
            <a:r>
              <a:rPr lang="en-US" sz="1050" i="1" dirty="0">
                <a:solidFill>
                  <a:srgbClr val="C8A951"/>
                </a:solidFill>
                <a:latin typeface="Calibri" pitchFamily="34" charset="0"/>
                <a:ea typeface="Calibri" pitchFamily="34" charset="-122"/>
                <a:cs typeface="Calibri" pitchFamily="34" charset="-120"/>
              </a:rPr>
              <a:t>Refusing is the most important behaviour of all — a model that invents a plausible policy is worse than useless.</a:t>
            </a:r>
            <a:endParaRPr lang="en-US" sz="1050" dirty="0"/>
          </a:p>
        </p:txBody>
      </p:sp>
      <p:sp>
        <p:nvSpPr>
          <p:cNvPr id="22" name="Text 20"/>
          <p:cNvSpPr/>
          <p:nvPr/>
        </p:nvSpPr>
        <p:spPr>
          <a:xfrm>
            <a:off x="548640" y="6263640"/>
            <a:ext cx="110642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Golden question set:  9 / 9 retrieved the right document   ·   9 / 9 cited it   ·   9 / 9 contained the right fact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DELIVERABLES 4 &amp; 5 · ORCHESTRATION, QUALITY, LINEAGE · 30 PTS</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When the gate fails, nothing downstream runs</a:t>
            </a:r>
            <a:endParaRPr lang="en-US" sz="3400" dirty="0"/>
          </a:p>
        </p:txBody>
      </p:sp>
      <p:sp>
        <p:nvSpPr>
          <p:cNvPr id="4" name="Shape 2"/>
          <p:cNvSpPr/>
          <p:nvPr/>
        </p:nvSpPr>
        <p:spPr>
          <a:xfrm>
            <a:off x="548640" y="1572768"/>
            <a:ext cx="6035040" cy="4343400"/>
          </a:xfrm>
          <a:prstGeom prst="roundRect">
            <a:avLst>
              <a:gd name="adj" fmla="val 1895"/>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841248" y="1773936"/>
            <a:ext cx="5486400" cy="274320"/>
          </a:xfrm>
          <a:prstGeom prst="rect">
            <a:avLst/>
          </a:prstGeom>
          <a:noFill/>
          <a:ln/>
        </p:spPr>
        <p:txBody>
          <a:bodyPr wrap="square" lIns="0" tIns="0" rIns="0" bIns="0" rtlCol="0" anchor="ctr"/>
          <a:lstStyle/>
          <a:p>
            <a:pPr indent="0" marL="0">
              <a:buNone/>
            </a:pPr>
            <a:r>
              <a:rPr lang="en-US" sz="1300" b="1" dirty="0">
                <a:solidFill>
                  <a:srgbClr val="12513C"/>
                </a:solidFill>
                <a:latin typeface="Calibri" pitchFamily="34" charset="0"/>
                <a:ea typeface="Calibri" pitchFamily="34" charset="-122"/>
                <a:cs typeface="Calibri" pitchFamily="34" charset="-120"/>
              </a:rPr>
              <a:t>A real Airflow run, with a deliberately degraded feed</a:t>
            </a:r>
            <a:endParaRPr lang="en-US" sz="1300" dirty="0"/>
          </a:p>
        </p:txBody>
      </p:sp>
      <p:sp>
        <p:nvSpPr>
          <p:cNvPr id="6" name="Shape 4"/>
          <p:cNvSpPr/>
          <p:nvPr/>
        </p:nvSpPr>
        <p:spPr>
          <a:xfrm>
            <a:off x="868680" y="2267712"/>
            <a:ext cx="182880" cy="182880"/>
          </a:xfrm>
          <a:prstGeom prst="ellipse">
            <a:avLst/>
          </a:prstGeom>
          <a:solidFill>
            <a:srgbClr val="2E7D5B"/>
          </a:solidFill>
          <a:ln w="12700">
            <a:solidFill>
              <a:srgbClr val="333333"/>
            </a:solidFill>
            <a:prstDash val="solid"/>
          </a:ln>
        </p:spPr>
      </p:sp>
      <p:sp>
        <p:nvSpPr>
          <p:cNvPr id="7" name="Text 5"/>
          <p:cNvSpPr/>
          <p:nvPr/>
        </p:nvSpPr>
        <p:spPr>
          <a:xfrm>
            <a:off x="1170432" y="2212848"/>
            <a:ext cx="3200400" cy="274320"/>
          </a:xfrm>
          <a:prstGeom prst="rect">
            <a:avLst/>
          </a:prstGeom>
          <a:noFill/>
          <a:ln/>
        </p:spPr>
        <p:txBody>
          <a:bodyPr wrap="square" lIns="0" tIns="0" rIns="0" bIns="0" rtlCol="0" anchor="ctr"/>
          <a:lstStyle/>
          <a:p>
            <a:pPr indent="0" marL="0">
              <a:buNone/>
            </a:pPr>
            <a:r>
              <a:rPr lang="en-US" sz="1100" dirty="0">
                <a:solidFill>
                  <a:srgbClr val="0A2E24"/>
                </a:solidFill>
                <a:latin typeface="Courier New" pitchFamily="34" charset="0"/>
                <a:ea typeface="Courier New" pitchFamily="34" charset="-122"/>
                <a:cs typeface="Courier New" pitchFamily="34" charset="-120"/>
              </a:rPr>
              <a:t>validate_bronze</a:t>
            </a:r>
            <a:endParaRPr lang="en-US" sz="1100" dirty="0"/>
          </a:p>
        </p:txBody>
      </p:sp>
      <p:sp>
        <p:nvSpPr>
          <p:cNvPr id="8" name="Text 6"/>
          <p:cNvSpPr/>
          <p:nvPr/>
        </p:nvSpPr>
        <p:spPr>
          <a:xfrm>
            <a:off x="4389120" y="2212848"/>
            <a:ext cx="2011680" cy="274320"/>
          </a:xfrm>
          <a:prstGeom prst="rect">
            <a:avLst/>
          </a:prstGeom>
          <a:noFill/>
          <a:ln/>
        </p:spPr>
        <p:txBody>
          <a:bodyPr wrap="square" lIns="0" tIns="0" rIns="0" bIns="0" rtlCol="0" anchor="ctr"/>
          <a:lstStyle/>
          <a:p>
            <a:pPr algn="r" indent="0" marL="0">
              <a:buNone/>
            </a:pPr>
            <a:r>
              <a:rPr lang="en-US" sz="1100" dirty="0">
                <a:solidFill>
                  <a:srgbClr val="2E7D5B"/>
                </a:solidFill>
                <a:latin typeface="Calibri" pitchFamily="34" charset="0"/>
                <a:ea typeface="Calibri" pitchFamily="34" charset="-122"/>
                <a:cs typeface="Calibri" pitchFamily="34" charset="-120"/>
              </a:rPr>
              <a:t>GATE 1 passed</a:t>
            </a:r>
            <a:endParaRPr lang="en-US" sz="1100" dirty="0"/>
          </a:p>
        </p:txBody>
      </p:sp>
      <p:sp>
        <p:nvSpPr>
          <p:cNvPr id="9" name="Shape 7"/>
          <p:cNvSpPr/>
          <p:nvPr/>
        </p:nvSpPr>
        <p:spPr>
          <a:xfrm>
            <a:off x="868680" y="2779776"/>
            <a:ext cx="182880" cy="182880"/>
          </a:xfrm>
          <a:prstGeom prst="ellipse">
            <a:avLst/>
          </a:prstGeom>
          <a:solidFill>
            <a:srgbClr val="2E7D5B"/>
          </a:solidFill>
          <a:ln w="12700">
            <a:solidFill>
              <a:srgbClr val="333333"/>
            </a:solidFill>
            <a:prstDash val="solid"/>
          </a:ln>
        </p:spPr>
      </p:sp>
      <p:sp>
        <p:nvSpPr>
          <p:cNvPr id="10" name="Text 8"/>
          <p:cNvSpPr/>
          <p:nvPr/>
        </p:nvSpPr>
        <p:spPr>
          <a:xfrm>
            <a:off x="1170432" y="2724912"/>
            <a:ext cx="3200400" cy="274320"/>
          </a:xfrm>
          <a:prstGeom prst="rect">
            <a:avLst/>
          </a:prstGeom>
          <a:noFill/>
          <a:ln/>
        </p:spPr>
        <p:txBody>
          <a:bodyPr wrap="square" lIns="0" tIns="0" rIns="0" bIns="0" rtlCol="0" anchor="ctr"/>
          <a:lstStyle/>
          <a:p>
            <a:pPr indent="0" marL="0">
              <a:buNone/>
            </a:pPr>
            <a:r>
              <a:rPr lang="en-US" sz="1100" dirty="0">
                <a:solidFill>
                  <a:srgbClr val="0A2E24"/>
                </a:solidFill>
                <a:latin typeface="Courier New" pitchFamily="34" charset="0"/>
                <a:ea typeface="Courier New" pitchFamily="34" charset="-122"/>
                <a:cs typeface="Courier New" pitchFamily="34" charset="-120"/>
              </a:rPr>
              <a:t>build_silver_occupancy</a:t>
            </a:r>
            <a:endParaRPr lang="en-US" sz="1100" dirty="0"/>
          </a:p>
        </p:txBody>
      </p:sp>
      <p:sp>
        <p:nvSpPr>
          <p:cNvPr id="11" name="Text 9"/>
          <p:cNvSpPr/>
          <p:nvPr/>
        </p:nvSpPr>
        <p:spPr>
          <a:xfrm>
            <a:off x="4389120" y="2724912"/>
            <a:ext cx="2011680" cy="274320"/>
          </a:xfrm>
          <a:prstGeom prst="rect">
            <a:avLst/>
          </a:prstGeom>
          <a:noFill/>
          <a:ln/>
        </p:spPr>
        <p:txBody>
          <a:bodyPr wrap="square" lIns="0" tIns="0" rIns="0" bIns="0" rtlCol="0" anchor="ctr"/>
          <a:lstStyle/>
          <a:p>
            <a:pPr algn="r" indent="0" marL="0">
              <a:buNone/>
            </a:pPr>
            <a:r>
              <a:rPr lang="en-US" sz="1100" dirty="0">
                <a:solidFill>
                  <a:srgbClr val="2E7D5B"/>
                </a:solidFill>
                <a:latin typeface="Calibri" pitchFamily="34" charset="0"/>
                <a:ea typeface="Calibri" pitchFamily="34" charset="-122"/>
                <a:cs typeface="Calibri" pitchFamily="34" charset="-120"/>
              </a:rPr>
              <a:t>ran normally</a:t>
            </a:r>
            <a:endParaRPr lang="en-US" sz="1100" dirty="0"/>
          </a:p>
        </p:txBody>
      </p:sp>
      <p:sp>
        <p:nvSpPr>
          <p:cNvPr id="12" name="Shape 10"/>
          <p:cNvSpPr/>
          <p:nvPr/>
        </p:nvSpPr>
        <p:spPr>
          <a:xfrm>
            <a:off x="868680" y="3291840"/>
            <a:ext cx="182880" cy="182880"/>
          </a:xfrm>
          <a:prstGeom prst="ellipse">
            <a:avLst/>
          </a:prstGeom>
          <a:solidFill>
            <a:srgbClr val="2E7D5B"/>
          </a:solidFill>
          <a:ln w="12700">
            <a:solidFill>
              <a:srgbClr val="333333"/>
            </a:solidFill>
            <a:prstDash val="solid"/>
          </a:ln>
        </p:spPr>
      </p:sp>
      <p:sp>
        <p:nvSpPr>
          <p:cNvPr id="13" name="Text 11"/>
          <p:cNvSpPr/>
          <p:nvPr/>
        </p:nvSpPr>
        <p:spPr>
          <a:xfrm>
            <a:off x="1170432" y="3236976"/>
            <a:ext cx="3200400" cy="274320"/>
          </a:xfrm>
          <a:prstGeom prst="rect">
            <a:avLst/>
          </a:prstGeom>
          <a:noFill/>
          <a:ln/>
        </p:spPr>
        <p:txBody>
          <a:bodyPr wrap="square" lIns="0" tIns="0" rIns="0" bIns="0" rtlCol="0" anchor="ctr"/>
          <a:lstStyle/>
          <a:p>
            <a:pPr indent="0" marL="0">
              <a:buNone/>
            </a:pPr>
            <a:r>
              <a:rPr lang="en-US" sz="1100" dirty="0">
                <a:solidFill>
                  <a:srgbClr val="0A2E24"/>
                </a:solidFill>
                <a:latin typeface="Courier New" pitchFamily="34" charset="0"/>
                <a:ea typeface="Courier New" pitchFamily="34" charset="-122"/>
                <a:cs typeface="Courier New" pitchFamily="34" charset="-120"/>
              </a:rPr>
              <a:t>build_silver_requests_merge</a:t>
            </a:r>
            <a:endParaRPr lang="en-US" sz="1100" dirty="0"/>
          </a:p>
        </p:txBody>
      </p:sp>
      <p:sp>
        <p:nvSpPr>
          <p:cNvPr id="14" name="Text 12"/>
          <p:cNvSpPr/>
          <p:nvPr/>
        </p:nvSpPr>
        <p:spPr>
          <a:xfrm>
            <a:off x="4389120" y="3236976"/>
            <a:ext cx="2011680" cy="274320"/>
          </a:xfrm>
          <a:prstGeom prst="rect">
            <a:avLst/>
          </a:prstGeom>
          <a:noFill/>
          <a:ln/>
        </p:spPr>
        <p:txBody>
          <a:bodyPr wrap="square" lIns="0" tIns="0" rIns="0" bIns="0" rtlCol="0" anchor="ctr"/>
          <a:lstStyle/>
          <a:p>
            <a:pPr algn="r" indent="0" marL="0">
              <a:buNone/>
            </a:pPr>
            <a:r>
              <a:rPr lang="en-US" sz="1100" dirty="0">
                <a:solidFill>
                  <a:srgbClr val="2E7D5B"/>
                </a:solidFill>
                <a:latin typeface="Calibri" pitchFamily="34" charset="0"/>
                <a:ea typeface="Calibri" pitchFamily="34" charset="-122"/>
                <a:cs typeface="Calibri" pitchFamily="34" charset="-120"/>
              </a:rPr>
              <a:t>ran normally</a:t>
            </a:r>
            <a:endParaRPr lang="en-US" sz="1100" dirty="0"/>
          </a:p>
        </p:txBody>
      </p:sp>
      <p:sp>
        <p:nvSpPr>
          <p:cNvPr id="15" name="Shape 13"/>
          <p:cNvSpPr/>
          <p:nvPr/>
        </p:nvSpPr>
        <p:spPr>
          <a:xfrm>
            <a:off x="868680" y="3803904"/>
            <a:ext cx="182880" cy="182880"/>
          </a:xfrm>
          <a:prstGeom prst="ellipse">
            <a:avLst/>
          </a:prstGeom>
          <a:solidFill>
            <a:srgbClr val="B4453C"/>
          </a:solidFill>
          <a:ln w="12700">
            <a:solidFill>
              <a:srgbClr val="333333"/>
            </a:solidFill>
            <a:prstDash val="solid"/>
          </a:ln>
        </p:spPr>
      </p:sp>
      <p:sp>
        <p:nvSpPr>
          <p:cNvPr id="16" name="Text 14"/>
          <p:cNvSpPr/>
          <p:nvPr/>
        </p:nvSpPr>
        <p:spPr>
          <a:xfrm>
            <a:off x="1170432" y="3749040"/>
            <a:ext cx="3200400" cy="274320"/>
          </a:xfrm>
          <a:prstGeom prst="rect">
            <a:avLst/>
          </a:prstGeom>
          <a:noFill/>
          <a:ln/>
        </p:spPr>
        <p:txBody>
          <a:bodyPr wrap="square" lIns="0" tIns="0" rIns="0" bIns="0" rtlCol="0" anchor="ctr"/>
          <a:lstStyle/>
          <a:p>
            <a:pPr indent="0" marL="0">
              <a:buNone/>
            </a:pPr>
            <a:r>
              <a:rPr lang="en-US" sz="1100" dirty="0">
                <a:solidFill>
                  <a:srgbClr val="0A2E24"/>
                </a:solidFill>
                <a:latin typeface="Courier New" pitchFamily="34" charset="0"/>
                <a:ea typeface="Courier New" pitchFamily="34" charset="-122"/>
                <a:cs typeface="Courier New" pitchFamily="34" charset="-120"/>
              </a:rPr>
              <a:t>validate_silver</a:t>
            </a:r>
            <a:endParaRPr lang="en-US" sz="1100" dirty="0"/>
          </a:p>
        </p:txBody>
      </p:sp>
      <p:sp>
        <p:nvSpPr>
          <p:cNvPr id="17" name="Text 15"/>
          <p:cNvSpPr/>
          <p:nvPr/>
        </p:nvSpPr>
        <p:spPr>
          <a:xfrm>
            <a:off x="4389120" y="3749040"/>
            <a:ext cx="2011680" cy="274320"/>
          </a:xfrm>
          <a:prstGeom prst="rect">
            <a:avLst/>
          </a:prstGeom>
          <a:noFill/>
          <a:ln/>
        </p:spPr>
        <p:txBody>
          <a:bodyPr wrap="square" lIns="0" tIns="0" rIns="0" bIns="0" rtlCol="0" anchor="ctr"/>
          <a:lstStyle/>
          <a:p>
            <a:pPr algn="r" indent="0" marL="0">
              <a:buNone/>
            </a:pPr>
            <a:r>
              <a:rPr lang="en-US" sz="1100" b="1" dirty="0">
                <a:solidFill>
                  <a:srgbClr val="B4453C"/>
                </a:solidFill>
                <a:latin typeface="Calibri" pitchFamily="34" charset="0"/>
                <a:ea typeface="Calibri" pitchFamily="34" charset="-122"/>
                <a:cs typeface="Calibri" pitchFamily="34" charset="-120"/>
              </a:rPr>
              <a:t>GATE 2 FAILED</a:t>
            </a:r>
            <a:endParaRPr lang="en-US" sz="1100" dirty="0"/>
          </a:p>
        </p:txBody>
      </p:sp>
      <p:sp>
        <p:nvSpPr>
          <p:cNvPr id="18" name="Shape 16"/>
          <p:cNvSpPr/>
          <p:nvPr/>
        </p:nvSpPr>
        <p:spPr>
          <a:xfrm>
            <a:off x="868680" y="4315968"/>
            <a:ext cx="182880" cy="182880"/>
          </a:xfrm>
          <a:prstGeom prst="ellipse">
            <a:avLst/>
          </a:prstGeom>
          <a:solidFill>
            <a:srgbClr val="B8860B"/>
          </a:solidFill>
          <a:ln w="12700">
            <a:solidFill>
              <a:srgbClr val="333333"/>
            </a:solidFill>
            <a:prstDash val="solid"/>
          </a:ln>
        </p:spPr>
      </p:sp>
      <p:sp>
        <p:nvSpPr>
          <p:cNvPr id="19" name="Text 17"/>
          <p:cNvSpPr/>
          <p:nvPr/>
        </p:nvSpPr>
        <p:spPr>
          <a:xfrm>
            <a:off x="1170432" y="4261104"/>
            <a:ext cx="3200400" cy="274320"/>
          </a:xfrm>
          <a:prstGeom prst="rect">
            <a:avLst/>
          </a:prstGeom>
          <a:noFill/>
          <a:ln/>
        </p:spPr>
        <p:txBody>
          <a:bodyPr wrap="square" lIns="0" tIns="0" rIns="0" bIns="0" rtlCol="0" anchor="ctr"/>
          <a:lstStyle/>
          <a:p>
            <a:pPr indent="0" marL="0">
              <a:buNone/>
            </a:pPr>
            <a:r>
              <a:rPr lang="en-US" sz="1100" dirty="0">
                <a:solidFill>
                  <a:srgbClr val="0A2E24"/>
                </a:solidFill>
                <a:latin typeface="Courier New" pitchFamily="34" charset="0"/>
                <a:ea typeface="Courier New" pitchFamily="34" charset="-122"/>
                <a:cs typeface="Courier New" pitchFamily="34" charset="-120"/>
              </a:rPr>
              <a:t>build_gold_zone_hourly</a:t>
            </a:r>
            <a:endParaRPr lang="en-US" sz="1100" dirty="0"/>
          </a:p>
        </p:txBody>
      </p:sp>
      <p:sp>
        <p:nvSpPr>
          <p:cNvPr id="20" name="Text 18"/>
          <p:cNvSpPr/>
          <p:nvPr/>
        </p:nvSpPr>
        <p:spPr>
          <a:xfrm>
            <a:off x="4389120" y="4261104"/>
            <a:ext cx="2011680" cy="274320"/>
          </a:xfrm>
          <a:prstGeom prst="rect">
            <a:avLst/>
          </a:prstGeom>
          <a:noFill/>
          <a:ln/>
        </p:spPr>
        <p:txBody>
          <a:bodyPr wrap="square" lIns="0" tIns="0" rIns="0" bIns="0" rtlCol="0" anchor="ctr"/>
          <a:lstStyle/>
          <a:p>
            <a:pPr algn="r" indent="0" marL="0">
              <a:buNone/>
            </a:pPr>
            <a:r>
              <a:rPr lang="en-US" sz="1100" b="1" dirty="0">
                <a:solidFill>
                  <a:srgbClr val="B8860B"/>
                </a:solidFill>
                <a:latin typeface="Calibri" pitchFamily="34" charset="0"/>
                <a:ea typeface="Calibri" pitchFamily="34" charset="-122"/>
                <a:cs typeface="Calibri" pitchFamily="34" charset="-120"/>
              </a:rPr>
              <a:t>never executed</a:t>
            </a:r>
            <a:endParaRPr lang="en-US" sz="1100" dirty="0"/>
          </a:p>
        </p:txBody>
      </p:sp>
      <p:sp>
        <p:nvSpPr>
          <p:cNvPr id="21" name="Shape 19"/>
          <p:cNvSpPr/>
          <p:nvPr/>
        </p:nvSpPr>
        <p:spPr>
          <a:xfrm>
            <a:off x="868680" y="4828032"/>
            <a:ext cx="182880" cy="182880"/>
          </a:xfrm>
          <a:prstGeom prst="ellipse">
            <a:avLst/>
          </a:prstGeom>
          <a:solidFill>
            <a:srgbClr val="B8860B"/>
          </a:solidFill>
          <a:ln w="12700">
            <a:solidFill>
              <a:srgbClr val="333333"/>
            </a:solidFill>
            <a:prstDash val="solid"/>
          </a:ln>
        </p:spPr>
      </p:sp>
      <p:sp>
        <p:nvSpPr>
          <p:cNvPr id="22" name="Text 20"/>
          <p:cNvSpPr/>
          <p:nvPr/>
        </p:nvSpPr>
        <p:spPr>
          <a:xfrm>
            <a:off x="1170432" y="4773168"/>
            <a:ext cx="3200400" cy="274320"/>
          </a:xfrm>
          <a:prstGeom prst="rect">
            <a:avLst/>
          </a:prstGeom>
          <a:noFill/>
          <a:ln/>
        </p:spPr>
        <p:txBody>
          <a:bodyPr wrap="square" lIns="0" tIns="0" rIns="0" bIns="0" rtlCol="0" anchor="ctr"/>
          <a:lstStyle/>
          <a:p>
            <a:pPr indent="0" marL="0">
              <a:buNone/>
            </a:pPr>
            <a:r>
              <a:rPr lang="en-US" sz="1100" dirty="0">
                <a:solidFill>
                  <a:srgbClr val="0A2E24"/>
                </a:solidFill>
                <a:latin typeface="Courier New" pitchFamily="34" charset="0"/>
                <a:ea typeface="Courier New" pitchFamily="34" charset="-122"/>
                <a:cs typeface="Courier New" pitchFamily="34" charset="-120"/>
              </a:rPr>
              <a:t>refresh_rag_index</a:t>
            </a:r>
            <a:endParaRPr lang="en-US" sz="1100" dirty="0"/>
          </a:p>
        </p:txBody>
      </p:sp>
      <p:sp>
        <p:nvSpPr>
          <p:cNvPr id="23" name="Text 21"/>
          <p:cNvSpPr/>
          <p:nvPr/>
        </p:nvSpPr>
        <p:spPr>
          <a:xfrm>
            <a:off x="4389120" y="4773168"/>
            <a:ext cx="2011680" cy="274320"/>
          </a:xfrm>
          <a:prstGeom prst="rect">
            <a:avLst/>
          </a:prstGeom>
          <a:noFill/>
          <a:ln/>
        </p:spPr>
        <p:txBody>
          <a:bodyPr wrap="square" lIns="0" tIns="0" rIns="0" bIns="0" rtlCol="0" anchor="ctr"/>
          <a:lstStyle/>
          <a:p>
            <a:pPr algn="r" indent="0" marL="0">
              <a:buNone/>
            </a:pPr>
            <a:r>
              <a:rPr lang="en-US" sz="1100" b="1" dirty="0">
                <a:solidFill>
                  <a:srgbClr val="B8860B"/>
                </a:solidFill>
                <a:latin typeface="Calibri" pitchFamily="34" charset="0"/>
                <a:ea typeface="Calibri" pitchFamily="34" charset="-122"/>
                <a:cs typeface="Calibri" pitchFamily="34" charset="-120"/>
              </a:rPr>
              <a:t>never executed</a:t>
            </a:r>
            <a:endParaRPr lang="en-US" sz="1100" dirty="0"/>
          </a:p>
        </p:txBody>
      </p:sp>
      <p:sp>
        <p:nvSpPr>
          <p:cNvPr id="24" name="Shape 22"/>
          <p:cNvSpPr/>
          <p:nvPr/>
        </p:nvSpPr>
        <p:spPr>
          <a:xfrm>
            <a:off x="868680" y="5340096"/>
            <a:ext cx="182880" cy="182880"/>
          </a:xfrm>
          <a:prstGeom prst="ellipse">
            <a:avLst/>
          </a:prstGeom>
          <a:solidFill>
            <a:srgbClr val="B8860B"/>
          </a:solidFill>
          <a:ln w="12700">
            <a:solidFill>
              <a:srgbClr val="333333"/>
            </a:solidFill>
            <a:prstDash val="solid"/>
          </a:ln>
        </p:spPr>
      </p:sp>
      <p:sp>
        <p:nvSpPr>
          <p:cNvPr id="25" name="Text 23"/>
          <p:cNvSpPr/>
          <p:nvPr/>
        </p:nvSpPr>
        <p:spPr>
          <a:xfrm>
            <a:off x="1170432" y="5285232"/>
            <a:ext cx="3200400" cy="274320"/>
          </a:xfrm>
          <a:prstGeom prst="rect">
            <a:avLst/>
          </a:prstGeom>
          <a:noFill/>
          <a:ln/>
        </p:spPr>
        <p:txBody>
          <a:bodyPr wrap="square" lIns="0" tIns="0" rIns="0" bIns="0" rtlCol="0" anchor="ctr"/>
          <a:lstStyle/>
          <a:p>
            <a:pPr indent="0" marL="0">
              <a:buNone/>
            </a:pPr>
            <a:r>
              <a:rPr lang="en-US" sz="1100" dirty="0">
                <a:solidFill>
                  <a:srgbClr val="0A2E24"/>
                </a:solidFill>
                <a:latin typeface="Courier New" pitchFamily="34" charset="0"/>
                <a:ea typeface="Courier New" pitchFamily="34" charset="-122"/>
                <a:cs typeface="Courier New" pitchFamily="34" charset="-120"/>
              </a:rPr>
              <a:t>smoke_test_rag</a:t>
            </a:r>
            <a:endParaRPr lang="en-US" sz="1100" dirty="0"/>
          </a:p>
        </p:txBody>
      </p:sp>
      <p:sp>
        <p:nvSpPr>
          <p:cNvPr id="26" name="Text 24"/>
          <p:cNvSpPr/>
          <p:nvPr/>
        </p:nvSpPr>
        <p:spPr>
          <a:xfrm>
            <a:off x="4389120" y="5285232"/>
            <a:ext cx="2011680" cy="274320"/>
          </a:xfrm>
          <a:prstGeom prst="rect">
            <a:avLst/>
          </a:prstGeom>
          <a:noFill/>
          <a:ln/>
        </p:spPr>
        <p:txBody>
          <a:bodyPr wrap="square" lIns="0" tIns="0" rIns="0" bIns="0" rtlCol="0" anchor="ctr"/>
          <a:lstStyle/>
          <a:p>
            <a:pPr algn="r" indent="0" marL="0">
              <a:buNone/>
            </a:pPr>
            <a:r>
              <a:rPr lang="en-US" sz="1100" b="1" dirty="0">
                <a:solidFill>
                  <a:srgbClr val="B8860B"/>
                </a:solidFill>
                <a:latin typeface="Calibri" pitchFamily="34" charset="0"/>
                <a:ea typeface="Calibri" pitchFamily="34" charset="-122"/>
                <a:cs typeface="Calibri" pitchFamily="34" charset="-120"/>
              </a:rPr>
              <a:t>never executed</a:t>
            </a:r>
            <a:endParaRPr lang="en-US" sz="1100" dirty="0"/>
          </a:p>
        </p:txBody>
      </p:sp>
      <p:sp>
        <p:nvSpPr>
          <p:cNvPr id="27" name="Shape 25"/>
          <p:cNvSpPr/>
          <p:nvPr/>
        </p:nvSpPr>
        <p:spPr>
          <a:xfrm>
            <a:off x="6812280" y="1572768"/>
            <a:ext cx="4800600" cy="2057400"/>
          </a:xfrm>
          <a:prstGeom prst="roundRect">
            <a:avLst>
              <a:gd name="adj" fmla="val 4000"/>
            </a:avLst>
          </a:prstGeom>
          <a:solidFill>
            <a:srgbClr val="12513C"/>
          </a:solidFill>
          <a:ln w="12700">
            <a:solidFill>
              <a:srgbClr val="12513C"/>
            </a:solidFill>
            <a:prstDash val="solid"/>
          </a:ln>
          <a:effectLst>
            <a:outerShdw sx="100000" sy="100000" kx="0" ky="0" algn="bl" rotWithShape="0" blurRad="127000" dist="19050" dir="5400000">
              <a:srgbClr val="1A1A1A">
                <a:alpha val="10000"/>
              </a:srgbClr>
            </a:outerShdw>
          </a:effectLst>
        </p:spPr>
      </p:sp>
      <p:sp>
        <p:nvSpPr>
          <p:cNvPr id="28" name="Text 26"/>
          <p:cNvSpPr/>
          <p:nvPr/>
        </p:nvSpPr>
        <p:spPr>
          <a:xfrm>
            <a:off x="7104888" y="1773936"/>
            <a:ext cx="4206240" cy="274320"/>
          </a:xfrm>
          <a:prstGeom prst="rect">
            <a:avLst/>
          </a:prstGeom>
          <a:noFill/>
          <a:ln/>
        </p:spPr>
        <p:txBody>
          <a:bodyPr wrap="square" lIns="0" tIns="0" rIns="0" bIns="0" rtlCol="0" anchor="ctr"/>
          <a:lstStyle/>
          <a:p>
            <a:pPr indent="0" marL="0">
              <a:buNone/>
            </a:pPr>
            <a:r>
              <a:rPr lang="en-US" sz="1350" b="1" dirty="0">
                <a:solidFill>
                  <a:srgbClr val="C8A951"/>
                </a:solidFill>
                <a:latin typeface="Calibri" pitchFamily="34" charset="0"/>
                <a:ea typeface="Calibri" pitchFamily="34" charset="-122"/>
                <a:cs typeface="Calibri" pitchFamily="34" charset="-120"/>
              </a:rPr>
              <a:t>The gate genuinely gates</a:t>
            </a:r>
            <a:endParaRPr lang="en-US" sz="1350" dirty="0"/>
          </a:p>
        </p:txBody>
      </p:sp>
      <p:sp>
        <p:nvSpPr>
          <p:cNvPr id="29" name="Text 27"/>
          <p:cNvSpPr/>
          <p:nvPr/>
        </p:nvSpPr>
        <p:spPr>
          <a:xfrm>
            <a:off x="7104888" y="2139696"/>
            <a:ext cx="4206240" cy="1371600"/>
          </a:xfrm>
          <a:prstGeom prst="rect">
            <a:avLst/>
          </a:prstGeom>
          <a:noFill/>
          <a:ln/>
        </p:spPr>
        <p:txBody>
          <a:bodyPr wrap="square" lIns="0" tIns="0" rIns="0" bIns="0" rtlCol="0" anchor="ctr"/>
          <a:lstStyle/>
          <a:p>
            <a:pPr indent="0" marL="0">
              <a:lnSpc>
                <a:spcPts val="1600"/>
              </a:lnSpc>
              <a:buNone/>
            </a:pPr>
            <a:r>
              <a:rPr lang="en-US" sz="1150" dirty="0">
                <a:solidFill>
                  <a:srgbClr val="CFE3D8"/>
                </a:solidFill>
                <a:latin typeface="Calibri" pitchFamily="34" charset="0"/>
                <a:ea typeface="Calibri" pitchFamily="34" charset="-122"/>
                <a:cs typeface="Calibri" pitchFamily="34" charset="-120"/>
              </a:rPr>
              <a:t>A failing Great Expectations checkpoint raises, exits non-zero, and turns the Airflow task red. Airflow's default rule then leaves everything downstream upstream_failed. The pipeline stops rather than publishing numbers nobody should trust.</a:t>
            </a:r>
            <a:endParaRPr lang="en-US" sz="1150" dirty="0"/>
          </a:p>
        </p:txBody>
      </p:sp>
      <p:sp>
        <p:nvSpPr>
          <p:cNvPr id="30" name="Shape 28"/>
          <p:cNvSpPr/>
          <p:nvPr/>
        </p:nvSpPr>
        <p:spPr>
          <a:xfrm>
            <a:off x="6812280" y="3858768"/>
            <a:ext cx="4800600" cy="2057400"/>
          </a:xfrm>
          <a:prstGeom prst="roundRect">
            <a:avLst>
              <a:gd name="adj" fmla="val 4000"/>
            </a:avLst>
          </a:prstGeom>
          <a:solidFill>
            <a:srgbClr val="FBF3E0"/>
          </a:solidFill>
          <a:ln w="12700">
            <a:solidFill>
              <a:srgbClr val="FBF3E0"/>
            </a:solidFill>
            <a:prstDash val="solid"/>
          </a:ln>
          <a:effectLst>
            <a:outerShdw sx="100000" sy="100000" kx="0" ky="0" algn="bl" rotWithShape="0" blurRad="127000" dist="19050" dir="5400000">
              <a:srgbClr val="1A1A1A">
                <a:alpha val="10000"/>
              </a:srgbClr>
            </a:outerShdw>
          </a:effectLst>
        </p:spPr>
      </p:sp>
      <p:sp>
        <p:nvSpPr>
          <p:cNvPr id="31" name="Text 29"/>
          <p:cNvSpPr/>
          <p:nvPr/>
        </p:nvSpPr>
        <p:spPr>
          <a:xfrm>
            <a:off x="7104888" y="4059936"/>
            <a:ext cx="4206240" cy="274320"/>
          </a:xfrm>
          <a:prstGeom prst="rect">
            <a:avLst/>
          </a:prstGeom>
          <a:noFill/>
          <a:ln/>
        </p:spPr>
        <p:txBody>
          <a:bodyPr wrap="square" lIns="0" tIns="0" rIns="0" bIns="0" rtlCol="0" anchor="ctr"/>
          <a:lstStyle/>
          <a:p>
            <a:pPr indent="0" marL="0">
              <a:buNone/>
            </a:pPr>
            <a:r>
              <a:rPr lang="en-US" sz="1300" b="1" dirty="0">
                <a:solidFill>
                  <a:srgbClr val="8A6D1F"/>
                </a:solidFill>
                <a:latin typeface="Calibri" pitchFamily="34" charset="0"/>
                <a:ea typeface="Calibri" pitchFamily="34" charset="-122"/>
                <a:cs typeface="Calibri" pitchFamily="34" charset="-120"/>
              </a:rPr>
              <a:t>Why a volume check, not a value check?</a:t>
            </a:r>
            <a:endParaRPr lang="en-US" sz="1300" dirty="0"/>
          </a:p>
        </p:txBody>
      </p:sp>
      <p:sp>
        <p:nvSpPr>
          <p:cNvPr id="32" name="Text 30"/>
          <p:cNvSpPr/>
          <p:nvPr/>
        </p:nvSpPr>
        <p:spPr>
          <a:xfrm>
            <a:off x="7104888" y="4425696"/>
            <a:ext cx="4206240" cy="1371600"/>
          </a:xfrm>
          <a:prstGeom prst="rect">
            <a:avLst/>
          </a:prstGeom>
          <a:noFill/>
          <a:ln/>
        </p:spPr>
        <p:txBody>
          <a:bodyPr wrap="square" lIns="0" tIns="0" rIns="0" bIns="0" rtlCol="0" anchor="ctr"/>
          <a:lstStyle/>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The contract already keeps malformed records out of bronze — they go to the dead-letter queue. So the gate never sees bad values. What it catches is a volume shortfall: far fewer rows than expected. That is the volume pillar catching an upstream incident that row-level checks structurally cannot see.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DELIVERABLE 5 · LINEAGE</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Every stage reports what it read and what it wrote</a:t>
            </a:r>
            <a:endParaRPr lang="en-US" sz="3400" dirty="0"/>
          </a:p>
        </p:txBody>
      </p:sp>
      <p:sp>
        <p:nvSpPr>
          <p:cNvPr id="4" name="Shape 2"/>
          <p:cNvSpPr/>
          <p:nvPr/>
        </p:nvSpPr>
        <p:spPr>
          <a:xfrm>
            <a:off x="548640" y="1600200"/>
            <a:ext cx="5394960" cy="2194560"/>
          </a:xfrm>
          <a:prstGeom prst="roundRect">
            <a:avLst>
              <a:gd name="adj" fmla="val 3750"/>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841248" y="1801368"/>
            <a:ext cx="4846320" cy="274320"/>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OpenLineage, one line per stage</a:t>
            </a:r>
            <a:endParaRPr lang="en-US" sz="1400" dirty="0"/>
          </a:p>
        </p:txBody>
      </p:sp>
      <p:sp>
        <p:nvSpPr>
          <p:cNvPr id="6" name="Text 4"/>
          <p:cNvSpPr/>
          <p:nvPr/>
        </p:nvSpPr>
        <p:spPr>
          <a:xfrm>
            <a:off x="841248" y="2194560"/>
            <a:ext cx="4846320" cy="1463040"/>
          </a:xfrm>
          <a:prstGeom prst="rect">
            <a:avLst/>
          </a:prstGeom>
          <a:noFill/>
          <a:ln/>
        </p:spPr>
        <p:txBody>
          <a:bodyPr wrap="square" lIns="0" tIns="0" rIns="0" bIns="0" rtlCol="0" anchor="ctr"/>
          <a:lstStyle/>
          <a:p>
            <a:pPr indent="0" marL="0">
              <a:lnSpc>
                <a:spcPts val="1700"/>
              </a:lnSpc>
              <a:buNone/>
            </a:pPr>
            <a:r>
              <a:rPr lang="en-US" sz="1200" dirty="0">
                <a:solidFill>
                  <a:srgbClr val="3D4A44"/>
                </a:solidFill>
                <a:latin typeface="Calibri" pitchFamily="34" charset="0"/>
                <a:ea typeface="Calibri" pitchFamily="34" charset="-122"/>
                <a:cs typeface="Calibri" pitchFamily="34" charset="-120"/>
              </a:rPr>
              <a:t>Each stage emits START before it reads, COMPLETE after it writes — with the output row count attached — and FAIL from its exception handler.</a:t>
            </a:r>
            <a:endParaRPr lang="en-US" sz="1200" dirty="0"/>
          </a:p>
          <a:p>
            <a:pPr indent="0" marL="0">
              <a:lnSpc>
                <a:spcPts val="1700"/>
              </a:lnSpc>
              <a:buNone/>
            </a:pPr>
            <a:endParaRPr lang="en-US" sz="1200" dirty="0"/>
          </a:p>
          <a:p>
            <a:pPr indent="0" marL="0">
              <a:lnSpc>
                <a:spcPts val="1700"/>
              </a:lnSpc>
              <a:buNone/>
            </a:pPr>
            <a:r>
              <a:rPr lang="en-US" sz="1200" dirty="0">
                <a:solidFill>
                  <a:srgbClr val="3D4A44"/>
                </a:solidFill>
                <a:latin typeface="Calibri" pitchFamily="34" charset="0"/>
                <a:ea typeface="Calibri" pitchFamily="34" charset="-122"/>
                <a:cs typeface="Calibri" pitchFamily="34" charset="-120"/>
              </a:rPr>
              <a:t>It is written as a context manager, so instrumenting a stage costs one line and required zero changes to the pipeline logic itself.</a:t>
            </a:r>
            <a:endParaRPr lang="en-US" sz="1200" dirty="0"/>
          </a:p>
        </p:txBody>
      </p:sp>
      <p:sp>
        <p:nvSpPr>
          <p:cNvPr id="7" name="Shape 5"/>
          <p:cNvSpPr/>
          <p:nvPr/>
        </p:nvSpPr>
        <p:spPr>
          <a:xfrm>
            <a:off x="6172200" y="1600200"/>
            <a:ext cx="5440680" cy="2194560"/>
          </a:xfrm>
          <a:prstGeom prst="roundRect">
            <a:avLst>
              <a:gd name="adj" fmla="val 3750"/>
            </a:avLst>
          </a:prstGeom>
          <a:solidFill>
            <a:srgbClr val="12513C"/>
          </a:solidFill>
          <a:ln w="12700">
            <a:solidFill>
              <a:srgbClr val="12513C"/>
            </a:solidFill>
            <a:prstDash val="solid"/>
          </a:ln>
          <a:effectLst>
            <a:outerShdw sx="100000" sy="100000" kx="0" ky="0" algn="bl" rotWithShape="0" blurRad="127000" dist="19050" dir="5400000">
              <a:srgbClr val="1A1A1A">
                <a:alpha val="10000"/>
              </a:srgbClr>
            </a:outerShdw>
          </a:effectLst>
        </p:spPr>
      </p:sp>
      <p:sp>
        <p:nvSpPr>
          <p:cNvPr id="8" name="Text 6"/>
          <p:cNvSpPr/>
          <p:nvPr/>
        </p:nvSpPr>
        <p:spPr>
          <a:xfrm>
            <a:off x="6464808" y="1801368"/>
            <a:ext cx="2194560" cy="274320"/>
          </a:xfrm>
          <a:prstGeom prst="rect">
            <a:avLst/>
          </a:prstGeom>
          <a:noFill/>
          <a:ln/>
        </p:spPr>
        <p:txBody>
          <a:bodyPr wrap="square" lIns="0" tIns="0" rIns="0" bIns="0" rtlCol="0" anchor="ctr"/>
          <a:lstStyle/>
          <a:p>
            <a:pPr indent="0" marL="0">
              <a:buNone/>
            </a:pPr>
            <a:r>
              <a:rPr lang="en-US" sz="1300" b="1" dirty="0">
                <a:solidFill>
                  <a:srgbClr val="C8A951"/>
                </a:solidFill>
                <a:latin typeface="Calibri" pitchFamily="34" charset="0"/>
                <a:ea typeface="Calibri" pitchFamily="34" charset="-122"/>
                <a:cs typeface="Calibri" pitchFamily="34" charset="-120"/>
              </a:rPr>
              <a:t>Healthy run</a:t>
            </a:r>
            <a:endParaRPr lang="en-US" sz="1300" dirty="0"/>
          </a:p>
        </p:txBody>
      </p:sp>
      <p:sp>
        <p:nvSpPr>
          <p:cNvPr id="9" name="Text 7"/>
          <p:cNvSpPr/>
          <p:nvPr/>
        </p:nvSpPr>
        <p:spPr>
          <a:xfrm>
            <a:off x="6464808" y="2121408"/>
            <a:ext cx="4846320" cy="32004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8 START   ·   8 COMPLETE   ·   0 FAIL</a:t>
            </a:r>
            <a:endParaRPr lang="en-US" sz="1300" dirty="0"/>
          </a:p>
        </p:txBody>
      </p:sp>
      <p:sp>
        <p:nvSpPr>
          <p:cNvPr id="10" name="Text 8"/>
          <p:cNvSpPr/>
          <p:nvPr/>
        </p:nvSpPr>
        <p:spPr>
          <a:xfrm>
            <a:off x="6464808" y="2606040"/>
            <a:ext cx="2377440" cy="274320"/>
          </a:xfrm>
          <a:prstGeom prst="rect">
            <a:avLst/>
          </a:prstGeom>
          <a:noFill/>
          <a:ln/>
        </p:spPr>
        <p:txBody>
          <a:bodyPr wrap="square" lIns="0" tIns="0" rIns="0" bIns="0" rtlCol="0" anchor="ctr"/>
          <a:lstStyle/>
          <a:p>
            <a:pPr indent="0" marL="0">
              <a:buNone/>
            </a:pPr>
            <a:r>
              <a:rPr lang="en-US" sz="1300" b="1" dirty="0">
                <a:solidFill>
                  <a:srgbClr val="C8A951"/>
                </a:solidFill>
                <a:latin typeface="Calibri" pitchFamily="34" charset="0"/>
                <a:ea typeface="Calibri" pitchFamily="34" charset="-122"/>
                <a:cs typeface="Calibri" pitchFamily="34" charset="-120"/>
              </a:rPr>
              <a:t>Gate-failure run</a:t>
            </a:r>
            <a:endParaRPr lang="en-US" sz="1300" dirty="0"/>
          </a:p>
        </p:txBody>
      </p:sp>
      <p:sp>
        <p:nvSpPr>
          <p:cNvPr id="11" name="Text 9"/>
          <p:cNvSpPr/>
          <p:nvPr/>
        </p:nvSpPr>
        <p:spPr>
          <a:xfrm>
            <a:off x="6464808" y="2926080"/>
            <a:ext cx="4846320" cy="32004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9 START   ·   5 COMPLETE   ·   4 FAIL</a:t>
            </a:r>
            <a:endParaRPr lang="en-US" sz="1300" dirty="0"/>
          </a:p>
        </p:txBody>
      </p:sp>
      <p:sp>
        <p:nvSpPr>
          <p:cNvPr id="12" name="Text 10"/>
          <p:cNvSpPr/>
          <p:nvPr/>
        </p:nvSpPr>
        <p:spPr>
          <a:xfrm>
            <a:off x="6464808" y="3310128"/>
            <a:ext cx="4846320" cy="320040"/>
          </a:xfrm>
          <a:prstGeom prst="rect">
            <a:avLst/>
          </a:prstGeom>
          <a:noFill/>
          <a:ln/>
        </p:spPr>
        <p:txBody>
          <a:bodyPr wrap="square" lIns="0" tIns="0" rIns="0" bIns="0" rtlCol="0" anchor="ctr"/>
          <a:lstStyle/>
          <a:p>
            <a:pPr indent="0" marL="0">
              <a:buNone/>
            </a:pPr>
            <a:r>
              <a:rPr lang="en-US" sz="1100" i="1" dirty="0">
                <a:solidFill>
                  <a:srgbClr val="CFE3D8"/>
                </a:solidFill>
                <a:latin typeface="Calibri" pitchFamily="34" charset="0"/>
                <a:ea typeface="Calibri" pitchFamily="34" charset="-122"/>
                <a:cs typeface="Calibri" pitchFamily="34" charset="-120"/>
              </a:rPr>
              <a:t>The lineage stream alone tells you which stage broke, and why.</a:t>
            </a:r>
            <a:endParaRPr lang="en-US" sz="1100" dirty="0"/>
          </a:p>
        </p:txBody>
      </p:sp>
      <p:sp>
        <p:nvSpPr>
          <p:cNvPr id="13" name="Shape 11"/>
          <p:cNvSpPr/>
          <p:nvPr/>
        </p:nvSpPr>
        <p:spPr>
          <a:xfrm>
            <a:off x="548640" y="4023360"/>
            <a:ext cx="11064240" cy="1874520"/>
          </a:xfrm>
          <a:prstGeom prst="roundRect">
            <a:avLst>
              <a:gd name="adj" fmla="val 4390"/>
            </a:avLst>
          </a:prstGeom>
          <a:solidFill>
            <a:srgbClr val="FBF3E0"/>
          </a:solidFill>
          <a:ln w="12700">
            <a:solidFill>
              <a:srgbClr val="FBF3E0"/>
            </a:solidFill>
            <a:prstDash val="solid"/>
          </a:ln>
          <a:effectLst>
            <a:outerShdw sx="100000" sy="100000" kx="0" ky="0" algn="bl" rotWithShape="0" blurRad="127000" dist="19050" dir="5400000">
              <a:srgbClr val="1A1A1A">
                <a:alpha val="10000"/>
              </a:srgbClr>
            </a:outerShdw>
          </a:effectLst>
        </p:spPr>
      </p:sp>
      <p:sp>
        <p:nvSpPr>
          <p:cNvPr id="14" name="Text 12"/>
          <p:cNvSpPr/>
          <p:nvPr/>
        </p:nvSpPr>
        <p:spPr>
          <a:xfrm>
            <a:off x="841248" y="4206240"/>
            <a:ext cx="10515600" cy="292608"/>
          </a:xfrm>
          <a:prstGeom prst="rect">
            <a:avLst/>
          </a:prstGeom>
          <a:noFill/>
          <a:ln/>
        </p:spPr>
        <p:txBody>
          <a:bodyPr wrap="square" lIns="0" tIns="0" rIns="0" bIns="0" rtlCol="0" anchor="ctr"/>
          <a:lstStyle/>
          <a:p>
            <a:pPr indent="0" marL="0">
              <a:buNone/>
            </a:pPr>
            <a:r>
              <a:rPr lang="en-US" sz="1400" b="1" dirty="0">
                <a:solidFill>
                  <a:srgbClr val="8A6D1F"/>
                </a:solidFill>
                <a:latin typeface="Calibri" pitchFamily="34" charset="0"/>
                <a:ea typeface="Calibri" pitchFamily="34" charset="-122"/>
                <a:cs typeface="Calibri" pitchFamily="34" charset="-120"/>
              </a:rPr>
              <a:t>Quality suites that assert governance, not just data quality</a:t>
            </a:r>
            <a:endParaRPr lang="en-US" sz="1400" dirty="0"/>
          </a:p>
        </p:txBody>
      </p:sp>
      <p:sp>
        <p:nvSpPr>
          <p:cNvPr id="15" name="Text 13"/>
          <p:cNvSpPr/>
          <p:nvPr/>
        </p:nvSpPr>
        <p:spPr>
          <a:xfrm>
            <a:off x="841248" y="4572000"/>
            <a:ext cx="10515600" cy="137160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200" dirty="0">
                <a:solidFill>
                  <a:srgbClr val="27352F"/>
                </a:solidFill>
                <a:latin typeface="Calibri" pitchFamily="34" charset="0"/>
                <a:ea typeface="Calibri" pitchFamily="34" charset="-122"/>
                <a:cs typeface="Calibri" pitchFamily="34" charset="-120"/>
              </a:rPr>
              <a:t>Bronze suite — 10 expectations, including a volume pillar that catches an upstream feed drop.</a:t>
            </a:r>
            <a:endParaRPr lang="en-US" sz="1200" dirty="0"/>
          </a:p>
          <a:p>
            <a:pPr marL="342900" indent="-342900">
              <a:lnSpc>
                <a:spcPts val="1900"/>
              </a:lnSpc>
              <a:spcAft>
                <a:spcPts val="700"/>
              </a:spcAft>
              <a:buSzPct val="100000"/>
              <a:buChar char="•"/>
            </a:pPr>
            <a:r>
              <a:rPr lang="en-US" sz="1200" dirty="0">
                <a:solidFill>
                  <a:srgbClr val="27352F"/>
                </a:solidFill>
                <a:latin typeface="Calibri" pitchFamily="34" charset="0"/>
                <a:ea typeface="Calibri" pitchFamily="34" charset="-122"/>
                <a:cs typeface="Calibri" pitchFamily="34" charset="-120"/>
              </a:rPr>
              <a:t>Silver suite — 11 expectations, including uniqueness of request_id, which proves the MERGE produced current state rather than duplicates.</a:t>
            </a:r>
            <a:endParaRPr lang="en-US" sz="1200" dirty="0"/>
          </a:p>
          <a:p>
            <a:pPr marL="342900" indent="-342900">
              <a:lnSpc>
                <a:spcPts val="1900"/>
              </a:lnSpc>
              <a:spcAft>
                <a:spcPts val="700"/>
              </a:spcAft>
              <a:buSzPct val="100000"/>
              <a:buChar char="•"/>
            </a:pPr>
            <a:r>
              <a:rPr lang="en-US" sz="1200" dirty="0">
                <a:solidFill>
                  <a:srgbClr val="27352F"/>
                </a:solidFill>
                <a:latin typeface="Calibri" pitchFamily="34" charset="0"/>
                <a:ea typeface="Calibri" pitchFamily="34" charset="-122"/>
                <a:cs typeface="Calibri" pitchFamily="34" charset="-120"/>
              </a:rPr>
              <a:t>Two of them prove PII handling: the hash columns are populated, and the exact column set is pinned — so if a raw identifier ever reappeared, the pipeline halts.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GOLD LAYER · A REAL RESULT</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The number a duty officer actually acts on</a:t>
            </a:r>
            <a:endParaRPr lang="en-US" sz="3400" dirty="0"/>
          </a:p>
        </p:txBody>
      </p:sp>
      <p:graphicFrame>
        <p:nvGraphicFramePr>
          <p:cNvPr id="4" name="Chart 0" descr=""/>
          <p:cNvGraphicFramePr/>
          <p:nvPr/>
        </p:nvGraphicFramePr>
        <p:xfrm>
          <a:off x="548640" y="160020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600200"/>
            <a:ext cx="3840480" cy="4114800"/>
          </a:xfrm>
          <a:prstGeom prst="roundRect">
            <a:avLst>
              <a:gd name="adj" fmla="val 2143"/>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6" name="Text 3"/>
          <p:cNvSpPr/>
          <p:nvPr/>
        </p:nvSpPr>
        <p:spPr>
          <a:xfrm>
            <a:off x="8065008" y="1810512"/>
            <a:ext cx="329184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Shape, not noise</a:t>
            </a:r>
            <a:endParaRPr lang="en-US" sz="1400" dirty="0"/>
          </a:p>
        </p:txBody>
      </p:sp>
      <p:sp>
        <p:nvSpPr>
          <p:cNvPr id="7" name="Text 4"/>
          <p:cNvSpPr/>
          <p:nvPr/>
        </p:nvSpPr>
        <p:spPr>
          <a:xfrm>
            <a:off x="8065008" y="2212848"/>
            <a:ext cx="3291840" cy="3291840"/>
          </a:xfrm>
          <a:prstGeom prst="rect">
            <a:avLst/>
          </a:prstGeom>
          <a:noFill/>
          <a:ln/>
        </p:spPr>
        <p:txBody>
          <a:bodyPr wrap="square" lIns="0" tIns="0" rIns="0" bIns="0" rtlCol="0" anchor="ctr"/>
          <a:lstStyle/>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The generator builds in prayer-time peaks, a Jamarat surge on the simulated 10th of Dhul-Hijjah, an Arafat day and a Muzdalifah overnight spike.</a:t>
            </a:r>
            <a:endParaRPr lang="en-US" sz="1150" dirty="0"/>
          </a:p>
          <a:p>
            <a:pPr indent="0" marL="0">
              <a:lnSpc>
                <a:spcPts val="1600"/>
              </a:lnSpc>
              <a:buNone/>
            </a:pPr>
            <a:endParaRPr lang="en-US" sz="1150" dirty="0"/>
          </a:p>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That shape is deliberate. A flat synthetic line would make every threshold metric zero, and the whole gold layer would look pointless in a demo.</a:t>
            </a:r>
            <a:endParaRPr lang="en-US" sz="1150" dirty="0"/>
          </a:p>
          <a:p>
            <a:pPr indent="0" marL="0">
              <a:lnSpc>
                <a:spcPts val="1600"/>
              </a:lnSpc>
              <a:buNone/>
            </a:pPr>
            <a:endParaRPr lang="en-US" sz="1150" dirty="0"/>
          </a:p>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Muzdalifah tops the list because of its single overnight gathering. The Haram zones accumulate hours across the week. The tourism sites at AlUla and Diriyah never come close.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HOW IT IS USED</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Six commands, from empty to proven</a:t>
            </a:r>
            <a:endParaRPr lang="en-US" sz="3400" dirty="0"/>
          </a:p>
        </p:txBody>
      </p:sp>
      <p:sp>
        <p:nvSpPr>
          <p:cNvPr id="4" name="Shape 2"/>
          <p:cNvSpPr/>
          <p:nvPr/>
        </p:nvSpPr>
        <p:spPr>
          <a:xfrm>
            <a:off x="548640" y="1572768"/>
            <a:ext cx="11064240" cy="713232"/>
          </a:xfrm>
          <a:prstGeom prst="roundRect">
            <a:avLst>
              <a:gd name="adj" fmla="val 11538"/>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841248" y="1664208"/>
            <a:ext cx="2651760" cy="274320"/>
          </a:xfrm>
          <a:prstGeom prst="rect">
            <a:avLst/>
          </a:prstGeom>
          <a:noFill/>
          <a:ln/>
        </p:spPr>
        <p:txBody>
          <a:bodyPr wrap="square" lIns="0" tIns="0" rIns="0" bIns="0" rtlCol="0" anchor="ctr"/>
          <a:lstStyle/>
          <a:p>
            <a:pPr indent="0" marL="0">
              <a:buNone/>
            </a:pPr>
            <a:r>
              <a:rPr lang="en-US" sz="1250" b="1" dirty="0">
                <a:solidFill>
                  <a:srgbClr val="12513C"/>
                </a:solidFill>
                <a:latin typeface="Calibri" pitchFamily="34" charset="0"/>
                <a:ea typeface="Calibri" pitchFamily="34" charset="-122"/>
                <a:cs typeface="Calibri" pitchFamily="34" charset="-120"/>
              </a:rPr>
              <a:t>Start the infrastructure</a:t>
            </a:r>
            <a:endParaRPr lang="en-US" sz="1250" dirty="0"/>
          </a:p>
        </p:txBody>
      </p:sp>
      <p:sp>
        <p:nvSpPr>
          <p:cNvPr id="6" name="Shape 4"/>
          <p:cNvSpPr/>
          <p:nvPr/>
        </p:nvSpPr>
        <p:spPr>
          <a:xfrm>
            <a:off x="3520440" y="1719072"/>
            <a:ext cx="2514600" cy="402336"/>
          </a:xfrm>
          <a:prstGeom prst="roundRect">
            <a:avLst>
              <a:gd name="adj" fmla="val 13636"/>
            </a:avLst>
          </a:prstGeom>
          <a:solidFill>
            <a:srgbClr val="E8E1D2"/>
          </a:solidFill>
          <a:ln w="12700">
            <a:solidFill>
              <a:srgbClr val="333333"/>
            </a:solidFill>
            <a:prstDash val="solid"/>
          </a:ln>
        </p:spPr>
      </p:sp>
      <p:sp>
        <p:nvSpPr>
          <p:cNvPr id="7" name="Text 5"/>
          <p:cNvSpPr/>
          <p:nvPr/>
        </p:nvSpPr>
        <p:spPr>
          <a:xfrm>
            <a:off x="3611880" y="1773936"/>
            <a:ext cx="2377440" cy="292608"/>
          </a:xfrm>
          <a:prstGeom prst="rect">
            <a:avLst/>
          </a:prstGeom>
          <a:noFill/>
          <a:ln/>
        </p:spPr>
        <p:txBody>
          <a:bodyPr wrap="square" lIns="0" tIns="0" rIns="0" bIns="0" rtlCol="0" anchor="ctr"/>
          <a:lstStyle/>
          <a:p>
            <a:pPr indent="0" marL="0">
              <a:buNone/>
            </a:pPr>
            <a:r>
              <a:rPr lang="en-US" sz="1150" dirty="0">
                <a:solidFill>
                  <a:srgbClr val="0A2E24"/>
                </a:solidFill>
                <a:latin typeface="Courier New" pitchFamily="34" charset="0"/>
                <a:ea typeface="Courier New" pitchFamily="34" charset="-122"/>
                <a:cs typeface="Courier New" pitchFamily="34" charset="-120"/>
              </a:rPr>
              <a:t>make up</a:t>
            </a:r>
            <a:endParaRPr lang="en-US" sz="1150" dirty="0"/>
          </a:p>
        </p:txBody>
      </p:sp>
      <p:sp>
        <p:nvSpPr>
          <p:cNvPr id="8" name="Text 6"/>
          <p:cNvSpPr/>
          <p:nvPr/>
        </p:nvSpPr>
        <p:spPr>
          <a:xfrm>
            <a:off x="6263640" y="1773936"/>
            <a:ext cx="5120640" cy="365760"/>
          </a:xfrm>
          <a:prstGeom prst="rect">
            <a:avLst/>
          </a:prstGeom>
          <a:noFill/>
          <a:ln/>
        </p:spPr>
        <p:txBody>
          <a:bodyPr wrap="square" lIns="0" tIns="0" rIns="0" bIns="0" rtlCol="0" anchor="ctr"/>
          <a:lstStyle/>
          <a:p>
            <a:pPr indent="0" marL="0">
              <a:buNone/>
            </a:pPr>
            <a:r>
              <a:rPr lang="en-US" sz="1100" dirty="0">
                <a:solidFill>
                  <a:srgbClr val="3D4A44"/>
                </a:solidFill>
                <a:latin typeface="Calibri" pitchFamily="34" charset="0"/>
                <a:ea typeface="Calibri" pitchFamily="34" charset="-122"/>
                <a:cs typeface="Calibri" pitchFamily="34" charset="-120"/>
              </a:rPr>
              <a:t>Kafka and Qdrant containers, health-checked, topics created.</a:t>
            </a:r>
            <a:endParaRPr lang="en-US" sz="1100" dirty="0"/>
          </a:p>
        </p:txBody>
      </p:sp>
      <p:sp>
        <p:nvSpPr>
          <p:cNvPr id="9" name="Shape 7"/>
          <p:cNvSpPr/>
          <p:nvPr/>
        </p:nvSpPr>
        <p:spPr>
          <a:xfrm>
            <a:off x="548640" y="2359152"/>
            <a:ext cx="11064240" cy="713232"/>
          </a:xfrm>
          <a:prstGeom prst="roundRect">
            <a:avLst>
              <a:gd name="adj" fmla="val 11538"/>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0" name="Text 8"/>
          <p:cNvSpPr/>
          <p:nvPr/>
        </p:nvSpPr>
        <p:spPr>
          <a:xfrm>
            <a:off x="841248" y="2450592"/>
            <a:ext cx="2651760" cy="274320"/>
          </a:xfrm>
          <a:prstGeom prst="rect">
            <a:avLst/>
          </a:prstGeom>
          <a:noFill/>
          <a:ln/>
        </p:spPr>
        <p:txBody>
          <a:bodyPr wrap="square" lIns="0" tIns="0" rIns="0" bIns="0" rtlCol="0" anchor="ctr"/>
          <a:lstStyle/>
          <a:p>
            <a:pPr indent="0" marL="0">
              <a:buNone/>
            </a:pPr>
            <a:r>
              <a:rPr lang="en-US" sz="1250" b="1" dirty="0">
                <a:solidFill>
                  <a:srgbClr val="12513C"/>
                </a:solidFill>
                <a:latin typeface="Calibri" pitchFamily="34" charset="0"/>
                <a:ea typeface="Calibri" pitchFamily="34" charset="-122"/>
                <a:cs typeface="Calibri" pitchFamily="34" charset="-120"/>
              </a:rPr>
              <a:t>Run the whole pipeline</a:t>
            </a:r>
            <a:endParaRPr lang="en-US" sz="1250" dirty="0"/>
          </a:p>
        </p:txBody>
      </p:sp>
      <p:sp>
        <p:nvSpPr>
          <p:cNvPr id="11" name="Shape 9"/>
          <p:cNvSpPr/>
          <p:nvPr/>
        </p:nvSpPr>
        <p:spPr>
          <a:xfrm>
            <a:off x="3520440" y="2505456"/>
            <a:ext cx="2514600" cy="402336"/>
          </a:xfrm>
          <a:prstGeom prst="roundRect">
            <a:avLst>
              <a:gd name="adj" fmla="val 13636"/>
            </a:avLst>
          </a:prstGeom>
          <a:solidFill>
            <a:srgbClr val="E8E1D2"/>
          </a:solidFill>
          <a:ln w="12700">
            <a:solidFill>
              <a:srgbClr val="333333"/>
            </a:solidFill>
            <a:prstDash val="solid"/>
          </a:ln>
        </p:spPr>
      </p:sp>
      <p:sp>
        <p:nvSpPr>
          <p:cNvPr id="12" name="Text 10"/>
          <p:cNvSpPr/>
          <p:nvPr/>
        </p:nvSpPr>
        <p:spPr>
          <a:xfrm>
            <a:off x="3611880" y="2560320"/>
            <a:ext cx="2377440" cy="292608"/>
          </a:xfrm>
          <a:prstGeom prst="rect">
            <a:avLst/>
          </a:prstGeom>
          <a:noFill/>
          <a:ln/>
        </p:spPr>
        <p:txBody>
          <a:bodyPr wrap="square" lIns="0" tIns="0" rIns="0" bIns="0" rtlCol="0" anchor="ctr"/>
          <a:lstStyle/>
          <a:p>
            <a:pPr indent="0" marL="0">
              <a:buNone/>
            </a:pPr>
            <a:r>
              <a:rPr lang="en-US" sz="1150" dirty="0">
                <a:solidFill>
                  <a:srgbClr val="0A2E24"/>
                </a:solidFill>
                <a:latin typeface="Courier New" pitchFamily="34" charset="0"/>
                <a:ea typeface="Courier New" pitchFamily="34" charset="-122"/>
                <a:cs typeface="Courier New" pitchFamily="34" charset="-120"/>
              </a:rPr>
              <a:t>make pipeline</a:t>
            </a:r>
            <a:endParaRPr lang="en-US" sz="1150" dirty="0"/>
          </a:p>
        </p:txBody>
      </p:sp>
      <p:sp>
        <p:nvSpPr>
          <p:cNvPr id="13" name="Text 11"/>
          <p:cNvSpPr/>
          <p:nvPr/>
        </p:nvSpPr>
        <p:spPr>
          <a:xfrm>
            <a:off x="6263640" y="2560320"/>
            <a:ext cx="5120640" cy="365760"/>
          </a:xfrm>
          <a:prstGeom prst="rect">
            <a:avLst/>
          </a:prstGeom>
          <a:noFill/>
          <a:ln/>
        </p:spPr>
        <p:txBody>
          <a:bodyPr wrap="square" lIns="0" tIns="0" rIns="0" bIns="0" rtlCol="0" anchor="ctr"/>
          <a:lstStyle/>
          <a:p>
            <a:pPr indent="0" marL="0">
              <a:buNone/>
            </a:pPr>
            <a:r>
              <a:rPr lang="en-US" sz="1100" dirty="0">
                <a:solidFill>
                  <a:srgbClr val="3D4A44"/>
                </a:solidFill>
                <a:latin typeface="Calibri" pitchFamily="34" charset="0"/>
                <a:ea typeface="Calibri" pitchFamily="34" charset="-122"/>
                <a:cs typeface="Calibri" pitchFamily="34" charset="-120"/>
              </a:rPr>
              <a:t>Reset → produce 200k events → ingest → GATE 1 → silver + MERGE → GATE 2 → gold. About two minutes.</a:t>
            </a:r>
            <a:endParaRPr lang="en-US" sz="1100" dirty="0"/>
          </a:p>
        </p:txBody>
      </p:sp>
      <p:sp>
        <p:nvSpPr>
          <p:cNvPr id="14" name="Shape 12"/>
          <p:cNvSpPr/>
          <p:nvPr/>
        </p:nvSpPr>
        <p:spPr>
          <a:xfrm>
            <a:off x="548640" y="3145536"/>
            <a:ext cx="11064240" cy="713232"/>
          </a:xfrm>
          <a:prstGeom prst="roundRect">
            <a:avLst>
              <a:gd name="adj" fmla="val 11538"/>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5" name="Text 13"/>
          <p:cNvSpPr/>
          <p:nvPr/>
        </p:nvSpPr>
        <p:spPr>
          <a:xfrm>
            <a:off x="841248" y="3236976"/>
            <a:ext cx="2651760" cy="274320"/>
          </a:xfrm>
          <a:prstGeom prst="rect">
            <a:avLst/>
          </a:prstGeom>
          <a:noFill/>
          <a:ln/>
        </p:spPr>
        <p:txBody>
          <a:bodyPr wrap="square" lIns="0" tIns="0" rIns="0" bIns="0" rtlCol="0" anchor="ctr"/>
          <a:lstStyle/>
          <a:p>
            <a:pPr indent="0" marL="0">
              <a:buNone/>
            </a:pPr>
            <a:r>
              <a:rPr lang="en-US" sz="1250" b="1" dirty="0">
                <a:solidFill>
                  <a:srgbClr val="12513C"/>
                </a:solidFill>
                <a:latin typeface="Calibri" pitchFamily="34" charset="0"/>
                <a:ea typeface="Calibri" pitchFamily="34" charset="-122"/>
                <a:cs typeface="Calibri" pitchFamily="34" charset="-120"/>
              </a:rPr>
              <a:t>Orchestrate it instead</a:t>
            </a:r>
            <a:endParaRPr lang="en-US" sz="1250" dirty="0"/>
          </a:p>
        </p:txBody>
      </p:sp>
      <p:sp>
        <p:nvSpPr>
          <p:cNvPr id="16" name="Shape 14"/>
          <p:cNvSpPr/>
          <p:nvPr/>
        </p:nvSpPr>
        <p:spPr>
          <a:xfrm>
            <a:off x="3520440" y="3291840"/>
            <a:ext cx="2514600" cy="402336"/>
          </a:xfrm>
          <a:prstGeom prst="roundRect">
            <a:avLst>
              <a:gd name="adj" fmla="val 13636"/>
            </a:avLst>
          </a:prstGeom>
          <a:solidFill>
            <a:srgbClr val="E8E1D2"/>
          </a:solidFill>
          <a:ln w="12700">
            <a:solidFill>
              <a:srgbClr val="333333"/>
            </a:solidFill>
            <a:prstDash val="solid"/>
          </a:ln>
        </p:spPr>
      </p:sp>
      <p:sp>
        <p:nvSpPr>
          <p:cNvPr id="17" name="Text 15"/>
          <p:cNvSpPr/>
          <p:nvPr/>
        </p:nvSpPr>
        <p:spPr>
          <a:xfrm>
            <a:off x="3611880" y="3346704"/>
            <a:ext cx="2377440" cy="292608"/>
          </a:xfrm>
          <a:prstGeom prst="rect">
            <a:avLst/>
          </a:prstGeom>
          <a:noFill/>
          <a:ln/>
        </p:spPr>
        <p:txBody>
          <a:bodyPr wrap="square" lIns="0" tIns="0" rIns="0" bIns="0" rtlCol="0" anchor="ctr"/>
          <a:lstStyle/>
          <a:p>
            <a:pPr indent="0" marL="0">
              <a:buNone/>
            </a:pPr>
            <a:r>
              <a:rPr lang="en-US" sz="1150" dirty="0">
                <a:solidFill>
                  <a:srgbClr val="0A2E24"/>
                </a:solidFill>
                <a:latin typeface="Courier New" pitchFamily="34" charset="0"/>
                <a:ea typeface="Courier New" pitchFamily="34" charset="-122"/>
                <a:cs typeface="Courier New" pitchFamily="34" charset="-120"/>
              </a:rPr>
              <a:t>make airflow</a:t>
            </a:r>
            <a:endParaRPr lang="en-US" sz="1150" dirty="0"/>
          </a:p>
        </p:txBody>
      </p:sp>
      <p:sp>
        <p:nvSpPr>
          <p:cNvPr id="18" name="Text 16"/>
          <p:cNvSpPr/>
          <p:nvPr/>
        </p:nvSpPr>
        <p:spPr>
          <a:xfrm>
            <a:off x="6263640" y="3346704"/>
            <a:ext cx="5120640" cy="365760"/>
          </a:xfrm>
          <a:prstGeom prst="rect">
            <a:avLst/>
          </a:prstGeom>
          <a:noFill/>
          <a:ln/>
        </p:spPr>
        <p:txBody>
          <a:bodyPr wrap="square" lIns="0" tIns="0" rIns="0" bIns="0" rtlCol="0" anchor="ctr"/>
          <a:lstStyle/>
          <a:p>
            <a:pPr indent="0" marL="0">
              <a:buNone/>
            </a:pPr>
            <a:r>
              <a:rPr lang="en-US" sz="1100" dirty="0">
                <a:solidFill>
                  <a:srgbClr val="3D4A44"/>
                </a:solidFill>
                <a:latin typeface="Calibri" pitchFamily="34" charset="0"/>
                <a:ea typeface="Calibri" pitchFamily="34" charset="-122"/>
                <a:cs typeface="Calibri" pitchFamily="34" charset="-120"/>
              </a:rPr>
              <a:t>Webserver and scheduler on localhost:8080. Trigger the 13-task DAG from the UI.</a:t>
            </a:r>
            <a:endParaRPr lang="en-US" sz="1100" dirty="0"/>
          </a:p>
        </p:txBody>
      </p:sp>
      <p:sp>
        <p:nvSpPr>
          <p:cNvPr id="19" name="Shape 17"/>
          <p:cNvSpPr/>
          <p:nvPr/>
        </p:nvSpPr>
        <p:spPr>
          <a:xfrm>
            <a:off x="548640" y="3931920"/>
            <a:ext cx="11064240" cy="713232"/>
          </a:xfrm>
          <a:prstGeom prst="roundRect">
            <a:avLst>
              <a:gd name="adj" fmla="val 11538"/>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0" name="Text 18"/>
          <p:cNvSpPr/>
          <p:nvPr/>
        </p:nvSpPr>
        <p:spPr>
          <a:xfrm>
            <a:off x="841248" y="4023360"/>
            <a:ext cx="2651760" cy="274320"/>
          </a:xfrm>
          <a:prstGeom prst="rect">
            <a:avLst/>
          </a:prstGeom>
          <a:noFill/>
          <a:ln/>
        </p:spPr>
        <p:txBody>
          <a:bodyPr wrap="square" lIns="0" tIns="0" rIns="0" bIns="0" rtlCol="0" anchor="ctr"/>
          <a:lstStyle/>
          <a:p>
            <a:pPr indent="0" marL="0">
              <a:buNone/>
            </a:pPr>
            <a:r>
              <a:rPr lang="en-US" sz="1250" b="1" dirty="0">
                <a:solidFill>
                  <a:srgbClr val="12513C"/>
                </a:solidFill>
                <a:latin typeface="Calibri" pitchFamily="34" charset="0"/>
                <a:ea typeface="Calibri" pitchFamily="34" charset="-122"/>
                <a:cs typeface="Calibri" pitchFamily="34" charset="-120"/>
              </a:rPr>
              <a:t>Ask the copilot</a:t>
            </a:r>
            <a:endParaRPr lang="en-US" sz="1250" dirty="0"/>
          </a:p>
        </p:txBody>
      </p:sp>
      <p:sp>
        <p:nvSpPr>
          <p:cNvPr id="21" name="Shape 19"/>
          <p:cNvSpPr/>
          <p:nvPr/>
        </p:nvSpPr>
        <p:spPr>
          <a:xfrm>
            <a:off x="3520440" y="4078224"/>
            <a:ext cx="2514600" cy="402336"/>
          </a:xfrm>
          <a:prstGeom prst="roundRect">
            <a:avLst>
              <a:gd name="adj" fmla="val 13636"/>
            </a:avLst>
          </a:prstGeom>
          <a:solidFill>
            <a:srgbClr val="E8E1D2"/>
          </a:solidFill>
          <a:ln w="12700">
            <a:solidFill>
              <a:srgbClr val="333333"/>
            </a:solidFill>
            <a:prstDash val="solid"/>
          </a:ln>
        </p:spPr>
      </p:sp>
      <p:sp>
        <p:nvSpPr>
          <p:cNvPr id="22" name="Text 20"/>
          <p:cNvSpPr/>
          <p:nvPr/>
        </p:nvSpPr>
        <p:spPr>
          <a:xfrm>
            <a:off x="3611880" y="4133088"/>
            <a:ext cx="2377440" cy="292608"/>
          </a:xfrm>
          <a:prstGeom prst="rect">
            <a:avLst/>
          </a:prstGeom>
          <a:noFill/>
          <a:ln/>
        </p:spPr>
        <p:txBody>
          <a:bodyPr wrap="square" lIns="0" tIns="0" rIns="0" bIns="0" rtlCol="0" anchor="ctr"/>
          <a:lstStyle/>
          <a:p>
            <a:pPr indent="0" marL="0">
              <a:buNone/>
            </a:pPr>
            <a:r>
              <a:rPr lang="en-US" sz="1150" dirty="0">
                <a:solidFill>
                  <a:srgbClr val="0A2E24"/>
                </a:solidFill>
                <a:latin typeface="Courier New" pitchFamily="34" charset="0"/>
                <a:ea typeface="Courier New" pitchFamily="34" charset="-122"/>
                <a:cs typeface="Courier New" pitchFamily="34" charset="-120"/>
              </a:rPr>
              <a:t>make ask Q="…"</a:t>
            </a:r>
            <a:endParaRPr lang="en-US" sz="1150" dirty="0"/>
          </a:p>
        </p:txBody>
      </p:sp>
      <p:sp>
        <p:nvSpPr>
          <p:cNvPr id="23" name="Text 21"/>
          <p:cNvSpPr/>
          <p:nvPr/>
        </p:nvSpPr>
        <p:spPr>
          <a:xfrm>
            <a:off x="6263640" y="4133088"/>
            <a:ext cx="5120640" cy="365760"/>
          </a:xfrm>
          <a:prstGeom prst="rect">
            <a:avLst/>
          </a:prstGeom>
          <a:noFill/>
          <a:ln/>
        </p:spPr>
        <p:txBody>
          <a:bodyPr wrap="square" lIns="0" tIns="0" rIns="0" bIns="0" rtlCol="0" anchor="ctr"/>
          <a:lstStyle/>
          <a:p>
            <a:pPr indent="0" marL="0">
              <a:buNone/>
            </a:pPr>
            <a:r>
              <a:rPr lang="en-US" sz="1100" dirty="0">
                <a:solidFill>
                  <a:srgbClr val="3D4A44"/>
                </a:solidFill>
                <a:latin typeface="Calibri" pitchFamily="34" charset="0"/>
                <a:ea typeface="Calibri" pitchFamily="34" charset="-122"/>
                <a:cs typeface="Calibri" pitchFamily="34" charset="-120"/>
              </a:rPr>
              <a:t>Hybrid retrieval, rerank, and a grounded answer with citations.</a:t>
            </a:r>
            <a:endParaRPr lang="en-US" sz="1100" dirty="0"/>
          </a:p>
        </p:txBody>
      </p:sp>
      <p:sp>
        <p:nvSpPr>
          <p:cNvPr id="24" name="Shape 22"/>
          <p:cNvSpPr/>
          <p:nvPr/>
        </p:nvSpPr>
        <p:spPr>
          <a:xfrm>
            <a:off x="548640" y="4718304"/>
            <a:ext cx="11064240" cy="713232"/>
          </a:xfrm>
          <a:prstGeom prst="roundRect">
            <a:avLst>
              <a:gd name="adj" fmla="val 11538"/>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5" name="Text 23"/>
          <p:cNvSpPr/>
          <p:nvPr/>
        </p:nvSpPr>
        <p:spPr>
          <a:xfrm>
            <a:off x="841248" y="4809744"/>
            <a:ext cx="2651760" cy="274320"/>
          </a:xfrm>
          <a:prstGeom prst="rect">
            <a:avLst/>
          </a:prstGeom>
          <a:noFill/>
          <a:ln/>
        </p:spPr>
        <p:txBody>
          <a:bodyPr wrap="square" lIns="0" tIns="0" rIns="0" bIns="0" rtlCol="0" anchor="ctr"/>
          <a:lstStyle/>
          <a:p>
            <a:pPr indent="0" marL="0">
              <a:buNone/>
            </a:pPr>
            <a:r>
              <a:rPr lang="en-US" sz="1250" b="1" dirty="0">
                <a:solidFill>
                  <a:srgbClr val="12513C"/>
                </a:solidFill>
                <a:latin typeface="Calibri" pitchFamily="34" charset="0"/>
                <a:ea typeface="Calibri" pitchFamily="34" charset="-122"/>
                <a:cs typeface="Calibri" pitchFamily="34" charset="-120"/>
              </a:rPr>
              <a:t>Prove nothing is faked</a:t>
            </a:r>
            <a:endParaRPr lang="en-US" sz="1250" dirty="0"/>
          </a:p>
        </p:txBody>
      </p:sp>
      <p:sp>
        <p:nvSpPr>
          <p:cNvPr id="26" name="Shape 24"/>
          <p:cNvSpPr/>
          <p:nvPr/>
        </p:nvSpPr>
        <p:spPr>
          <a:xfrm>
            <a:off x="3520440" y="4864608"/>
            <a:ext cx="2514600" cy="402336"/>
          </a:xfrm>
          <a:prstGeom prst="roundRect">
            <a:avLst>
              <a:gd name="adj" fmla="val 13636"/>
            </a:avLst>
          </a:prstGeom>
          <a:solidFill>
            <a:srgbClr val="E8E1D2"/>
          </a:solidFill>
          <a:ln w="12700">
            <a:solidFill>
              <a:srgbClr val="333333"/>
            </a:solidFill>
            <a:prstDash val="solid"/>
          </a:ln>
        </p:spPr>
      </p:sp>
      <p:sp>
        <p:nvSpPr>
          <p:cNvPr id="27" name="Text 25"/>
          <p:cNvSpPr/>
          <p:nvPr/>
        </p:nvSpPr>
        <p:spPr>
          <a:xfrm>
            <a:off x="3611880" y="4919472"/>
            <a:ext cx="2377440" cy="292608"/>
          </a:xfrm>
          <a:prstGeom prst="rect">
            <a:avLst/>
          </a:prstGeom>
          <a:noFill/>
          <a:ln/>
        </p:spPr>
        <p:txBody>
          <a:bodyPr wrap="square" lIns="0" tIns="0" rIns="0" bIns="0" rtlCol="0" anchor="ctr"/>
          <a:lstStyle/>
          <a:p>
            <a:pPr indent="0" marL="0">
              <a:buNone/>
            </a:pPr>
            <a:r>
              <a:rPr lang="en-US" sz="1150" dirty="0">
                <a:solidFill>
                  <a:srgbClr val="0A2E24"/>
                </a:solidFill>
                <a:latin typeface="Courier New" pitchFamily="34" charset="0"/>
                <a:ea typeface="Courier New" pitchFamily="34" charset="-122"/>
                <a:cs typeface="Courier New" pitchFamily="34" charset="-120"/>
              </a:rPr>
              <a:t>make audit</a:t>
            </a:r>
            <a:endParaRPr lang="en-US" sz="1150" dirty="0"/>
          </a:p>
        </p:txBody>
      </p:sp>
      <p:sp>
        <p:nvSpPr>
          <p:cNvPr id="28" name="Text 26"/>
          <p:cNvSpPr/>
          <p:nvPr/>
        </p:nvSpPr>
        <p:spPr>
          <a:xfrm>
            <a:off x="6263640" y="4919472"/>
            <a:ext cx="5120640" cy="365760"/>
          </a:xfrm>
          <a:prstGeom prst="rect">
            <a:avLst/>
          </a:prstGeom>
          <a:noFill/>
          <a:ln/>
        </p:spPr>
        <p:txBody>
          <a:bodyPr wrap="square" lIns="0" tIns="0" rIns="0" bIns="0" rtlCol="0" anchor="ctr"/>
          <a:lstStyle/>
          <a:p>
            <a:pPr indent="0" marL="0">
              <a:buNone/>
            </a:pPr>
            <a:r>
              <a:rPr lang="en-US" sz="1100" dirty="0">
                <a:solidFill>
                  <a:srgbClr val="3D4A44"/>
                </a:solidFill>
                <a:latin typeface="Calibri" pitchFamily="34" charset="0"/>
                <a:ea typeface="Calibri" pitchFamily="34" charset="-122"/>
                <a:cs typeface="Calibri" pitchFamily="34" charset="-120"/>
              </a:rPr>
              <a:t>Fails the build if a queue ever stands in for Kafka, or pandas for Delta.</a:t>
            </a:r>
            <a:endParaRPr lang="en-US" sz="1100" dirty="0"/>
          </a:p>
        </p:txBody>
      </p:sp>
      <p:sp>
        <p:nvSpPr>
          <p:cNvPr id="29" name="Shape 27"/>
          <p:cNvSpPr/>
          <p:nvPr/>
        </p:nvSpPr>
        <p:spPr>
          <a:xfrm>
            <a:off x="548640" y="5504688"/>
            <a:ext cx="11064240" cy="713232"/>
          </a:xfrm>
          <a:prstGeom prst="roundRect">
            <a:avLst>
              <a:gd name="adj" fmla="val 11538"/>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30" name="Text 28"/>
          <p:cNvSpPr/>
          <p:nvPr/>
        </p:nvSpPr>
        <p:spPr>
          <a:xfrm>
            <a:off x="841248" y="5596128"/>
            <a:ext cx="2651760" cy="274320"/>
          </a:xfrm>
          <a:prstGeom prst="rect">
            <a:avLst/>
          </a:prstGeom>
          <a:noFill/>
          <a:ln/>
        </p:spPr>
        <p:txBody>
          <a:bodyPr wrap="square" lIns="0" tIns="0" rIns="0" bIns="0" rtlCol="0" anchor="ctr"/>
          <a:lstStyle/>
          <a:p>
            <a:pPr indent="0" marL="0">
              <a:buNone/>
            </a:pPr>
            <a:r>
              <a:rPr lang="en-US" sz="1250" b="1" dirty="0">
                <a:solidFill>
                  <a:srgbClr val="12513C"/>
                </a:solidFill>
                <a:latin typeface="Calibri" pitchFamily="34" charset="0"/>
                <a:ea typeface="Calibri" pitchFamily="34" charset="-122"/>
                <a:cs typeface="Calibri" pitchFamily="34" charset="-120"/>
              </a:rPr>
              <a:t>Check every requirement</a:t>
            </a:r>
            <a:endParaRPr lang="en-US" sz="1250" dirty="0"/>
          </a:p>
        </p:txBody>
      </p:sp>
      <p:sp>
        <p:nvSpPr>
          <p:cNvPr id="31" name="Shape 29"/>
          <p:cNvSpPr/>
          <p:nvPr/>
        </p:nvSpPr>
        <p:spPr>
          <a:xfrm>
            <a:off x="3520440" y="5650992"/>
            <a:ext cx="2514600" cy="402336"/>
          </a:xfrm>
          <a:prstGeom prst="roundRect">
            <a:avLst>
              <a:gd name="adj" fmla="val 13636"/>
            </a:avLst>
          </a:prstGeom>
          <a:solidFill>
            <a:srgbClr val="E8E1D2"/>
          </a:solidFill>
          <a:ln w="12700">
            <a:solidFill>
              <a:srgbClr val="333333"/>
            </a:solidFill>
            <a:prstDash val="solid"/>
          </a:ln>
        </p:spPr>
      </p:sp>
      <p:sp>
        <p:nvSpPr>
          <p:cNvPr id="32" name="Text 30"/>
          <p:cNvSpPr/>
          <p:nvPr/>
        </p:nvSpPr>
        <p:spPr>
          <a:xfrm>
            <a:off x="3611880" y="5705856"/>
            <a:ext cx="2377440" cy="292608"/>
          </a:xfrm>
          <a:prstGeom prst="rect">
            <a:avLst/>
          </a:prstGeom>
          <a:noFill/>
          <a:ln/>
        </p:spPr>
        <p:txBody>
          <a:bodyPr wrap="square" lIns="0" tIns="0" rIns="0" bIns="0" rtlCol="0" anchor="ctr"/>
          <a:lstStyle/>
          <a:p>
            <a:pPr indent="0" marL="0">
              <a:buNone/>
            </a:pPr>
            <a:r>
              <a:rPr lang="en-US" sz="1150" dirty="0">
                <a:solidFill>
                  <a:srgbClr val="0A2E24"/>
                </a:solidFill>
                <a:latin typeface="Courier New" pitchFamily="34" charset="0"/>
                <a:ea typeface="Courier New" pitchFamily="34" charset="-122"/>
                <a:cs typeface="Courier New" pitchFamily="34" charset="-120"/>
              </a:rPr>
              <a:t>rubric_selfcheck.py</a:t>
            </a:r>
            <a:endParaRPr lang="en-US" sz="1150" dirty="0"/>
          </a:p>
        </p:txBody>
      </p:sp>
      <p:sp>
        <p:nvSpPr>
          <p:cNvPr id="33" name="Text 31"/>
          <p:cNvSpPr/>
          <p:nvPr/>
        </p:nvSpPr>
        <p:spPr>
          <a:xfrm>
            <a:off x="6263640" y="5705856"/>
            <a:ext cx="5120640" cy="365760"/>
          </a:xfrm>
          <a:prstGeom prst="rect">
            <a:avLst/>
          </a:prstGeom>
          <a:noFill/>
          <a:ln/>
        </p:spPr>
        <p:txBody>
          <a:bodyPr wrap="square" lIns="0" tIns="0" rIns="0" bIns="0" rtlCol="0" anchor="ctr"/>
          <a:lstStyle/>
          <a:p>
            <a:pPr indent="0" marL="0">
              <a:buNone/>
            </a:pPr>
            <a:r>
              <a:rPr lang="en-US" sz="1100" dirty="0">
                <a:solidFill>
                  <a:srgbClr val="3D4A44"/>
                </a:solidFill>
                <a:latin typeface="Calibri" pitchFamily="34" charset="0"/>
                <a:ea typeface="Calibri" pitchFamily="34" charset="-122"/>
                <a:cs typeface="Calibri" pitchFamily="34" charset="-120"/>
              </a:rPr>
              <a:t>65 checks against actual repository state — not against memory.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WHAT WE FOUND</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Three results that contradicted expectations</a:t>
            </a:r>
            <a:endParaRPr lang="en-US" sz="3400" dirty="0"/>
          </a:p>
        </p:txBody>
      </p:sp>
      <p:sp>
        <p:nvSpPr>
          <p:cNvPr id="4" name="Shape 2"/>
          <p:cNvSpPr/>
          <p:nvPr/>
        </p:nvSpPr>
        <p:spPr>
          <a:xfrm>
            <a:off x="548640" y="1572768"/>
            <a:ext cx="11064240"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Shape 3"/>
          <p:cNvSpPr/>
          <p:nvPr/>
        </p:nvSpPr>
        <p:spPr>
          <a:xfrm>
            <a:off x="841248" y="1828800"/>
            <a:ext cx="402336" cy="402336"/>
          </a:xfrm>
          <a:prstGeom prst="ellipse">
            <a:avLst/>
          </a:prstGeom>
          <a:solidFill>
            <a:srgbClr val="C8A951"/>
          </a:solidFill>
          <a:ln w="12700">
            <a:solidFill>
              <a:srgbClr val="C8A951"/>
            </a:solidFill>
            <a:prstDash val="solid"/>
          </a:ln>
        </p:spPr>
      </p:sp>
      <p:sp>
        <p:nvSpPr>
          <p:cNvPr id="6" name="Text 4"/>
          <p:cNvSpPr/>
          <p:nvPr/>
        </p:nvSpPr>
        <p:spPr>
          <a:xfrm>
            <a:off x="841248" y="1828800"/>
            <a:ext cx="402336" cy="402336"/>
          </a:xfrm>
          <a:prstGeom prst="rect">
            <a:avLst/>
          </a:prstGeom>
          <a:noFill/>
          <a:ln/>
        </p:spPr>
        <p:txBody>
          <a:bodyPr wrap="square" lIns="0" tIns="0" rIns="0" bIns="0" rtlCol="0" anchor="ctr"/>
          <a:lstStyle/>
          <a:p>
            <a:pPr algn="ctr" indent="0" marL="0">
              <a:buNone/>
            </a:pPr>
            <a:r>
              <a:rPr lang="en-US" sz="1300" b="1" dirty="0">
                <a:solidFill>
                  <a:srgbClr val="0A2E24"/>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17320" y="1773936"/>
            <a:ext cx="9875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The storage layer silently coerced data</a:t>
            </a:r>
            <a:endParaRPr lang="en-US" sz="1400" dirty="0"/>
          </a:p>
        </p:txBody>
      </p:sp>
      <p:sp>
        <p:nvSpPr>
          <p:cNvPr id="8" name="Text 6"/>
          <p:cNvSpPr/>
          <p:nvPr/>
        </p:nvSpPr>
        <p:spPr>
          <a:xfrm>
            <a:off x="1417320" y="2121408"/>
            <a:ext cx="9875520" cy="777240"/>
          </a:xfrm>
          <a:prstGeom prst="rect">
            <a:avLst/>
          </a:prstGeom>
          <a:noFill/>
          <a:ln/>
        </p:spPr>
        <p:txBody>
          <a:bodyPr wrap="square" lIns="0" tIns="0" rIns="0" bIns="0" rtlCol="0" anchor="ctr"/>
          <a:lstStyle/>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delta-rs has two write engines. The default one accepts the text "1500" into an integer column and quietly stores 1500 — no error. That is the same silent-coercion failure the ingestion contract exists to prevent, so the pipeline writes through the strict engine instead. Both are demonstrated rather than asserted.</a:t>
            </a:r>
            <a:endParaRPr lang="en-US" sz="1150" dirty="0"/>
          </a:p>
        </p:txBody>
      </p:sp>
      <p:sp>
        <p:nvSpPr>
          <p:cNvPr id="9" name="Shape 7"/>
          <p:cNvSpPr/>
          <p:nvPr/>
        </p:nvSpPr>
        <p:spPr>
          <a:xfrm>
            <a:off x="548640" y="3081528"/>
            <a:ext cx="11064240"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0" name="Shape 8"/>
          <p:cNvSpPr/>
          <p:nvPr/>
        </p:nvSpPr>
        <p:spPr>
          <a:xfrm>
            <a:off x="841248" y="3337560"/>
            <a:ext cx="402336" cy="402336"/>
          </a:xfrm>
          <a:prstGeom prst="ellipse">
            <a:avLst/>
          </a:prstGeom>
          <a:solidFill>
            <a:srgbClr val="C8A951"/>
          </a:solidFill>
          <a:ln w="12700">
            <a:solidFill>
              <a:srgbClr val="C8A951"/>
            </a:solidFill>
            <a:prstDash val="solid"/>
          </a:ln>
        </p:spPr>
      </p:sp>
      <p:sp>
        <p:nvSpPr>
          <p:cNvPr id="11" name="Text 9"/>
          <p:cNvSpPr/>
          <p:nvPr/>
        </p:nvSpPr>
        <p:spPr>
          <a:xfrm>
            <a:off x="841248" y="3337560"/>
            <a:ext cx="402336" cy="402336"/>
          </a:xfrm>
          <a:prstGeom prst="rect">
            <a:avLst/>
          </a:prstGeom>
          <a:noFill/>
          <a:ln/>
        </p:spPr>
        <p:txBody>
          <a:bodyPr wrap="square" lIns="0" tIns="0" rIns="0" bIns="0" rtlCol="0" anchor="ctr"/>
          <a:lstStyle/>
          <a:p>
            <a:pPr algn="ctr" indent="0" marL="0">
              <a:buNone/>
            </a:pPr>
            <a:r>
              <a:rPr lang="en-US" sz="1300" b="1" dirty="0">
                <a:solidFill>
                  <a:srgbClr val="0A2E24"/>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417320" y="3282696"/>
            <a:ext cx="9875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The textbook hybrid-search demo did not reproduce</a:t>
            </a:r>
            <a:endParaRPr lang="en-US" sz="1400" dirty="0"/>
          </a:p>
        </p:txBody>
      </p:sp>
      <p:sp>
        <p:nvSpPr>
          <p:cNvPr id="13" name="Text 11"/>
          <p:cNvSpPr/>
          <p:nvPr/>
        </p:nvSpPr>
        <p:spPr>
          <a:xfrm>
            <a:off x="1417320" y="3630168"/>
            <a:ext cx="9875520" cy="777240"/>
          </a:xfrm>
          <a:prstGeom prst="rect">
            <a:avLst/>
          </a:prstGeom>
          <a:noFill/>
          <a:ln/>
        </p:spPr>
        <p:txBody>
          <a:bodyPr wrap="square" lIns="0" tIns="0" rIns="0" bIns="0" rtlCol="0" anchor="ctr"/>
          <a:lstStyle/>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Dense search was supposed to miss exact document codes that keyword search rescues. Across 31 identifiers it never missed — it found all of them in the top three, because 87 chunks is too small a corpus for that failure mode. The negative result is reported, with the reason, and the opposite direction is demonstrated instead: on paraphrases sharing no vocabulary, keyword search drops to rank 7 while dense search holds rank 1.</a:t>
            </a:r>
            <a:endParaRPr lang="en-US" sz="1150" dirty="0"/>
          </a:p>
        </p:txBody>
      </p:sp>
      <p:sp>
        <p:nvSpPr>
          <p:cNvPr id="14" name="Shape 12"/>
          <p:cNvSpPr/>
          <p:nvPr/>
        </p:nvSpPr>
        <p:spPr>
          <a:xfrm>
            <a:off x="548640" y="4590288"/>
            <a:ext cx="11064240"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5" name="Shape 13"/>
          <p:cNvSpPr/>
          <p:nvPr/>
        </p:nvSpPr>
        <p:spPr>
          <a:xfrm>
            <a:off x="841248" y="4846320"/>
            <a:ext cx="402336" cy="402336"/>
          </a:xfrm>
          <a:prstGeom prst="ellipse">
            <a:avLst/>
          </a:prstGeom>
          <a:solidFill>
            <a:srgbClr val="C8A951"/>
          </a:solidFill>
          <a:ln w="12700">
            <a:solidFill>
              <a:srgbClr val="C8A951"/>
            </a:solidFill>
            <a:prstDash val="solid"/>
          </a:ln>
        </p:spPr>
      </p:sp>
      <p:sp>
        <p:nvSpPr>
          <p:cNvPr id="16" name="Text 14"/>
          <p:cNvSpPr/>
          <p:nvPr/>
        </p:nvSpPr>
        <p:spPr>
          <a:xfrm>
            <a:off x="841248" y="4846320"/>
            <a:ext cx="402336" cy="402336"/>
          </a:xfrm>
          <a:prstGeom prst="rect">
            <a:avLst/>
          </a:prstGeom>
          <a:noFill/>
          <a:ln/>
        </p:spPr>
        <p:txBody>
          <a:bodyPr wrap="square" lIns="0" tIns="0" rIns="0" bIns="0" rtlCol="0" anchor="ctr"/>
          <a:lstStyle/>
          <a:p>
            <a:pPr algn="ctr" indent="0" marL="0">
              <a:buNone/>
            </a:pPr>
            <a:r>
              <a:rPr lang="en-US" sz="1300" b="1" dirty="0">
                <a:solidFill>
                  <a:srgbClr val="0A2E24"/>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17320" y="4791456"/>
            <a:ext cx="9875520" cy="292608"/>
          </a:xfrm>
          <a:prstGeom prst="rect">
            <a:avLst/>
          </a:prstGeom>
          <a:noFill/>
          <a:ln/>
        </p:spPr>
        <p:txBody>
          <a:bodyPr wrap="square" lIns="0" tIns="0" rIns="0" bIns="0" rtlCol="0" anchor="ctr"/>
          <a:lstStyle/>
          <a:p>
            <a:pPr indent="0" marL="0">
              <a:buNone/>
            </a:pPr>
            <a:r>
              <a:rPr lang="en-US" sz="1400" b="1" dirty="0">
                <a:solidFill>
                  <a:srgbClr val="12513C"/>
                </a:solidFill>
                <a:latin typeface="Calibri" pitchFamily="34" charset="0"/>
                <a:ea typeface="Calibri" pitchFamily="34" charset="-122"/>
                <a:cs typeface="Calibri" pitchFamily="34" charset="-120"/>
              </a:rPr>
              <a:t>Rank fusion is not always an improvement</a:t>
            </a:r>
            <a:endParaRPr lang="en-US" sz="1400" dirty="0"/>
          </a:p>
        </p:txBody>
      </p:sp>
      <p:sp>
        <p:nvSpPr>
          <p:cNvPr id="18" name="Text 16"/>
          <p:cNvSpPr/>
          <p:nvPr/>
        </p:nvSpPr>
        <p:spPr>
          <a:xfrm>
            <a:off x="1417320" y="5138928"/>
            <a:ext cx="9875520" cy="777240"/>
          </a:xfrm>
          <a:prstGeom prst="rect">
            <a:avLst/>
          </a:prstGeom>
          <a:noFill/>
          <a:ln/>
        </p:spPr>
        <p:txBody>
          <a:bodyPr wrap="square" lIns="0" tIns="0" rIns="0" bIns="0" rtlCol="0" anchor="ctr"/>
          <a:lstStyle/>
          <a:p>
            <a:pPr indent="0" marL="0">
              <a:lnSpc>
                <a:spcPts val="1600"/>
              </a:lnSpc>
              <a:buNone/>
            </a:pPr>
            <a:r>
              <a:rPr lang="en-US" sz="1150" dirty="0">
                <a:solidFill>
                  <a:srgbClr val="3D4A44"/>
                </a:solidFill>
                <a:latin typeface="Calibri" pitchFamily="34" charset="0"/>
                <a:ea typeface="Calibri" pitchFamily="34" charset="-122"/>
                <a:cs typeface="Calibri" pitchFamily="34" charset="-120"/>
              </a:rPr>
              <a:t>On one query, dense returned the target at rank 2 and keyword at rank 4, yet the fused result placed it at rank 5. Chunks that both retrievers ranked moderately accumulate two scores and overtake one that a single retriever ranked highly. RRF optimises for consensus, and consensus is not always correctness.</a:t>
            </a:r>
            <a:endParaRPr lang="en-US" sz="1150" dirty="0"/>
          </a:p>
        </p:txBody>
      </p:sp>
      <p:sp>
        <p:nvSpPr>
          <p:cNvPr id="19" name="Text 17"/>
          <p:cNvSpPr/>
          <p:nvPr/>
        </p:nvSpPr>
        <p:spPr>
          <a:xfrm>
            <a:off x="548640" y="6126480"/>
            <a:ext cx="11064240" cy="320040"/>
          </a:xfrm>
          <a:prstGeom prst="rect">
            <a:avLst/>
          </a:prstGeom>
          <a:noFill/>
          <a:ln/>
        </p:spPr>
        <p:txBody>
          <a:bodyPr wrap="square" lIns="0" tIns="0" rIns="0" bIns="0" rtlCol="0" anchor="ctr"/>
          <a:lstStyle/>
          <a:p>
            <a:pPr algn="ctr" indent="0" marL="0">
              <a:buNone/>
            </a:pPr>
            <a:r>
              <a:rPr lang="en-US" sz="1250" b="1" i="1" dirty="0">
                <a:solidFill>
                  <a:srgbClr val="12513C"/>
                </a:solidFill>
                <a:latin typeface="Calibri" pitchFamily="34" charset="0"/>
                <a:ea typeface="Calibri" pitchFamily="34" charset="-122"/>
                <a:cs typeface="Calibri" pitchFamily="34" charset="-120"/>
              </a:rPr>
              <a:t>Reporting a result that did not match the expectation is the difference between an engineering project and a demo.</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E24"/>
        </a:solidFill>
      </p:bgPr>
    </p:bg>
    <p:spTree>
      <p:nvGrpSpPr>
        <p:cNvPr id="1" name=""/>
        <p:cNvGrpSpPr/>
        <p:nvPr/>
      </p:nvGrpSpPr>
      <p:grpSpPr>
        <a:xfrm>
          <a:off x="0" y="0"/>
          <a:ext cx="0" cy="0"/>
          <a:chOff x="0" y="0"/>
          <a:chExt cx="0" cy="0"/>
        </a:xfrm>
      </p:grpSpPr>
      <p:sp>
        <p:nvSpPr>
          <p:cNvPr id="2" name="Shape 0"/>
          <p:cNvSpPr/>
          <p:nvPr/>
        </p:nvSpPr>
        <p:spPr>
          <a:xfrm>
            <a:off x="-1463040" y="3840480"/>
            <a:ext cx="4572000" cy="4572000"/>
          </a:xfrm>
          <a:prstGeom prst="ellipse">
            <a:avLst/>
          </a:prstGeom>
          <a:solidFill>
            <a:srgbClr val="12513C"/>
          </a:solidFill>
          <a:ln w="12700">
            <a:solidFill>
              <a:srgbClr val="333333"/>
            </a:solidFill>
            <a:prstDash val="solid"/>
          </a:ln>
        </p:spPr>
      </p:sp>
      <p:sp>
        <p:nvSpPr>
          <p:cNvPr id="3" name="Text 1"/>
          <p:cNvSpPr/>
          <p:nvPr/>
        </p:nvSpPr>
        <p:spPr>
          <a:xfrm>
            <a:off x="640080" y="822960"/>
            <a:ext cx="10972800" cy="274320"/>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DATA PROVENANCE</a:t>
            </a:r>
            <a:endParaRPr lang="en-US" sz="1100" dirty="0"/>
          </a:p>
        </p:txBody>
      </p:sp>
      <p:sp>
        <p:nvSpPr>
          <p:cNvPr id="4" name="Text 2"/>
          <p:cNvSpPr/>
          <p:nvPr/>
        </p:nvSpPr>
        <p:spPr>
          <a:xfrm>
            <a:off x="640080" y="1097280"/>
            <a:ext cx="109728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the data came from</a:t>
            </a:r>
            <a:endParaRPr lang="en-US" sz="3400" dirty="0"/>
          </a:p>
        </p:txBody>
      </p:sp>
      <p:sp>
        <p:nvSpPr>
          <p:cNvPr id="5" name="Text 3"/>
          <p:cNvSpPr/>
          <p:nvPr/>
        </p:nvSpPr>
        <p:spPr>
          <a:xfrm>
            <a:off x="640080" y="2011680"/>
            <a:ext cx="10607040" cy="1188720"/>
          </a:xfrm>
          <a:prstGeom prst="rect">
            <a:avLst/>
          </a:prstGeom>
          <a:noFill/>
          <a:ln/>
        </p:spPr>
        <p:txBody>
          <a:bodyPr wrap="square" lIns="0" tIns="0" rIns="0" bIns="0" rtlCol="0" anchor="ctr"/>
          <a:lstStyle/>
          <a:p>
            <a:pPr indent="0" marL="0">
              <a:lnSpc>
                <a:spcPts val="2800"/>
              </a:lnSpc>
              <a:buNone/>
            </a:pPr>
            <a:r>
              <a:rPr lang="en-US" sz="1900" i="1" dirty="0">
                <a:solidFill>
                  <a:srgbClr val="C8A951"/>
                </a:solidFill>
                <a:latin typeface="Cambria" pitchFamily="34" charset="0"/>
                <a:ea typeface="Cambria" pitchFamily="34" charset="-122"/>
                <a:cs typeface="Cambria" pitchFamily="34" charset="-120"/>
              </a:rPr>
              <a:t>All operational data in this project is synthetic, generated for training purposes. Zone capacities, SLA targets and standard operating procedures are illustrative constructions and do not represent official figures or procedures of any Saudi authority.</a:t>
            </a:r>
            <a:endParaRPr lang="en-US" sz="1900" dirty="0"/>
          </a:p>
        </p:txBody>
      </p:sp>
      <p:sp>
        <p:nvSpPr>
          <p:cNvPr id="6" name="Text 4"/>
          <p:cNvSpPr/>
          <p:nvPr/>
        </p:nvSpPr>
        <p:spPr>
          <a:xfrm>
            <a:off x="685800" y="3520440"/>
            <a:ext cx="42062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Zone and site names</a:t>
            </a:r>
            <a:endParaRPr lang="en-US" sz="1300" dirty="0"/>
          </a:p>
        </p:txBody>
      </p:sp>
      <p:sp>
        <p:nvSpPr>
          <p:cNvPr id="7" name="Text 5"/>
          <p:cNvSpPr/>
          <p:nvPr/>
        </p:nvSpPr>
        <p:spPr>
          <a:xfrm>
            <a:off x="5029200" y="3520440"/>
            <a:ext cx="6492240" cy="310896"/>
          </a:xfrm>
          <a:prstGeom prst="rect">
            <a:avLst/>
          </a:prstGeom>
          <a:noFill/>
          <a:ln/>
        </p:spPr>
        <p:txBody>
          <a:bodyPr wrap="square" lIns="0" tIns="0" rIns="0" bIns="0" rtlCol="0" anchor="ctr"/>
          <a:lstStyle/>
          <a:p>
            <a:pPr indent="0" marL="0">
              <a:buNone/>
            </a:pPr>
            <a:r>
              <a:rPr lang="en-US" sz="1250" dirty="0">
                <a:solidFill>
                  <a:srgbClr val="BFD3C8"/>
                </a:solidFill>
                <a:latin typeface="Calibri" pitchFamily="34" charset="0"/>
                <a:ea typeface="Calibri" pitchFamily="34" charset="-122"/>
                <a:cs typeface="Calibri" pitchFamily="34" charset="-120"/>
              </a:rPr>
              <a:t>Real places</a:t>
            </a:r>
            <a:endParaRPr lang="en-US" sz="1250" dirty="0"/>
          </a:p>
        </p:txBody>
      </p:sp>
      <p:sp>
        <p:nvSpPr>
          <p:cNvPr id="8" name="Text 6"/>
          <p:cNvSpPr/>
          <p:nvPr/>
        </p:nvSpPr>
        <p:spPr>
          <a:xfrm>
            <a:off x="685800" y="4050792"/>
            <a:ext cx="42062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Occupancy and service-request events</a:t>
            </a:r>
            <a:endParaRPr lang="en-US" sz="1300" dirty="0"/>
          </a:p>
        </p:txBody>
      </p:sp>
      <p:sp>
        <p:nvSpPr>
          <p:cNvPr id="9" name="Text 7"/>
          <p:cNvSpPr/>
          <p:nvPr/>
        </p:nvSpPr>
        <p:spPr>
          <a:xfrm>
            <a:off x="5029200" y="4050792"/>
            <a:ext cx="6492240" cy="310896"/>
          </a:xfrm>
          <a:prstGeom prst="rect">
            <a:avLst/>
          </a:prstGeom>
          <a:noFill/>
          <a:ln/>
        </p:spPr>
        <p:txBody>
          <a:bodyPr wrap="square" lIns="0" tIns="0" rIns="0" bIns="0" rtlCol="0" anchor="ctr"/>
          <a:lstStyle/>
          <a:p>
            <a:pPr indent="0" marL="0">
              <a:buNone/>
            </a:pPr>
            <a:r>
              <a:rPr lang="en-US" sz="1250" dirty="0">
                <a:solidFill>
                  <a:srgbClr val="BFD3C8"/>
                </a:solidFill>
                <a:latin typeface="Calibri" pitchFamily="34" charset="0"/>
                <a:ea typeface="Calibri" pitchFamily="34" charset="-122"/>
                <a:cs typeface="Calibri" pitchFamily="34" charset="-120"/>
              </a:rPr>
              <a:t>Synthetic — generated, reproducible from a seed</a:t>
            </a:r>
            <a:endParaRPr lang="en-US" sz="1250" dirty="0"/>
          </a:p>
        </p:txBody>
      </p:sp>
      <p:sp>
        <p:nvSpPr>
          <p:cNvPr id="10" name="Text 8"/>
          <p:cNvSpPr/>
          <p:nvPr/>
        </p:nvSpPr>
        <p:spPr>
          <a:xfrm>
            <a:off x="685800" y="4581144"/>
            <a:ext cx="42062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Zone capacities and SLA targets</a:t>
            </a:r>
            <a:endParaRPr lang="en-US" sz="1300" dirty="0"/>
          </a:p>
        </p:txBody>
      </p:sp>
      <p:sp>
        <p:nvSpPr>
          <p:cNvPr id="11" name="Text 9"/>
          <p:cNvSpPr/>
          <p:nvPr/>
        </p:nvSpPr>
        <p:spPr>
          <a:xfrm>
            <a:off x="5029200" y="4581144"/>
            <a:ext cx="6492240" cy="310896"/>
          </a:xfrm>
          <a:prstGeom prst="rect">
            <a:avLst/>
          </a:prstGeom>
          <a:noFill/>
          <a:ln/>
        </p:spPr>
        <p:txBody>
          <a:bodyPr wrap="square" lIns="0" tIns="0" rIns="0" bIns="0" rtlCol="0" anchor="ctr"/>
          <a:lstStyle/>
          <a:p>
            <a:pPr indent="0" marL="0">
              <a:buNone/>
            </a:pPr>
            <a:r>
              <a:rPr lang="en-US" sz="1250" dirty="0">
                <a:solidFill>
                  <a:srgbClr val="BFD3C8"/>
                </a:solidFill>
                <a:latin typeface="Calibri" pitchFamily="34" charset="0"/>
                <a:ea typeface="Calibri" pitchFamily="34" charset="-122"/>
                <a:cs typeface="Calibri" pitchFamily="34" charset="-120"/>
              </a:rPr>
              <a:t>Illustrative, labelled as such</a:t>
            </a:r>
            <a:endParaRPr lang="en-US" sz="1250" dirty="0"/>
          </a:p>
        </p:txBody>
      </p:sp>
      <p:sp>
        <p:nvSpPr>
          <p:cNvPr id="12" name="Text 10"/>
          <p:cNvSpPr/>
          <p:nvPr/>
        </p:nvSpPr>
        <p:spPr>
          <a:xfrm>
            <a:off x="685800" y="5111496"/>
            <a:ext cx="42062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SOP numeric thresholds</a:t>
            </a:r>
            <a:endParaRPr lang="en-US" sz="1300" dirty="0"/>
          </a:p>
        </p:txBody>
      </p:sp>
      <p:sp>
        <p:nvSpPr>
          <p:cNvPr id="13" name="Text 11"/>
          <p:cNvSpPr/>
          <p:nvPr/>
        </p:nvSpPr>
        <p:spPr>
          <a:xfrm>
            <a:off x="5029200" y="5111496"/>
            <a:ext cx="6492240" cy="310896"/>
          </a:xfrm>
          <a:prstGeom prst="rect">
            <a:avLst/>
          </a:prstGeom>
          <a:noFill/>
          <a:ln/>
        </p:spPr>
        <p:txBody>
          <a:bodyPr wrap="square" lIns="0" tIns="0" rIns="0" bIns="0" rtlCol="0" anchor="ctr"/>
          <a:lstStyle/>
          <a:p>
            <a:pPr indent="0" marL="0">
              <a:buNone/>
            </a:pPr>
            <a:r>
              <a:rPr lang="en-US" sz="1250" dirty="0">
                <a:solidFill>
                  <a:srgbClr val="BFD3C8"/>
                </a:solidFill>
                <a:latin typeface="Calibri" pitchFamily="34" charset="0"/>
                <a:ea typeface="Calibri" pitchFamily="34" charset="-122"/>
                <a:cs typeface="Calibri" pitchFamily="34" charset="-120"/>
              </a:rPr>
              <a:t>Informed by public standards — Fruin density bands, ISO 7243 WBGT — and cited as that</a:t>
            </a:r>
            <a:endParaRPr lang="en-US" sz="1250" dirty="0"/>
          </a:p>
        </p:txBody>
      </p:sp>
      <p:sp>
        <p:nvSpPr>
          <p:cNvPr id="14" name="Text 12"/>
          <p:cNvSpPr/>
          <p:nvPr/>
        </p:nvSpPr>
        <p:spPr>
          <a:xfrm>
            <a:off x="685800" y="5806440"/>
            <a:ext cx="10789920" cy="548640"/>
          </a:xfrm>
          <a:prstGeom prst="rect">
            <a:avLst/>
          </a:prstGeom>
          <a:noFill/>
          <a:ln/>
        </p:spPr>
        <p:txBody>
          <a:bodyPr wrap="square" lIns="0" tIns="0" rIns="0" bIns="0" rtlCol="0" anchor="ctr"/>
          <a:lstStyle/>
          <a:p>
            <a:pPr indent="0" marL="0">
              <a:lnSpc>
                <a:spcPts val="1700"/>
              </a:lnSpc>
              <a:buNone/>
            </a:pPr>
            <a:r>
              <a:rPr lang="en-US" sz="1200" dirty="0">
                <a:solidFill>
                  <a:srgbClr val="6B7B74"/>
                </a:solidFill>
                <a:latin typeface="Calibri" pitchFamily="34" charset="0"/>
                <a:ea typeface="Calibri" pitchFamily="34" charset="-122"/>
                <a:cs typeface="Calibri" pitchFamily="34" charset="-120"/>
              </a:rPr>
              <a:t>There is no public real-time Hajj crowd dataset — that telemetry is operationally sensitive. The rubric grades the pipeline, and every stage is proven with data that can be regenerated deterministically.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FE4"/>
        </a:solidFill>
      </p:bgPr>
    </p:bg>
    <p:spTree>
      <p:nvGrpSpPr>
        <p:cNvPr id="1" name=""/>
        <p:cNvGrpSpPr/>
        <p:nvPr/>
      </p:nvGrpSpPr>
      <p:grpSpPr>
        <a:xfrm>
          <a:off x="0" y="0"/>
          <a:ext cx="0" cy="0"/>
          <a:chOff x="0" y="0"/>
          <a:chExt cx="0" cy="0"/>
        </a:xfrm>
      </p:grpSpPr>
      <p:sp>
        <p:nvSpPr>
          <p:cNvPr id="2" name="Text 0"/>
          <p:cNvSpPr/>
          <p:nvPr/>
        </p:nvSpPr>
        <p:spPr>
          <a:xfrm>
            <a:off x="548640" y="329184"/>
            <a:ext cx="11064240" cy="256032"/>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RESULTS &amp; EVIDENCE</a:t>
            </a:r>
            <a:endParaRPr lang="en-US" sz="1100" dirty="0"/>
          </a:p>
        </p:txBody>
      </p:sp>
      <p:sp>
        <p:nvSpPr>
          <p:cNvPr id="3" name="Text 1"/>
          <p:cNvSpPr/>
          <p:nvPr/>
        </p:nvSpPr>
        <p:spPr>
          <a:xfrm>
            <a:off x="548640" y="585216"/>
            <a:ext cx="11064240" cy="640080"/>
          </a:xfrm>
          <a:prstGeom prst="rect">
            <a:avLst/>
          </a:prstGeom>
          <a:noFill/>
          <a:ln/>
        </p:spPr>
        <p:txBody>
          <a:bodyPr wrap="square" lIns="0" tIns="0" rIns="0" bIns="0" rtlCol="0" anchor="ctr"/>
          <a:lstStyle/>
          <a:p>
            <a:pPr indent="0" marL="0">
              <a:buNone/>
            </a:pPr>
            <a:r>
              <a:rPr lang="en-US" sz="3400" b="1" dirty="0">
                <a:solidFill>
                  <a:srgbClr val="12513C"/>
                </a:solidFill>
                <a:latin typeface="Cambria" pitchFamily="34" charset="0"/>
                <a:ea typeface="Cambria" pitchFamily="34" charset="-122"/>
                <a:cs typeface="Cambria" pitchFamily="34" charset="-120"/>
              </a:rPr>
              <a:t>Everything was executed, and the output was kept</a:t>
            </a:r>
            <a:endParaRPr lang="en-US" sz="3400" dirty="0"/>
          </a:p>
        </p:txBody>
      </p:sp>
      <p:sp>
        <p:nvSpPr>
          <p:cNvPr id="4" name="Shape 2"/>
          <p:cNvSpPr/>
          <p:nvPr/>
        </p:nvSpPr>
        <p:spPr>
          <a:xfrm>
            <a:off x="548640" y="160020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5" name="Text 3"/>
          <p:cNvSpPr/>
          <p:nvPr/>
        </p:nvSpPr>
        <p:spPr>
          <a:xfrm>
            <a:off x="768096" y="1783080"/>
            <a:ext cx="2286000" cy="502920"/>
          </a:xfrm>
          <a:prstGeom prst="rect">
            <a:avLst/>
          </a:prstGeom>
          <a:noFill/>
          <a:ln/>
        </p:spPr>
        <p:txBody>
          <a:bodyPr wrap="square" lIns="0" tIns="0" rIns="0" bIns="0" rtlCol="0" anchor="ctr"/>
          <a:lstStyle/>
          <a:p>
            <a:pPr indent="0" marL="0">
              <a:buNone/>
            </a:pPr>
            <a:r>
              <a:rPr lang="en-US" sz="2700" b="1" dirty="0">
                <a:solidFill>
                  <a:srgbClr val="12513C"/>
                </a:solidFill>
                <a:latin typeface="Cambria" pitchFamily="34" charset="0"/>
                <a:ea typeface="Cambria" pitchFamily="34" charset="-122"/>
                <a:cs typeface="Cambria" pitchFamily="34" charset="-120"/>
              </a:rPr>
              <a:t>185,843</a:t>
            </a:r>
            <a:endParaRPr lang="en-US" sz="2700" dirty="0"/>
          </a:p>
        </p:txBody>
      </p:sp>
      <p:sp>
        <p:nvSpPr>
          <p:cNvPr id="6" name="Text 4"/>
          <p:cNvSpPr/>
          <p:nvPr/>
        </p:nvSpPr>
        <p:spPr>
          <a:xfrm>
            <a:off x="768096" y="231343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records validated into bronze</a:t>
            </a:r>
            <a:endParaRPr lang="en-US" sz="1050" dirty="0"/>
          </a:p>
        </p:txBody>
      </p:sp>
      <p:sp>
        <p:nvSpPr>
          <p:cNvPr id="7" name="Shape 5"/>
          <p:cNvSpPr/>
          <p:nvPr/>
        </p:nvSpPr>
        <p:spPr>
          <a:xfrm>
            <a:off x="3374136" y="160020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8" name="Text 6"/>
          <p:cNvSpPr/>
          <p:nvPr/>
        </p:nvSpPr>
        <p:spPr>
          <a:xfrm>
            <a:off x="3593592" y="1783080"/>
            <a:ext cx="2286000" cy="502920"/>
          </a:xfrm>
          <a:prstGeom prst="rect">
            <a:avLst/>
          </a:prstGeom>
          <a:noFill/>
          <a:ln/>
        </p:spPr>
        <p:txBody>
          <a:bodyPr wrap="square" lIns="0" tIns="0" rIns="0" bIns="0" rtlCol="0" anchor="ctr"/>
          <a:lstStyle/>
          <a:p>
            <a:pPr indent="0" marL="0">
              <a:buNone/>
            </a:pPr>
            <a:r>
              <a:rPr lang="en-US" sz="2700" b="1" dirty="0">
                <a:solidFill>
                  <a:srgbClr val="B4453C"/>
                </a:solidFill>
                <a:latin typeface="Cambria" pitchFamily="34" charset="0"/>
                <a:ea typeface="Cambria" pitchFamily="34" charset="-122"/>
                <a:cs typeface="Cambria" pitchFamily="34" charset="-120"/>
              </a:rPr>
              <a:t>14,157</a:t>
            </a:r>
            <a:endParaRPr lang="en-US" sz="2700" dirty="0"/>
          </a:p>
        </p:txBody>
      </p:sp>
      <p:sp>
        <p:nvSpPr>
          <p:cNvPr id="9" name="Text 7"/>
          <p:cNvSpPr/>
          <p:nvPr/>
        </p:nvSpPr>
        <p:spPr>
          <a:xfrm>
            <a:off x="3593592" y="231343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rejected with a recorded reason</a:t>
            </a:r>
            <a:endParaRPr lang="en-US" sz="1050" dirty="0"/>
          </a:p>
        </p:txBody>
      </p:sp>
      <p:sp>
        <p:nvSpPr>
          <p:cNvPr id="10" name="Shape 8"/>
          <p:cNvSpPr/>
          <p:nvPr/>
        </p:nvSpPr>
        <p:spPr>
          <a:xfrm>
            <a:off x="6199632" y="160020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1" name="Text 9"/>
          <p:cNvSpPr/>
          <p:nvPr/>
        </p:nvSpPr>
        <p:spPr>
          <a:xfrm>
            <a:off x="6419088" y="1783080"/>
            <a:ext cx="2286000" cy="502920"/>
          </a:xfrm>
          <a:prstGeom prst="rect">
            <a:avLst/>
          </a:prstGeom>
          <a:noFill/>
          <a:ln/>
        </p:spPr>
        <p:txBody>
          <a:bodyPr wrap="square" lIns="0" tIns="0" rIns="0" bIns="0" rtlCol="0" anchor="ctr"/>
          <a:lstStyle/>
          <a:p>
            <a:pPr indent="0" marL="0">
              <a:buNone/>
            </a:pPr>
            <a:r>
              <a:rPr lang="en-US" sz="2700" b="1" dirty="0">
                <a:solidFill>
                  <a:srgbClr val="12513C"/>
                </a:solidFill>
                <a:latin typeface="Cambria" pitchFamily="34" charset="0"/>
                <a:ea typeface="Cambria" pitchFamily="34" charset="-122"/>
                <a:cs typeface="Cambria" pitchFamily="34" charset="-120"/>
              </a:rPr>
              <a:t>69 : 1</a:t>
            </a:r>
            <a:endParaRPr lang="en-US" sz="2700" dirty="0"/>
          </a:p>
        </p:txBody>
      </p:sp>
      <p:sp>
        <p:nvSpPr>
          <p:cNvPr id="12" name="Text 10"/>
          <p:cNvSpPr/>
          <p:nvPr/>
        </p:nvSpPr>
        <p:spPr>
          <a:xfrm>
            <a:off x="6419088" y="231343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gold aggregation ratio</a:t>
            </a:r>
            <a:endParaRPr lang="en-US" sz="1050" dirty="0"/>
          </a:p>
        </p:txBody>
      </p:sp>
      <p:sp>
        <p:nvSpPr>
          <p:cNvPr id="13" name="Shape 11"/>
          <p:cNvSpPr/>
          <p:nvPr/>
        </p:nvSpPr>
        <p:spPr>
          <a:xfrm>
            <a:off x="9025128" y="160020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4" name="Text 12"/>
          <p:cNvSpPr/>
          <p:nvPr/>
        </p:nvSpPr>
        <p:spPr>
          <a:xfrm>
            <a:off x="9244584" y="1783080"/>
            <a:ext cx="2286000" cy="502920"/>
          </a:xfrm>
          <a:prstGeom prst="rect">
            <a:avLst/>
          </a:prstGeom>
          <a:noFill/>
          <a:ln/>
        </p:spPr>
        <p:txBody>
          <a:bodyPr wrap="square" lIns="0" tIns="0" rIns="0" bIns="0" rtlCol="0" anchor="ctr"/>
          <a:lstStyle/>
          <a:p>
            <a:pPr indent="0" marL="0">
              <a:buNone/>
            </a:pPr>
            <a:r>
              <a:rPr lang="en-US" sz="2700" b="1" dirty="0">
                <a:solidFill>
                  <a:srgbClr val="2E7D5B"/>
                </a:solidFill>
                <a:latin typeface="Cambria" pitchFamily="34" charset="0"/>
                <a:ea typeface="Cambria" pitchFamily="34" charset="-122"/>
                <a:cs typeface="Cambria" pitchFamily="34" charset="-120"/>
              </a:rPr>
              <a:t>9 / 9</a:t>
            </a:r>
            <a:endParaRPr lang="en-US" sz="2700" dirty="0"/>
          </a:p>
        </p:txBody>
      </p:sp>
      <p:sp>
        <p:nvSpPr>
          <p:cNvPr id="15" name="Text 13"/>
          <p:cNvSpPr/>
          <p:nvPr/>
        </p:nvSpPr>
        <p:spPr>
          <a:xfrm>
            <a:off x="9244584" y="231343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golden questions answered and cited</a:t>
            </a:r>
            <a:endParaRPr lang="en-US" sz="1050" dirty="0"/>
          </a:p>
        </p:txBody>
      </p:sp>
      <p:sp>
        <p:nvSpPr>
          <p:cNvPr id="16" name="Shape 14"/>
          <p:cNvSpPr/>
          <p:nvPr/>
        </p:nvSpPr>
        <p:spPr>
          <a:xfrm>
            <a:off x="548640" y="301752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17" name="Text 15"/>
          <p:cNvSpPr/>
          <p:nvPr/>
        </p:nvSpPr>
        <p:spPr>
          <a:xfrm>
            <a:off x="768096" y="3200400"/>
            <a:ext cx="2286000" cy="502920"/>
          </a:xfrm>
          <a:prstGeom prst="rect">
            <a:avLst/>
          </a:prstGeom>
          <a:noFill/>
          <a:ln/>
        </p:spPr>
        <p:txBody>
          <a:bodyPr wrap="square" lIns="0" tIns="0" rIns="0" bIns="0" rtlCol="0" anchor="ctr"/>
          <a:lstStyle/>
          <a:p>
            <a:pPr indent="0" marL="0">
              <a:buNone/>
            </a:pPr>
            <a:r>
              <a:rPr lang="en-US" sz="2700" b="1" dirty="0">
                <a:solidFill>
                  <a:srgbClr val="12513C"/>
                </a:solidFill>
                <a:latin typeface="Cambria" pitchFamily="34" charset="0"/>
                <a:ea typeface="Cambria" pitchFamily="34" charset="-122"/>
                <a:cs typeface="Cambria" pitchFamily="34" charset="-120"/>
              </a:rPr>
              <a:t>44</a:t>
            </a:r>
            <a:endParaRPr lang="en-US" sz="2700" dirty="0"/>
          </a:p>
        </p:txBody>
      </p:sp>
      <p:sp>
        <p:nvSpPr>
          <p:cNvPr id="18" name="Text 16"/>
          <p:cNvSpPr/>
          <p:nvPr/>
        </p:nvSpPr>
        <p:spPr>
          <a:xfrm>
            <a:off x="768096" y="373075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unit tests passing</a:t>
            </a:r>
            <a:endParaRPr lang="en-US" sz="1050" dirty="0"/>
          </a:p>
        </p:txBody>
      </p:sp>
      <p:sp>
        <p:nvSpPr>
          <p:cNvPr id="19" name="Shape 17"/>
          <p:cNvSpPr/>
          <p:nvPr/>
        </p:nvSpPr>
        <p:spPr>
          <a:xfrm>
            <a:off x="3374136" y="301752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0" name="Text 18"/>
          <p:cNvSpPr/>
          <p:nvPr/>
        </p:nvSpPr>
        <p:spPr>
          <a:xfrm>
            <a:off x="3593592" y="3200400"/>
            <a:ext cx="2286000" cy="502920"/>
          </a:xfrm>
          <a:prstGeom prst="rect">
            <a:avLst/>
          </a:prstGeom>
          <a:noFill/>
          <a:ln/>
        </p:spPr>
        <p:txBody>
          <a:bodyPr wrap="square" lIns="0" tIns="0" rIns="0" bIns="0" rtlCol="0" anchor="ctr"/>
          <a:lstStyle/>
          <a:p>
            <a:pPr indent="0" marL="0">
              <a:buNone/>
            </a:pPr>
            <a:r>
              <a:rPr lang="en-US" sz="2700" b="1" dirty="0">
                <a:solidFill>
                  <a:srgbClr val="2E7D5B"/>
                </a:solidFill>
                <a:latin typeface="Cambria" pitchFamily="34" charset="0"/>
                <a:ea typeface="Cambria" pitchFamily="34" charset="-122"/>
                <a:cs typeface="Cambria" pitchFamily="34" charset="-120"/>
              </a:rPr>
              <a:t>65 / 65</a:t>
            </a:r>
            <a:endParaRPr lang="en-US" sz="2700" dirty="0"/>
          </a:p>
        </p:txBody>
      </p:sp>
      <p:sp>
        <p:nvSpPr>
          <p:cNvPr id="21" name="Text 19"/>
          <p:cNvSpPr/>
          <p:nvPr/>
        </p:nvSpPr>
        <p:spPr>
          <a:xfrm>
            <a:off x="3593592" y="373075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rubric self-checks passing</a:t>
            </a:r>
            <a:endParaRPr lang="en-US" sz="1050" dirty="0"/>
          </a:p>
        </p:txBody>
      </p:sp>
      <p:sp>
        <p:nvSpPr>
          <p:cNvPr id="22" name="Shape 20"/>
          <p:cNvSpPr/>
          <p:nvPr/>
        </p:nvSpPr>
        <p:spPr>
          <a:xfrm>
            <a:off x="6199632" y="301752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3" name="Text 21"/>
          <p:cNvSpPr/>
          <p:nvPr/>
        </p:nvSpPr>
        <p:spPr>
          <a:xfrm>
            <a:off x="6419088" y="3200400"/>
            <a:ext cx="2286000" cy="502920"/>
          </a:xfrm>
          <a:prstGeom prst="rect">
            <a:avLst/>
          </a:prstGeom>
          <a:noFill/>
          <a:ln/>
        </p:spPr>
        <p:txBody>
          <a:bodyPr wrap="square" lIns="0" tIns="0" rIns="0" bIns="0" rtlCol="0" anchor="ctr"/>
          <a:lstStyle/>
          <a:p>
            <a:pPr indent="0" marL="0">
              <a:buNone/>
            </a:pPr>
            <a:r>
              <a:rPr lang="en-US" sz="2700" b="1" dirty="0">
                <a:solidFill>
                  <a:srgbClr val="12513C"/>
                </a:solidFill>
                <a:latin typeface="Cambria" pitchFamily="34" charset="0"/>
                <a:ea typeface="Cambria" pitchFamily="34" charset="-122"/>
                <a:cs typeface="Cambria" pitchFamily="34" charset="-120"/>
              </a:rPr>
              <a:t>13</a:t>
            </a:r>
            <a:endParaRPr lang="en-US" sz="2700" dirty="0"/>
          </a:p>
        </p:txBody>
      </p:sp>
      <p:sp>
        <p:nvSpPr>
          <p:cNvPr id="24" name="Text 22"/>
          <p:cNvSpPr/>
          <p:nvPr/>
        </p:nvSpPr>
        <p:spPr>
          <a:xfrm>
            <a:off x="6419088" y="373075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orchestrated Airflow tasks</a:t>
            </a:r>
            <a:endParaRPr lang="en-US" sz="1050" dirty="0"/>
          </a:p>
        </p:txBody>
      </p:sp>
      <p:sp>
        <p:nvSpPr>
          <p:cNvPr id="25" name="Shape 23"/>
          <p:cNvSpPr/>
          <p:nvPr/>
        </p:nvSpPr>
        <p:spPr>
          <a:xfrm>
            <a:off x="9025128" y="3017520"/>
            <a:ext cx="265176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19050" dir="5400000">
              <a:srgbClr val="1A1A1A">
                <a:alpha val="10000"/>
              </a:srgbClr>
            </a:outerShdw>
          </a:effectLst>
        </p:spPr>
      </p:sp>
      <p:sp>
        <p:nvSpPr>
          <p:cNvPr id="26" name="Text 24"/>
          <p:cNvSpPr/>
          <p:nvPr/>
        </p:nvSpPr>
        <p:spPr>
          <a:xfrm>
            <a:off x="9244584" y="3200400"/>
            <a:ext cx="2286000" cy="502920"/>
          </a:xfrm>
          <a:prstGeom prst="rect">
            <a:avLst/>
          </a:prstGeom>
          <a:noFill/>
          <a:ln/>
        </p:spPr>
        <p:txBody>
          <a:bodyPr wrap="square" lIns="0" tIns="0" rIns="0" bIns="0" rtlCol="0" anchor="ctr"/>
          <a:lstStyle/>
          <a:p>
            <a:pPr indent="0" marL="0">
              <a:buNone/>
            </a:pPr>
            <a:r>
              <a:rPr lang="en-US" sz="2700" b="1" dirty="0">
                <a:solidFill>
                  <a:srgbClr val="12513C"/>
                </a:solidFill>
                <a:latin typeface="Cambria" pitchFamily="34" charset="0"/>
                <a:ea typeface="Cambria" pitchFamily="34" charset="-122"/>
                <a:cs typeface="Cambria" pitchFamily="34" charset="-120"/>
              </a:rPr>
              <a:t>48</a:t>
            </a:r>
            <a:endParaRPr lang="en-US" sz="2700" dirty="0"/>
          </a:p>
        </p:txBody>
      </p:sp>
      <p:sp>
        <p:nvSpPr>
          <p:cNvPr id="27" name="Text 25"/>
          <p:cNvSpPr/>
          <p:nvPr/>
        </p:nvSpPr>
        <p:spPr>
          <a:xfrm>
            <a:off x="9244584" y="3730752"/>
            <a:ext cx="2286000" cy="411480"/>
          </a:xfrm>
          <a:prstGeom prst="rect">
            <a:avLst/>
          </a:prstGeom>
          <a:noFill/>
          <a:ln/>
        </p:spPr>
        <p:txBody>
          <a:bodyPr wrap="square" lIns="0" tIns="0" rIns="0" bIns="0" rtlCol="0" anchor="ctr"/>
          <a:lstStyle/>
          <a:p>
            <a:pPr indent="0" marL="0">
              <a:lnSpc>
                <a:spcPts val="1300"/>
              </a:lnSpc>
              <a:buNone/>
            </a:pPr>
            <a:r>
              <a:rPr lang="en-US" sz="1050" dirty="0">
                <a:solidFill>
                  <a:srgbClr val="6B7B74"/>
                </a:solidFill>
                <a:latin typeface="Calibri" pitchFamily="34" charset="0"/>
                <a:ea typeface="Calibri" pitchFamily="34" charset="-122"/>
                <a:cs typeface="Calibri" pitchFamily="34" charset="-120"/>
              </a:rPr>
              <a:t>incremental commits</a:t>
            </a:r>
            <a:endParaRPr lang="en-US" sz="1050" dirty="0"/>
          </a:p>
        </p:txBody>
      </p:sp>
      <p:sp>
        <p:nvSpPr>
          <p:cNvPr id="28" name="Shape 26"/>
          <p:cNvSpPr/>
          <p:nvPr/>
        </p:nvSpPr>
        <p:spPr>
          <a:xfrm>
            <a:off x="548640" y="4526280"/>
            <a:ext cx="11064240" cy="1371600"/>
          </a:xfrm>
          <a:prstGeom prst="roundRect">
            <a:avLst>
              <a:gd name="adj" fmla="val 6000"/>
            </a:avLst>
          </a:prstGeom>
          <a:solidFill>
            <a:srgbClr val="12513C"/>
          </a:solidFill>
          <a:ln w="12700">
            <a:solidFill>
              <a:srgbClr val="12513C"/>
            </a:solidFill>
            <a:prstDash val="solid"/>
          </a:ln>
          <a:effectLst>
            <a:outerShdw sx="100000" sy="100000" kx="0" ky="0" algn="bl" rotWithShape="0" blurRad="127000" dist="19050" dir="5400000">
              <a:srgbClr val="1A1A1A">
                <a:alpha val="10000"/>
              </a:srgbClr>
            </a:outerShdw>
          </a:effectLst>
        </p:spPr>
      </p:sp>
      <p:sp>
        <p:nvSpPr>
          <p:cNvPr id="29" name="Text 27"/>
          <p:cNvSpPr/>
          <p:nvPr/>
        </p:nvSpPr>
        <p:spPr>
          <a:xfrm>
            <a:off x="868680" y="4709160"/>
            <a:ext cx="4572000" cy="274320"/>
          </a:xfrm>
          <a:prstGeom prst="rect">
            <a:avLst/>
          </a:prstGeom>
          <a:noFill/>
          <a:ln/>
        </p:spPr>
        <p:txBody>
          <a:bodyPr wrap="square" lIns="0" tIns="0" rIns="0" bIns="0" rtlCol="0" anchor="ctr"/>
          <a:lstStyle/>
          <a:p>
            <a:pPr indent="0" marL="0">
              <a:buNone/>
            </a:pPr>
            <a:r>
              <a:rPr lang="en-US" sz="1350" b="1" dirty="0">
                <a:solidFill>
                  <a:srgbClr val="C8A951"/>
                </a:solidFill>
                <a:latin typeface="Calibri" pitchFamily="34" charset="0"/>
                <a:ea typeface="Calibri" pitchFamily="34" charset="-122"/>
                <a:cs typeface="Calibri" pitchFamily="34" charset="-120"/>
              </a:rPr>
              <a:t>Committed evidence</a:t>
            </a:r>
            <a:endParaRPr lang="en-US" sz="1350" dirty="0"/>
          </a:p>
        </p:txBody>
      </p:sp>
      <p:sp>
        <p:nvSpPr>
          <p:cNvPr id="30" name="Text 28"/>
          <p:cNvSpPr/>
          <p:nvPr/>
        </p:nvSpPr>
        <p:spPr>
          <a:xfrm>
            <a:off x="868680" y="5074920"/>
            <a:ext cx="10424160" cy="685800"/>
          </a:xfrm>
          <a:prstGeom prst="rect">
            <a:avLst/>
          </a:prstGeom>
          <a:noFill/>
          <a:ln/>
        </p:spPr>
        <p:txBody>
          <a:bodyPr wrap="square" lIns="0" tIns="0" rIns="0" bIns="0" rtlCol="0" anchor="ctr"/>
          <a:lstStyle/>
          <a:p>
            <a:pPr indent="0" marL="0">
              <a:lnSpc>
                <a:spcPts val="1800"/>
              </a:lnSpc>
              <a:buNone/>
            </a:pPr>
            <a:r>
              <a:rPr lang="en-US" sz="1250" dirty="0">
                <a:solidFill>
                  <a:srgbClr val="CFE3D8"/>
                </a:solidFill>
                <a:latin typeface="Calibri" pitchFamily="34" charset="0"/>
                <a:ea typeface="Calibri" pitchFamily="34" charset="-122"/>
                <a:cs typeface="Calibri" pitchFamily="34" charset="-120"/>
              </a:rPr>
              <a:t>Real terminal logs from every stage  ·  two Airflow screenshots, healthy and failed  ·  the OpenLineage event stream  ·  the golden-question run  ·  the hybrid-search and rerank proofs  ·  an executed notebook with all 14 cells' output saved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E24"/>
        </a:solidFill>
      </p:bgPr>
    </p:bg>
    <p:spTree>
      <p:nvGrpSpPr>
        <p:cNvPr id="1" name=""/>
        <p:cNvGrpSpPr/>
        <p:nvPr/>
      </p:nvGrpSpPr>
      <p:grpSpPr>
        <a:xfrm>
          <a:off x="0" y="0"/>
          <a:ext cx="0" cy="0"/>
          <a:chOff x="0" y="0"/>
          <a:chExt cx="0" cy="0"/>
        </a:xfrm>
      </p:grpSpPr>
      <p:sp>
        <p:nvSpPr>
          <p:cNvPr id="2" name="Shape 0"/>
          <p:cNvSpPr/>
          <p:nvPr/>
        </p:nvSpPr>
        <p:spPr>
          <a:xfrm>
            <a:off x="9052560" y="4023360"/>
            <a:ext cx="4206240" cy="4206240"/>
          </a:xfrm>
          <a:prstGeom prst="ellipse">
            <a:avLst/>
          </a:prstGeom>
          <a:solidFill>
            <a:srgbClr val="12513C"/>
          </a:solidFill>
          <a:ln w="12700">
            <a:solidFill>
              <a:srgbClr val="333333"/>
            </a:solidFill>
            <a:prstDash val="solid"/>
          </a:ln>
        </p:spPr>
      </p:sp>
      <p:sp>
        <p:nvSpPr>
          <p:cNvPr id="3" name="Text 1"/>
          <p:cNvSpPr/>
          <p:nvPr/>
        </p:nvSpPr>
        <p:spPr>
          <a:xfrm>
            <a:off x="640080" y="685800"/>
            <a:ext cx="10972800" cy="274320"/>
          </a:xfrm>
          <a:prstGeom prst="rect">
            <a:avLst/>
          </a:prstGeom>
          <a:noFill/>
          <a:ln/>
        </p:spPr>
        <p:txBody>
          <a:bodyPr wrap="square" lIns="0" tIns="0" rIns="0" bIns="0" rtlCol="0" anchor="ctr"/>
          <a:lstStyle/>
          <a:p>
            <a:pPr indent="0" marL="0">
              <a:buNone/>
            </a:pPr>
            <a:r>
              <a:rPr lang="en-US" sz="1100" b="1" spc="200" kern="0" dirty="0">
                <a:solidFill>
                  <a:srgbClr val="C8A951"/>
                </a:solidFill>
                <a:latin typeface="Calibri" pitchFamily="34" charset="0"/>
                <a:ea typeface="Calibri" pitchFamily="34" charset="-122"/>
                <a:cs typeface="Calibri" pitchFamily="34" charset="-120"/>
              </a:rPr>
              <a:t>SCOPE &amp; NEXT STEPS</a:t>
            </a:r>
            <a:endParaRPr lang="en-US" sz="1100" dirty="0"/>
          </a:p>
        </p:txBody>
      </p:sp>
      <p:sp>
        <p:nvSpPr>
          <p:cNvPr id="4" name="Text 2"/>
          <p:cNvSpPr/>
          <p:nvPr/>
        </p:nvSpPr>
        <p:spPr>
          <a:xfrm>
            <a:off x="640080" y="960120"/>
            <a:ext cx="109728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Built breadth-first, in four slices</a:t>
            </a:r>
            <a:endParaRPr lang="en-US" sz="3200" dirty="0"/>
          </a:p>
        </p:txBody>
      </p:sp>
      <p:sp>
        <p:nvSpPr>
          <p:cNvPr id="5" name="Text 3"/>
          <p:cNvSpPr/>
          <p:nvPr/>
        </p:nvSpPr>
        <p:spPr>
          <a:xfrm>
            <a:off x="640080" y="1645920"/>
            <a:ext cx="10424160" cy="548640"/>
          </a:xfrm>
          <a:prstGeom prst="rect">
            <a:avLst/>
          </a:prstGeom>
          <a:noFill/>
          <a:ln/>
        </p:spPr>
        <p:txBody>
          <a:bodyPr wrap="square" lIns="0" tIns="0" rIns="0" bIns="0" rtlCol="0" anchor="ctr"/>
          <a:lstStyle/>
          <a:p>
            <a:pPr indent="0" marL="0">
              <a:lnSpc>
                <a:spcPts val="1900"/>
              </a:lnSpc>
              <a:buNone/>
            </a:pPr>
            <a:r>
              <a:rPr lang="en-US" sz="1300" dirty="0">
                <a:solidFill>
                  <a:srgbClr val="BFD3C8"/>
                </a:solidFill>
                <a:latin typeface="Calibri" pitchFamily="34" charset="0"/>
                <a:ea typeface="Calibri" pitchFamily="34" charset="-122"/>
                <a:cs typeface="Calibri" pitchFamily="34" charset="-120"/>
              </a:rPr>
              <a:t>A thin path through all five deliverables first, so nothing scored zero — then depth. Everything required was finished before anything optional was started.</a:t>
            </a:r>
            <a:endParaRPr lang="en-US" sz="1300" dirty="0"/>
          </a:p>
        </p:txBody>
      </p:sp>
      <p:sp>
        <p:nvSpPr>
          <p:cNvPr id="6" name="Shape 4"/>
          <p:cNvSpPr/>
          <p:nvPr/>
        </p:nvSpPr>
        <p:spPr>
          <a:xfrm>
            <a:off x="640080" y="2377440"/>
            <a:ext cx="5257800" cy="2286000"/>
          </a:xfrm>
          <a:prstGeom prst="roundRect">
            <a:avLst>
              <a:gd name="adj" fmla="val 3200"/>
            </a:avLst>
          </a:prstGeom>
          <a:solidFill>
            <a:srgbClr val="133B2E"/>
          </a:solidFill>
          <a:ln w="12700">
            <a:solidFill>
              <a:srgbClr val="333333"/>
            </a:solidFill>
            <a:prstDash val="solid"/>
          </a:ln>
        </p:spPr>
      </p:sp>
      <p:sp>
        <p:nvSpPr>
          <p:cNvPr id="7" name="Text 5"/>
          <p:cNvSpPr/>
          <p:nvPr/>
        </p:nvSpPr>
        <p:spPr>
          <a:xfrm>
            <a:off x="914400" y="2560320"/>
            <a:ext cx="4754880" cy="274320"/>
          </a:xfrm>
          <a:prstGeom prst="rect">
            <a:avLst/>
          </a:prstGeom>
          <a:noFill/>
          <a:ln/>
        </p:spPr>
        <p:txBody>
          <a:bodyPr wrap="square" lIns="0" tIns="0" rIns="0" bIns="0" rtlCol="0" anchor="ctr"/>
          <a:lstStyle/>
          <a:p>
            <a:pPr indent="0" marL="0">
              <a:buNone/>
            </a:pPr>
            <a:r>
              <a:rPr lang="en-US" sz="1350" b="1" dirty="0">
                <a:solidFill>
                  <a:srgbClr val="C8A951"/>
                </a:solidFill>
                <a:latin typeface="Calibri" pitchFamily="34" charset="0"/>
                <a:ea typeface="Calibri" pitchFamily="34" charset="-122"/>
                <a:cs typeface="Calibri" pitchFamily="34" charset="-120"/>
              </a:rPr>
              <a:t>Deliberately deferred</a:t>
            </a:r>
            <a:endParaRPr lang="en-US" sz="1350" dirty="0"/>
          </a:p>
        </p:txBody>
      </p:sp>
      <p:sp>
        <p:nvSpPr>
          <p:cNvPr id="8" name="Text 6"/>
          <p:cNvSpPr/>
          <p:nvPr/>
        </p:nvSpPr>
        <p:spPr>
          <a:xfrm>
            <a:off x="914400" y="2926080"/>
            <a:ext cx="4754880" cy="15544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SCD Type 2 history table</a:t>
            </a:r>
            <a:endParaRPr lang="en-US" sz="1200" dirty="0"/>
          </a:p>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FastAPI serving layer</a:t>
            </a:r>
            <a:endParaRPr lang="en-US" sz="1200" dirty="0"/>
          </a:p>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OPTIMIZE / ZORDER tuning</a:t>
            </a:r>
            <a:endParaRPr lang="en-US" sz="1200" dirty="0"/>
          </a:p>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Live weather and prayer-time feeds</a:t>
            </a:r>
            <a:endParaRPr lang="en-US" sz="1200" dirty="0"/>
          </a:p>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Two further gold tables</a:t>
            </a:r>
            <a:endParaRPr lang="en-US" sz="1200" dirty="0"/>
          </a:p>
        </p:txBody>
      </p:sp>
      <p:sp>
        <p:nvSpPr>
          <p:cNvPr id="9" name="Shape 7"/>
          <p:cNvSpPr/>
          <p:nvPr/>
        </p:nvSpPr>
        <p:spPr>
          <a:xfrm>
            <a:off x="6263640" y="2377440"/>
            <a:ext cx="5257800" cy="2286000"/>
          </a:xfrm>
          <a:prstGeom prst="roundRect">
            <a:avLst>
              <a:gd name="adj" fmla="val 3200"/>
            </a:avLst>
          </a:prstGeom>
          <a:solidFill>
            <a:srgbClr val="133B2E"/>
          </a:solidFill>
          <a:ln w="12700">
            <a:solidFill>
              <a:srgbClr val="333333"/>
            </a:solidFill>
            <a:prstDash val="solid"/>
          </a:ln>
        </p:spPr>
      </p:sp>
      <p:sp>
        <p:nvSpPr>
          <p:cNvPr id="10" name="Text 8"/>
          <p:cNvSpPr/>
          <p:nvPr/>
        </p:nvSpPr>
        <p:spPr>
          <a:xfrm>
            <a:off x="6537960" y="2560320"/>
            <a:ext cx="4754880" cy="274320"/>
          </a:xfrm>
          <a:prstGeom prst="rect">
            <a:avLst/>
          </a:prstGeom>
          <a:noFill/>
          <a:ln/>
        </p:spPr>
        <p:txBody>
          <a:bodyPr wrap="square" lIns="0" tIns="0" rIns="0" bIns="0" rtlCol="0" anchor="ctr"/>
          <a:lstStyle/>
          <a:p>
            <a:pPr indent="0" marL="0">
              <a:buNone/>
            </a:pPr>
            <a:r>
              <a:rPr lang="en-US" sz="1350" b="1" dirty="0">
                <a:solidFill>
                  <a:srgbClr val="C8A951"/>
                </a:solidFill>
                <a:latin typeface="Calibri" pitchFamily="34" charset="0"/>
                <a:ea typeface="Calibri" pitchFamily="34" charset="-122"/>
                <a:cs typeface="Calibri" pitchFamily="34" charset="-120"/>
              </a:rPr>
              <a:t>Where it would go next</a:t>
            </a:r>
            <a:endParaRPr lang="en-US" sz="1350" dirty="0"/>
          </a:p>
        </p:txBody>
      </p:sp>
      <p:sp>
        <p:nvSpPr>
          <p:cNvPr id="11" name="Text 9"/>
          <p:cNvSpPr/>
          <p:nvPr/>
        </p:nvSpPr>
        <p:spPr>
          <a:xfrm>
            <a:off x="6537960" y="2926080"/>
            <a:ext cx="4754880" cy="15544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Spark for genuine Hajj-scale volume</a:t>
            </a:r>
            <a:endParaRPr lang="en-US" sz="1200" dirty="0"/>
          </a:p>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Document codes as filterable metadata, not lexical matches</a:t>
            </a:r>
            <a:endParaRPr lang="en-US" sz="1200" dirty="0"/>
          </a:p>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A multilingual reranker on larger hardware</a:t>
            </a:r>
            <a:endParaRPr lang="en-US" sz="1200" dirty="0"/>
          </a:p>
          <a:p>
            <a:pPr marL="342900" indent="-342900">
              <a:lnSpc>
                <a:spcPts val="1600"/>
              </a:lnSpc>
              <a:spcAft>
                <a:spcPts val="500"/>
              </a:spcAft>
              <a:buSzPct val="100000"/>
              <a:buChar char="•"/>
            </a:pPr>
            <a:r>
              <a:rPr lang="en-US" sz="1200" dirty="0">
                <a:solidFill>
                  <a:srgbClr val="CFE3D8"/>
                </a:solidFill>
                <a:latin typeface="Calibri" pitchFamily="34" charset="0"/>
                <a:ea typeface="Calibri" pitchFamily="34" charset="-122"/>
                <a:cs typeface="Calibri" pitchFamily="34" charset="-120"/>
              </a:rPr>
              <a:t>Real sensor feeds replacing the generators</a:t>
            </a:r>
            <a:endParaRPr lang="en-US" sz="1200" dirty="0"/>
          </a:p>
        </p:txBody>
      </p:sp>
      <p:sp>
        <p:nvSpPr>
          <p:cNvPr id="12" name="Text 10"/>
          <p:cNvSpPr/>
          <p:nvPr/>
        </p:nvSpPr>
        <p:spPr>
          <a:xfrm>
            <a:off x="640080" y="5029200"/>
            <a:ext cx="106070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github.com/Mohammed-07th/hajj-crowd-ops-platform</a:t>
            </a:r>
            <a:endParaRPr lang="en-US" sz="2200" dirty="0"/>
          </a:p>
        </p:txBody>
      </p:sp>
      <p:sp>
        <p:nvSpPr>
          <p:cNvPr id="13" name="Text 11"/>
          <p:cNvSpPr/>
          <p:nvPr/>
        </p:nvSpPr>
        <p:spPr>
          <a:xfrm>
            <a:off x="640080" y="5577840"/>
            <a:ext cx="10607040" cy="731520"/>
          </a:xfrm>
          <a:prstGeom prst="rect">
            <a:avLst/>
          </a:prstGeom>
          <a:noFill/>
          <a:ln/>
        </p:spPr>
        <p:txBody>
          <a:bodyPr wrap="square" lIns="0" tIns="0" rIns="0" bIns="0" rtlCol="0" anchor="ctr"/>
          <a:lstStyle/>
          <a:p>
            <a:pPr indent="0" marL="0">
              <a:lnSpc>
                <a:spcPts val="1700"/>
              </a:lnSpc>
              <a:buNone/>
            </a:pPr>
            <a:r>
              <a:rPr lang="en-US" sz="1150" dirty="0">
                <a:solidFill>
                  <a:srgbClr val="6B7B74"/>
                </a:solidFill>
                <a:latin typeface="Calibri" pitchFamily="34" charset="0"/>
                <a:ea typeface="Calibri" pitchFamily="34" charset="-122"/>
                <a:cs typeface="Calibri" pitchFamily="34" charset="-120"/>
              </a:rPr>
              <a:t>Completed as the capstone for Modern Data Engineering for AI Systems, SDAIA Academy, delivered via Learning Space.</a:t>
            </a:r>
            <a:endParaRPr lang="en-US" sz="1150" dirty="0"/>
          </a:p>
          <a:p>
            <a:pPr indent="0" marL="0">
              <a:lnSpc>
                <a:spcPts val="1700"/>
              </a:lnSpc>
              <a:buNone/>
            </a:pPr>
            <a:r>
              <a:rPr lang="en-US" sz="1150" dirty="0">
                <a:solidFill>
                  <a:srgbClr val="6B7B74"/>
                </a:solidFill>
                <a:latin typeface="Calibri" pitchFamily="34" charset="0"/>
                <a:ea typeface="Calibri" pitchFamily="34" charset="-122"/>
                <a:cs typeface="Calibri" pitchFamily="34" charset="-120"/>
              </a:rPr>
              <a:t>Cohort 2–6 August 2026  ·  Trainer: Mohammed Albeladi  ·  github.com/SDAIAAcademy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Hajj &amp; Tourism Crowd Operations Data Platform</dc:title>
  <dc:subject>PptxGenJS Presentation</dc:subject>
  <dc:creator>mohammed alshaigi</dc:creator>
  <cp:lastModifiedBy>mohammed alshaigi</cp:lastModifiedBy>
  <cp:revision>1</cp:revision>
  <dcterms:created xsi:type="dcterms:W3CDTF">2026-08-06T09:32:23Z</dcterms:created>
  <dcterms:modified xsi:type="dcterms:W3CDTF">2026-08-06T09:32:23Z</dcterms:modified>
</cp:coreProperties>
</file>